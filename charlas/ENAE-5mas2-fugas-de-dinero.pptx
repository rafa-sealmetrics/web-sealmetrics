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APERTURA. No te presentes todavia. Que voten a mano alzada de verdad y cuenta las manos.
LA FILA DE VENTAS ES LA QUE HAY QUE SEÑALAR: 807 frente a 1.000. Y el detalle que la hace demoledora: NO ES QUE B VENDA MAS. Es la misma empresa, la misma tasa de conversion. B ve las 1.000 ventas que hubo; A solo llega a 807. Las otras 193 ocurrieron, se cobraron, y no estan en el informe.
Y 193 sobre 1.000 es el 19,3%: exactamente el trafico que A no ve. Los dos numeros son el mismo agujero contado de dos maneras.
"Sois un fondo. Teneis estos dos negocios encima de la mesa. Mismo sector, mismo tamaño, misma ventana temporal. En cual poneis el dinero?"
LAS TRES FILAS DE ABAJO SON LAS QUE MATAN, y por eso van separadas visualmente:
- ORIGEN DESCONOCIDO: 14% frente a 0,3%. Uno de cada siete euros de A entra sin que sepas por que.
- TRAFICO QUE NI VE: A no mide el 19% del trafico que existio. No es que lo mida mal: no sabe que ocurrio.
- SOBRE CUANTO PUEDES DECIDIR: 70% frente a 99,7%. Casi UN TERCIO del negocio de A no sirve para decidir nada.
Ese 70% sale de la aritmetica: A ve el 81% del trafico real, y de lo que ve, el 14% no tiene origen accionable. 81 menos 11 puntos = 70.
RIGOR SI ALGUIEN AFINA: son sesiones de GA4 frente a entradas de SealMetrics, metodologias distintas, no la misma unidad. Cifras escaladas sobre un caso real de un eCommerce español.
Y OJO: casi siempre siguen eligiendo A, porque parece menos dependiente de la publicidad. Esa es la trampa, y la desmontas en la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REVELADO. Sin dramatizar: la frase ya es dramatica sola.
"Es la misma empresa. El mismo dia. La misma web. Lo unico que cambia es la herramienta que mide. A es lo que veia Google Analytics. B es lo que estaba pasando."
PAUSA DE DOS SEGUNDOS.
"GA4 no mide menos. Mide otro negocio."
Esta es la tesis entera de la charla en seis palabras.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ATERRIZAS EL A vs B EN UNA SOLA CIFRA, y es la que se llevan.
"Ciento noventa y tres ventas. No son ventas perdidas: ocurrieron, alguien pago, el dinero esta en la cuenta. Lo que se perdio es saber de donde vinieron."
PAUSA. Y el remate:
"Y una venta de la que no sabes el origen es una venta que no puedes repetir. Podeis tener el mejor mes de vuestra historia y no poder explicar por que, y por tanto no poder volver a hacerlo."
SI ALGUIEN PREGUNTA "y por que me creo que B es el bueno?": porque no se compara una herramienta con otra, se comparan las dos CONTRA LA CAJA. En este cliente, el sistema B reconcilia el 96% de los pedidos reales de Shopify y el 97% de la facturacion. Los pedidos de Shopify ocurrieron de verdad: no se estiman ni se modelan. Tenlo en la recamara por si te lo piden, pero no lo metas si no te lo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SI: 30 segundos, no 3 minutos. Empresa de 2 personas, AI-native, medimos el 100% del trafico sin cookies ni consentimiento. Y punto.
DILO LITERAL: "Vendo una herramienta que resuelve esto. Asi que no me creais a mi: os voy a dar los tests para que lo comprobeis vosotros en cualquier empresa, con o sin nosotros."
Y PRESENTA EL INDICADOR: "Arriba a la derecha teneis cinco cuadrados y dos mas separados. Se van llenando segun avanzamos. Asi sabeis siempre cuanto queda."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MECANISMO, Y VA PRIMERO PORQUE EXPLICA TODO LO DEMAS.
LA ACEPTACION SUBE SEGUN BAJA EL FUNNEL, +10 puntos por paso: 20%, 30%, 40%, 50%. Es logico: cuanto mas navega alguien, mas oportunidades ha tenido de darle al banner. Pero fijate en la consecuencia, que es donde esta el truco: EL QUE ACEPTA TARDE YA HA PERDIDO EL ORIGEN. Eso es la siguiente slide.
El banner no te quita datos una vez: te los quita EN CADA PASO del funnel. Si solo una de cada cinco visitas acepta, no ves una quinta parte de las entradas, ni de las paginas vistas, ni de los carritos, ni de los checkouts.
RECORRE LA ESCALERA CON EL DEDO, de arriba abajo: entran 100, ves 20. Llegan al carrito 18, ves 4. Llegan a checkout 9, ves 2.
LA FRASE: "Con dos checkouts medidos de nueve reales, cualquier conclusion que saques sobre tu embudo es una opinion con formato de grafico."
Y EL REMATE, que es lo que enlaza con la Fuga 3: "Ademas fijaos en una cosa: he puesto un 20% parejo en todos los pasos para simplificar. En la vida real no es parejo, y ahi es donde esta el dinero. Lo vemos en un momento."
RIGOR: el 20% es ilustrativo y encaja con el rango documentado de 13-20% de visibilidad real en trafico UE. Si te aprietan, da el rango tu antes de que te lo pidan.
TEST 1 -&gt; CHECKLIST: coge los pedidos reales de tu plataforma de eCommerce y los que cuenta tu analitica en el mismo periodo. Si no cuadran, ya sabes.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ESTA VERIFICADO Y PUEDES AFIRMARLO. Las formulas son publicas y estan documentadas por los propios fabricantes de CMP:
DIDOMI, glosario de metricas:
  Consent rate = opt-ins / total de elecciones (opt-ins + opt-outs)
  Opt-in rate  = opt-ins / total de faldones mostrados
  No-choice rate = los que no eligen / faldones mostrados
AXEPTIO lo formula igual con otras palabras:
  Interaction rate = los que eligen algo / total de visitantes
  Consent rate = los que consienten / los que interactuaron
  Opt-in rate = consent rate x interaction rate
  Y avisa expresamente de que quien rebota sin tocar el faldon queda FUERA de las metricas basadas en interaccion.
EL DATO QUE REMATA: el benchmark europeo de Didomi con datos de 2025 da consent rates del 80,6% en movil y 77,8% en escritorio. Ese es el numero que llega al comite de direccion. Y su propia serie de television-web enseña la otra cara: opt-in rate del 45,9% con un no-choice del 41,1%.
COMO SE CUENTA:
"Vuestro panel tiene dos porcentajes con nombres parecidos. El CONSENT RATE divide entre los que pulsaron algo. El OPT-IN RATE divide entre todos los que vieron el faldon. El primero sale del 78 al 81% en Europa. El segundo, en nuestro funnel, es un 29%."
PAUSA. Y el remate:
"La diferencia entre los dos son exactamente los que no tocan nada. Vuestro CMP los saca del calculo porque no eligieron. Vuestra analitica no puede sacarlos: para la ley, quien no elige NO consiente. Asi que el numero que se lleva vuestro CMO a la reunion es el unico de los dos que no podeis usar para medir."
Y LA TAREA: "Mañana abrid el panel y buscad las dos metricas. Estan las dos. Si solo os saben dar una, pedid la otra."
SI ALGUIEN DICE "el nuestro da 80%": perfecto, es justo el benchmark. Preguntale cual de las dos es. Casi siempre es el consent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NUMERO SALE DEL FUNNEL QUE ACABAN DE VER, no de ningun sitio externo. Por eso es solido: puedes hacer la cuenta en voz alta.
LA CUENTA, dicha despacio: "De cada 9 checkouts reales, medis 5, porque a esa altura acepta el 50%. Pero de esos 9, solo 2 habian aceptado en la PRIMERA pagina, que es donde se captura el origen. Asi que de los 5 que medis, 2 tienen origen y 3 no. Tres de cada cinco: el 60%."
Y EL REMATE: "Y ahi es donde nace el cubo de Directo. No es que esa gente entrara tecleando vuestra marca: es que aceptaron tarde."
OJO — POR QUE NO USO EL 65% PUBLICADO: nuestro analisis dice que el 65% de los que ACEPTAN lo hacen en la segunda pagina o despues. Es verdad, pero es OTRO denominador (los que aceptan, no las ventas medidas) y con este funnel la cuenta no da 65%. Si lo pones en la misma pantalla que el funnel, alguien te hace la resta y te pilla. Tenlo como refuerzo verbal si quieres — "nuestro propio analisis va en la misma direccion" — pero no lo mezcles en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CONSTRUYELA POR FILAS, no la enseñes entera. Fila a fila, con la columna "Consentimiento?" revelandose al final y las dos de server-side entrando las ultimas.
LA REGLA: "No es la tecnologia. Es si identificas a una persona. Requiere consentimiento porque mide individualmente."
EL MITO — DETENTE 60 SEGUNDOS: medio mercado se ha mudado a server-side creyendo que asi se quitaba el banner. No se lo quita. Cambia DONDE se procesa el dato, no SI identificas: si pones un ID para coser sesiones sigues escribiendo en el dispositivo, y si mandas la IP sigues tratando datos personales.
No humilles a quien lo haya hecho: el error es del vendedor, no suyo.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TE GANAS LA SALA DEL TODO, porque vas a argumentar en tu contra.
EL RESPALDO: Francia CNIL (5 objetivos + 14 criterios tecnicos; NUNCA digas "certificados", lo prohibe expresamente: es autoevaluacion publica). España AEPD: exime la medicion de audiencia anonima y agregada. UK DUAA 2025 en vigor 5 feb 2026, 4 condiciones. UE Digital Omnibus va en esa direccion.
EL PALO: infracciones de cookies por LSSI-CE, leves hasta 30.000 €, graves de 30.001 a 150.000 €.
EL PIVOTE: "Asi que se puede medir el 100%, legalmente, hoy. Lo cual significa que todo lo que viene ya no es una fatalidad. Es una eleccion."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OJO CON LA CIFRA: es el 15%, no el 10%. Esta declarado como statisticClaim en /data-loss-calculator con fuente Google/Deloitte, "Milliseconds Make Millions", 2020. Usa 15% y cita la fuente.
EL ARGUMENTO: medir tiene un peso fisico. GA4 son 145,6 KB; el nuestro, 1,1 KB. Ese peso se descarga en el movil de tu cliente, con la cobertura que tenga, antes de que vea tu producto.
LA PARADOJA: la herramienta que instalaste para saber por que no vendes es una razon por la que no vendes.
Y EL PUNTO QUE HAY QUE SUBRAYAR, porque es el que nadie ve: ESTA PERDIDA SE SUMA A LA DEL BANNER. No se solapan. Es gente que se fue antes de que la pagina terminara de cargar, asi que ni siquiera llego a ver el aviso de cookies. No estan en el 20% que acepta ni en el 80% que rechaza: no estan en ninguna parte.
EL EURO: 100 ms valen +8,4% de conversion en eCommerce. Guarda el +10,1% de travel para el Q&amp;A si hay alguien de turismo en la sala.
FUENTES SEPARADAS: el peso es investigacion NUESTRA (medimos los 10 principales scripts). El 15% y el +8,4% son Google/Deloitte. No los mezcles.
Y NO uses la comparacion con Plausible aunque salga en el estudio.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QUE DEMUESTRA LA FUGA. Datos reales de un eCommerce español de cafe de especialidad, cliente nuestro. NO DIGAS EL NOMBRE.
Dejalos leer la escalera de arriba abajo antes de hablar: la forma lo dice todo sola.
ARRIBA: Directo +11%, Referral +24%, Email +26%. Canales de GENTE QUE YA TE CONOCE: teclea tu marca, abre tu newsletter. Apenas se pierden.
ABAJO: pago +37/+52%, organico +62%, afiliacion +73%, redes +133%. Canales que traen GENTE NUEVA desde un clic externo. Se pierden entre tres y doce veces mas.
EL NUCLEO, dilo en voz alta: NO SE ARREGLA MULTIPLICANDO LOS INFORMES POR UN NUMERO. Si el error fuera parejo bastaria un coeficiente. No lo es: deforma la foto, encoge los canales de captacion y deja intactos los de retencion.
Por eso "Directo" parece crecer. No crece: PIERDE MENOS QUE EL RESTO, y por eso ocupa mas sitio en la tarta.
RIGOR: el pago va como rango porque GA4 agrupa parte en Cross-network, que nosotros repartimos entre buscador y redes.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VA DE ALGO DISTINTO A LAS DEMAS, y por eso funciona: no va de dinero, va de JUSTICIA CON TU PROPIO TRABAJO.
PLANTEALO COMO ACERTIJO: "A GA4 le faltaban 29 de cada 100 VISITAS. Pero le faltaban 45 de cada 100 PAGINAS VISTAS. Los dos numeros no cuadran... a menos que las visitas que faltan no sean visitas normales."
Deja dos segundos. Y remata con la vuelta de tuerca:
"Fijaos en el orden. El 1,6 no es vuestra realidad: es lo que ve una herramienta rota. Vuestra media real es 2,1. Y la parte que no ve navega 3,3 paginas, el doble que la que si ve."
Y AQUI EL GOLPE, dicho despacio: "Llevais años mirando un informe que os dice que vuestro contenido no engancha, que la gente rebota, que la web no retiene. Y no es verdad. Estais siendo injustos con vuestro marketing, con vuestro equipo y con vuestro trabajo, por culpa de una herramienta que solo ve al visitante que se va rapido."
Es la slide que mas empatia genera de toda la charla, porque no acusa a nadie: les defiende.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SE CIERRA EL ARCO: el caso anterior demuestra el MECANISMO, este enseña la CONSECUENCIA DE NEGOCIO.
NO DIGAS NOMBRES. Ni el del cafe ni el del descanso. Di "un cliente nuestro", "un eCommerce de descanso". Con las cifras escaladas y sin nombre, no expones a nadie.
LA FRASE: "La decision no cambio porque cambiara el mercado, ni porque TikTok empezara a funcionar mejor de repente. TikTok siempre habia funcionado. Lo que cambio fue lo que podian ver."
Y el remate: "El canal que ibais a recortar era el que estaba vendiendo."
SIN CIFRAS de este cliente: no las tenemos. La afirmacion es cualitativa y asi hay que decirla.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SI LLEVA NOMBRE: esta publicado en sealmetrics.com/case-studies. Palladium y Dreamplace son los dos unicos casos publicos.
Un grupo hotelero internacional encontro que UNA DE CADA TRES RESERVAS REGISTRADAS no sabia de donde venia. No reservas perdidas: registradas, cobradas, sin origen.
Y NO AUMENTARON LA INVERSION: reasignaron partners, soportes y audiencias sobre datos que si tenian origen.
EL METODO EN 4 PASOS es lo replicable, y el paso 02 es el que casi nadie hace: elegir UNA SEÑAL DE INTENCION PROPIA DEL NEGOCIO (la busqueda de disponibilidad del motor de reservas) en vez de una metrica de la herramienta. Es gratis y es lo que hace que el resto funcione.
LA LECCION: el mejor ROI del año no esta en gastar mas, esta en dejar de gastar segun un informe equivocado.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EXPLICACION LARGA, PARA QUE TU LA TENGAS CLARA. En la slide solo van las dos barras y las tres preguntas.
QUE PASA POR DEBAJO, en cristiano:
Cuando alguien rechaza las cookies, GA4 no se calla del todo: sigue mandando un aviso anonimo, sin identificador — un ping que dice "aqui ha pasado alguien" pero no puede decir quien ni de donde venia. Con esos pings anonimos, mas el comportamiento de los que SI aceptaron, Google ESTIMA cuantas visitas y cuantas conversiones representa el grupo que no acepto. Y esa estimacion la suma al numero que te enseña. Eso es Consent Mode v2.
LA ANALOGIA QUE FUNCIONA EN UNA ESCUELA DE NEGOCIOS — usala, es la que lo hace entender:
"Imaginad que vuestro contable os dice: he contado veinte facturas. Las otras ochenta no las he visto, pero he calculado cuanto suman a partir de las veinte que si vi. Y os lo pone todo junto, en la misma linea del balance, sin decir cual es cual. Ningun consejo de administracion aceptaria eso. En marketing lo aceptamos todos los meses."
POR QUE ES UN PROBLEMA Y NO UNA AYUDA — los tres puntos de la slide:
1. DE DONDE SALEN LAS 80: del comportamiento de las 20 que aceptaron.
2. POR QUE ESO FALLA: porque el que acepta cookies no es una muestra representativa. Suele ser mas fiel a la marca, mas repetidor, mas movil-vs-escritorio segun el sector. Estas proyectando el comportamiento de los tuyos de siempre sobre los que acabas de captar.
3. POR QUE NO PUEDES AUDITARLO: el informe no te da margen de error, no te deja separar lo contado de lo estimado, y en cuanto bajas a segmentos pequeños — una campaña concreta, un dia concreto — el modelo se degrada o directamente no calcula.
DONDE DUELE: para mirar una tendencia agregada, la estimacion puede valer. Para decidir a que canal mueves cincuenta mil euros el lunes, no. Y esa es la decision que se toma con ese numero.
SI TE PREGUNTAN "y no es mejor que nada?": "Depende de si sabes que estas mirando una estimacion. El problema no es que estimen: es que no te lo dicen en la cifra."
SI ESTA VERSION TAMPOCO TE CONVENCE, CORTALA: la charla aguanta con cuatro fugas y baja a 54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FUGA QUE CIERRA EL BLOQUE, y la unica que va a crecer sola.
Tres cosas distintas con un rasgo comun: NINGUNA VA A ACEPTAR NUNCA UNA COOKIE. No es que rechacen: es que no son un visitante humano tomando una decision.
1. AGENTES DE IA. Un agente no pulsa "Aceptar". No puede, no quiere, no lo hara. Y encima muchos crawlers no ejecutan JavaScript ni mandan referrer, asi que la analitica de cliente ni registra la visita. Lo poco que llega acaba en "Directo": la fosa comun de la Fuga 3, otra vez.
2. CLICK FRAUD. Bots y granjas de clic. Se pagan igual que un clic real.
3. TRAFICO DE BAJA CALIDAD. Humano y legitimo, pero que nunca iba a comprar. No es fraude: es desperdicio, y como es legitimo nadie lo reclama.
LA ESCENA PARA LOS AGENTES: alguien le pregunta a ChatGPT cual es el mejor colchon para el dolor de espalda, acaba comprando en tu web. Esa venta EXISTE y esta cobrada. En tu informe pone "Directo".
EL REMATE, la mejor frase del bloque: "Vuestro gap de medicion no se esta estabilizando. Se esta ensanchando. Porque el canal que mas va a crecer en los proximos cinco años tiene, por diseño, una tasa de consentimiento del cero por ciento."
Agent Analytics: en desarrollo, todavia no disponible. No lo vendas como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ESTRUCTURAL: llevas cuarenta minutos diciendo que les FALTA gente. Ahora la otra mitad: tambien les SOBRA. Numerador y denominador rotos a la vez.
PAGAS DOS VECES: una a la plataforma por el clic que ningun humano hizo, y otra a tu herramienta de analitica, que te factura por eventos que no son personas.
EL EFECTO EN LAS METRICAS: inflan el denominador. Suben las sesiones, hunden la tasa de conversion, y te convencen de que tienes un problema de CRO cuando lo que tienes es un problema de CALIDAD DE TRAFICO. Vas a pagar una consultoria para arreglar la pagina equivocada.
EL CALLBACK A PALLADIUM: por eso no midieron sesiones, midieron BUSQUEDAS DE DISPONIBILIDAD. Una señal de intencion cualificada separa sola el trafico que vale del que solo hace volumen.
VUESTRO ANGULO, sin vender: los hits se contrastan contra una base de IPs de bots y las coincidencias se excluyen ANTES de entrar en la analitica. Y se factura por EVENTOS HUMANOS: no pagas por medir bots.
SIN CIFRAS DE FRAUDE: solo el mecanismo. No inventes porcentajes.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CONSTRUCTIVO. Hasta aqui has enseñado lo que se rompe. Los dos extras son fugas tambien, pero de otro tipo: no se te escapa el dato, es que NUNCA LO HAS PEDIDO.
EL CAMBIO DE MENTALIDAD: medir personas requiere identificarlas, y eso requiere consentimiento. Medir HITS —lo que ocurre en tu web, de forma anonima y agregada— no lo requiere. Y para decidir presupuesto, los hits te bastan.
Mides cuanta gente entra y cuanto vendes. Lo de en medio es un agujero negro: cuanta gente ve producto, cuanta añade al carrito, cuanta empieza el checkout. Y sobre todo: EN QUE SE DIFERENCIAN LOS CANALES en ese recorrido.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QUE SE LLEVAN A CASA. Ejemplo ilustrativo, dilo en voz alta.
COMO LEERLA: filas, tus fuentes de trafico. Columnas, los pasos del embudo. Cada porcentaje es sobre las visitas DE ESA FUENTE, no sobre el total. Asi comparas canales de tamaños distintos con la misma vara.
LAS TRES LECTURAS QUE HAY QUE SEÑALAR CON EL DEDO:
1. TIKTOK, fila rosa: 61% llega a ver producto, la mejor de todas las de pago. Compra un 3,1%, por encima de Meta y del organico. Y era la que ibas a recortar porque en el informe salian cuatro ventas.
2. META: entra mucha gente (31.500) pero solo el 7,2% añade al carrito. No tiene un problema de volumen: tiene un problema de intencion. La respuesta no es subir puja, es cambiar publico o creatividad.
3. EMAIL: la mejor conversion con diferencia (9,4%) y el menor volumen. Cada euro que muevas ahi rinde el triple. Es la fila que nadie mira porque "email es barato".
LA FRASE: "Esta tabla no la puede construir una herramienta que solo ve una quinta parte del trafico, porque los porcentajes de las columnas se calculan sobre esa quinta parte y cada fila esta sesgada de forma distinta."
TEST 6 -&gt; CHECKLIST: intenta construir esta tabla con tu analitica actual. Si no puedes, esa es la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MISMA TABLA, EN EUROS. Es la slide que convierte el analisis en decision de presupuesto. Ejemplo ilustrativo: mismas visitas y mismos porcentajes que la tabla anterior, con inversion a CPC de mercado (Google 0,62 €, Meta 0,44 €, TikTok 0,26 €).
COMO SE CONSTRUYE, dilo en voz alta porque es trivial y por eso duele: inversion del canal dividida entre el numero de personas que llegan a esa fase. Nada mas. Es una division. Pero necesitas el denominador bien medido, y ahi es donde se cae todo.
LAS LECTURAS:
1. LA COLUMNA DE LA DERECHA es el CPA de toda la vida, la unica que la mayoria mira. Google 16,38 €, Meta 23,39 €, TikTok 8,49 €.
2. PERO MIRA LA PRIMERA COLUMNA DE COSTE: traer a alguien a ver producto cuesta 1,20 € en Google y 0,43 € en TikTok. Casi tres veces menos.
3. Y AHORA MIRA COMO SE MULTIPLICA EL COSTE al bajar el embudo: en Google se multiplica por 13,7 de ver producto a compra. En TikTok por 19,7. En Meta por 23,2. Ese multiplicador es el diagnostico: te dice si tu problema es de trafico o de conversion.
4. META es el caso de libro: no tiene un problema de coste de entrada (1,01 €, mas barato que Google). Tiene un problema de embudo. Cada escalon le cuesta desproporcionadamente mas. Subir presupuesto en Meta es tirar dinero; hay que arreglar el paso de ver producto a carrito.
EL GOLPE: 'Meta se gasta 14.000 € para 598 ventas. TikTok 6.000 € para 707.' Pausa. 'Y TikTok era el canal que ibais a recortar, porque vuestro informe decia que traia cuatro ventas.'
SI PREGUNTAN POR EMAIL: si, 0,53 € por venta. No es magia: es que el coste es de herramienta, no de medios. Lo pongo para que se vea que la tabla sirve para comparar cosas que no son comparables de otra forma.
CIERRE DEL BLOQUE: 'Ninguna de estas dos tablas la puede construir una herramienta que solo ve una parte del trafico. Y sin estas dos tablas, el presupuesto del año que viene lo decide una intuicion.'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SEGUNDA FUGA INVISIBLE, y la que mas dinero mueve a medio plazo.
Todo el mundo mide CUANTO vende cada canal. Casi nadie mide QUE vende cada canal.
EL EJEMPLO, dilo tal cual: "En TikTok se vende el rosa, de piel, talla M. En Google Ads se vende el negro, de lentejuelas, talla S. No es el mismo cliente, no compra lo mismo, y le estas enseñando la misma creatividad y la misma landing."
Y AHI ES DONDE SE CONVIERTE EN DECISIONES:
- Audiencia: en TikTok buscas al publico que compra ese perfil de producto, no "a todo el mundo".
- Creatividades: produces para el producto que ese canal vende, no un generico.
- Landing: cada canal aterriza en lo que ese canal compra.
- Stock y compras: sabes que atributos empujar antes de que se agoten.
Y PARA QUE ESTO FUNCIONE hace falta medir propiedades de producto en cada evento, de forma anonima y agregada. Es medir hits, no personas: no requiere consentimiento.
EJEMPLO ILUSTRATIVO. Dilo.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REMATE DE LOS EXTRAS, y probablemente la pregunta que mas les va a hacer pensar. Dilo despacio y deja silencio.
"Levantad la mano los que hayais oido hablar de CRO o de tests A/B." (manos) "Vale. Pregunta: como optimizas la conversion de una web si solo ves una quinta parte de quien pasa por ella?"
Y el segundo golpe: "Un test A/B reparte a los visitantes en dos grupos y compara. Pero el visitante que no acepta cookies NO ENTRA EN NINGUNO DE LOS DOS GRUPOS. Asi que estas optimizando para la minoria que consiente, y aplicando el resultado a todo el mundo."
Y EL CIERRE HONESTO: "No os digo que el CRO no sirva. Os digo que se hace sobre una muestra sesgada, y que casi nadie que lo vende os lo va a mencionar."
Esta slide no vende nada. Por eso funciona: es la que demuestra que has venido a pensar, no a colocar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dato correcto que vive encerrado en un dashboard no sirve. Para que valga tiene que llegar a donde se decide: la hoja de finanzas, el CRM, el bidding de la plataforma, el modelo que analiza.
Ahi es donde casi todas las plataformas fallan sin que nadie lo note: el dato existe, pero esta preso. La forma de sacarlo es un CSV que alguien exporta una vez al mes y que ya nace desactualizado.
Lo que hace falta: una API robusta y bien documentada, sin limites artificiales, que devuelva el dato crudo.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JERGA: MCP es el estandar que permite que un modelo de IA consulte tus datos directamente, en el momento de la pregunta, en vez de que alguien le pegue un CSV en el chat.
El MCP de SealMetrics expone varias decenas de HERRAMIENTAS DE SOLO LECTURA que Claude, ChatGPT o Cursor pueden llamar para preguntar por revenue, conversiones, propiedades o forecasts en lenguaje natural.
EL ARGUMENTO DE CARRERA, dilo despacio: "La ventaja competitiva de los proximos cinco años no va a ser tener IA. La va a tener todo el mundo y va a costar lo mismo para todos. La ventaja va a ser tener datos que la IA pueda leer directamente y en los que se pueda confiar. Eso no se compra en septiembre: se construye antes."
SI PREGUNTAN POR SEGURIDAD: las herramientas del MCP son de SOLO LECTURA. Seal AI esta alojado en la UE y no requiere API key de terceros; al usar pesos abiertos se puede fijar a una version exacta y auditar.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informe con un hueco te hace dudar. UN ASISTENTE DE IA NUNCA TE HACE DUDAR. Ese es el problema. La IA no tiene criterio: tiene elocuencia. Coge la quinta parte, el dato modelado y la muestra sesgada, y construye encima una narrativa causal impecable que no puedes distinguir de la verdad.
Las fugas eran caras. Con IA encima se vuelven INDETECTABLES, porque desaparece la unica defensa que quedaba: que el informe pareciera raro.
GROUNDING, el unico termino tecnico que merece explicarse: un asistente fiable no responde con lo que "recuerda", responde SOLO con datos consultados en el momento de la pregunta, y debe poder nombrar el periodo, la metrica y el desglose de cada cifra.
LA PRUEBA: preguntale por algo que NO EXISTE, una campaña que nunca lanzaste. Un sistema honesto dice que ese dato no esta. Uno que alucina te lo inventa con decimales.
SI TE PREGUNTAN "la IA no acabara resolviendo lo de los datos que faltan?": NO. Puede estimar mejor, pero no puede observar lo que nunca se observo. Si te hacen esa pregunta, has ganado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2 reescrito para que sea accionable: no va del peso en KB, va de que si tu web tarda mas de 3 segundos en movil hay gente que se va antes de que dispare el pixel. Ese es el 15%.
TEST 4 cambiado a «unassigned»/«(not set)»: es la etiqueta que la gente ve de verdad en su informe, no un concepto abstracto.
No expliques ninguno: solo recogelos. Ya los han visto nacer uno a uno; esta slide solo los junta. Eso convierte una lista en una conclusion.
"Ninguno de estos siete requiere comprar nada, ni saber programar, ni pedir permiso a nadie. Los siete se hacen en una tarde, y los siete os van a dar una conversacion que tener con vuestro jefe. Y uno de regalo, el de las cookies, que ademas os puede ahorrar una multa."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Silencio de dos segundos. Y ahi acabas. No añadas nada, no la expliques, no pases rapido.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PIDAS UNA DEMO A ESTUDIANTES. Dales herramientas gratis que puedan usar en la empresa donde acaben. El retorno llega en dos años, con ellos dentro de una compañia que tiene este problema.
De pasada, sin insistir: hay un plan gratuito hasta 1M de eventos que se instala desde el propio asistente de IA.
NO des tu email personal desde el escenario. QR a las dos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412"/>
        </a:solidFill>
      </p:bgPr>
    </p:bg>
    <p:spTree>
      <p:nvGrpSpPr>
        <p:cNvPr id="1" name=""/>
        <p:cNvGrpSpPr/>
        <p:nvPr/>
      </p:nvGrpSpPr>
      <p:grpSpPr>
        <a:xfrm>
          <a:off x="0" y="0"/>
          <a:ext cx="0" cy="0"/>
          <a:chOff x="0" y="0"/>
          <a:chExt cx="0" cy="0"/>
        </a:xfrm>
      </p:grpSpPr>
      <p:sp>
        <p:nvSpPr>
          <p:cNvPr id="2" name="Text 0"/>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SOIS INVERSORES. DOS NEGOCIOS ENCIMA DE LA MESA.</a:t>
            </a:r>
            <a:endParaRPr lang="en-US" sz="1100" dirty="0"/>
          </a:p>
        </p:txBody>
      </p:sp>
      <p:sp>
        <p:nvSpPr>
          <p:cNvPr id="3" name="Text 1"/>
          <p:cNvSpPr txBox="1"/>
          <p:nvPr/>
        </p:nvSpPr>
        <p:spPr>
          <a:xfrm>
            <a:off x="685800" y="868680"/>
            <a:ext cx="10817352" cy="640080"/>
          </a:xfrm>
          <a:prstGeom prst="rect">
            <a:avLst/>
          </a:prstGeom>
          <a:noFill/>
          <a:ln/>
        </p:spPr>
        <p:txBody>
          <a:bodyPr wrap="square" lIns="0" tIns="0" rIns="0" bIns="0" rtlCol="0" anchor="ctr"/>
          <a:lstStyle/>
          <a:p>
            <a:pPr algn="l" indent="0" marL="0">
              <a:buNone/>
            </a:pPr>
            <a:r>
              <a:rPr lang="en-US" sz="3600" b="1" dirty="0">
                <a:solidFill>
                  <a:srgbClr val="F4F1E8"/>
                </a:solidFill>
                <a:latin typeface="Onest" pitchFamily="34" charset="0"/>
                <a:ea typeface="Onest" pitchFamily="34" charset="-122"/>
                <a:cs typeface="Onest" pitchFamily="34" charset="-120"/>
              </a:rPr>
              <a:t>¿En cuál ponéis el dinero?</a:t>
            </a:r>
            <a:endParaRPr lang="en-US" sz="3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85800" y="1600200"/>
          <a:ext cx="9951964" cy="914400"/>
        </p:xfrm>
        <a:graphic>
          <a:graphicData uri="http://schemas.openxmlformats.org/drawingml/2006/table">
            <a:tbl>
              <a:tblPr/>
              <a:tblGrid>
                <a:gridCol w="4846320"/>
                <a:gridCol w="2926080"/>
                <a:gridCol w="2926080"/>
              </a:tblGrid>
              <a:tr h="416052">
                <a:tc>
                  <a:txBody>
                    <a:bodyPr/>
                    <a:lstStyle/>
                    <a:p>
                      <a:pPr algn="l" indent="0" marL="0">
                        <a:buNone/>
                      </a:pPr>
                      <a:endParaRPr lang="en-US" sz="1050" dirty="0">
                        <a:latin typeface="JetBrains Mono" charset="0"/>
                        <a:ea typeface="JetBrains Mono" charset="0"/>
                        <a:cs typeface="JetBrains Mono"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81C19"/>
                    </a:solidFill>
                  </a:tcPr>
                </a:tc>
                <a:tc>
                  <a:txBody>
                    <a:bodyPr/>
                    <a:lstStyle/>
                    <a:p>
                      <a:pPr algn="ctr" indent="0" marL="0">
                        <a:buNone/>
                      </a:pPr>
                      <a:r>
                        <a:rPr lang="en-US" sz="1050" b="1" dirty="0">
                          <a:solidFill>
                            <a:srgbClr val="CBFF3D"/>
                          </a:solidFill>
                          <a:latin typeface="JetBrains Mono" pitchFamily="34" charset="0"/>
                          <a:ea typeface="JetBrains Mono" pitchFamily="34" charset="-122"/>
                          <a:cs typeface="JetBrains Mono" pitchFamily="34" charset="-120"/>
                        </a:rPr>
                        <a:t>NEGOCIO A</a:t>
                      </a:r>
                      <a:endParaRPr lang="en-US" sz="1050" dirty="0">
                        <a:latin typeface="JetBrains Mono" charset="0"/>
                        <a:ea typeface="JetBrains Mono" charset="0"/>
                        <a:cs typeface="JetBrains Mono"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81C19"/>
                    </a:solidFill>
                  </a:tcPr>
                </a:tc>
                <a:tc>
                  <a:txBody>
                    <a:bodyPr/>
                    <a:lstStyle/>
                    <a:p>
                      <a:pPr algn="ctr" indent="0" marL="0">
                        <a:buNone/>
                      </a:pPr>
                      <a:r>
                        <a:rPr lang="en-US" sz="1050" b="1" dirty="0">
                          <a:solidFill>
                            <a:srgbClr val="CBFF3D"/>
                          </a:solidFill>
                          <a:latin typeface="JetBrains Mono" pitchFamily="34" charset="0"/>
                          <a:ea typeface="JetBrains Mono" pitchFamily="34" charset="-122"/>
                          <a:cs typeface="JetBrains Mono" pitchFamily="34" charset="-120"/>
                        </a:rPr>
                        <a:t>NEGOCIO B</a:t>
                      </a:r>
                      <a:endParaRPr lang="en-US" sz="1050" dirty="0">
                        <a:latin typeface="JetBrains Mono" charset="0"/>
                        <a:ea typeface="JetBrains Mono" charset="0"/>
                        <a:cs typeface="JetBrains Mono"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81C19"/>
                    </a:solidFill>
                  </a:tcPr>
                </a:tc>
              </a:tr>
              <a:tr h="416052">
                <a:tc>
                  <a:txBody>
                    <a:bodyPr/>
                    <a:lstStyle/>
                    <a:p>
                      <a:pPr indent="0" marL="0">
                        <a:buNone/>
                      </a:pPr>
                      <a:r>
                        <a:rPr lang="en-US" sz="1350" dirty="0">
                          <a:solidFill>
                            <a:srgbClr val="A3A396"/>
                          </a:solidFill>
                          <a:latin typeface="Onest" pitchFamily="34" charset="0"/>
                          <a:ea typeface="Onest" pitchFamily="34" charset="-122"/>
                          <a:cs typeface="Onest" pitchFamily="34" charset="-120"/>
                        </a:rPr>
                        <a:t>Visitas que el sistema mide</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202.130</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250.345</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A3A396"/>
                          </a:solidFill>
                          <a:latin typeface="Onest" pitchFamily="34" charset="0"/>
                          <a:ea typeface="Onest" pitchFamily="34" charset="-122"/>
                          <a:cs typeface="Onest" pitchFamily="34" charset="-120"/>
                        </a:rPr>
                        <a:t>Páginas por sesión</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1,6</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2,1</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F4F1E8"/>
                          </a:solidFill>
                          <a:latin typeface="Onest" pitchFamily="34" charset="0"/>
                          <a:ea typeface="Onest" pitchFamily="34" charset="-122"/>
                          <a:cs typeface="Onest" pitchFamily="34" charset="-120"/>
                        </a:rPr>
                        <a:t>Ventas</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2000" b="1" dirty="0">
                          <a:solidFill>
                            <a:srgbClr val="E8837C"/>
                          </a:solidFill>
                          <a:latin typeface="Onest" pitchFamily="34" charset="0"/>
                          <a:ea typeface="Onest" pitchFamily="34" charset="-122"/>
                          <a:cs typeface="Onest" pitchFamily="34" charset="-120"/>
                        </a:rPr>
                        <a:t>807</a:t>
                      </a:r>
                      <a:endParaRPr lang="en-US" sz="20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2000" b="1" dirty="0">
                          <a:solidFill>
                            <a:srgbClr val="CBFF3D"/>
                          </a:solidFill>
                          <a:latin typeface="Onest" pitchFamily="34" charset="0"/>
                          <a:ea typeface="Onest" pitchFamily="34" charset="-122"/>
                          <a:cs typeface="Onest" pitchFamily="34" charset="-120"/>
                        </a:rPr>
                        <a:t>1.000</a:t>
                      </a:r>
                      <a:endParaRPr lang="en-US" sz="20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A3A396"/>
                          </a:solidFill>
                          <a:latin typeface="Onest" pitchFamily="34" charset="0"/>
                          <a:ea typeface="Onest" pitchFamily="34" charset="-122"/>
                          <a:cs typeface="Onest" pitchFamily="34" charset="-120"/>
                        </a:rPr>
                        <a:t>Campañas de pago</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50%</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62%</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A3A396"/>
                          </a:solidFill>
                          <a:latin typeface="Onest" pitchFamily="34" charset="0"/>
                          <a:ea typeface="Onest" pitchFamily="34" charset="-122"/>
                          <a:cs typeface="Onest" pitchFamily="34" charset="-120"/>
                        </a:rPr>
                        <a:t>Directo</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18%</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500" dirty="0">
                          <a:solidFill>
                            <a:srgbClr val="F4F1E8"/>
                          </a:solidFill>
                          <a:latin typeface="Onest" pitchFamily="34" charset="0"/>
                          <a:ea typeface="Onest" pitchFamily="34" charset="-122"/>
                          <a:cs typeface="Onest" pitchFamily="34" charset="-120"/>
                        </a:rPr>
                        <a:t>16%</a:t>
                      </a:r>
                      <a:endParaRPr lang="en-US" sz="15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F4F1E8"/>
                          </a:solidFill>
                          <a:latin typeface="Onest" pitchFamily="34" charset="0"/>
                          <a:ea typeface="Onest" pitchFamily="34" charset="-122"/>
                          <a:cs typeface="Onest" pitchFamily="34" charset="-120"/>
                        </a:rPr>
                        <a:t>Origen desconocido</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700" b="1" dirty="0">
                          <a:solidFill>
                            <a:srgbClr val="E8837C"/>
                          </a:solidFill>
                          <a:latin typeface="Onest" pitchFamily="34" charset="0"/>
                          <a:ea typeface="Onest" pitchFamily="34" charset="-122"/>
                          <a:cs typeface="Onest" pitchFamily="34" charset="-120"/>
                        </a:rPr>
                        <a:t>14%</a:t>
                      </a:r>
                      <a:endParaRPr lang="en-US" sz="17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700" b="1" dirty="0">
                          <a:solidFill>
                            <a:srgbClr val="CBFF3D"/>
                          </a:solidFill>
                          <a:latin typeface="Onest" pitchFamily="34" charset="0"/>
                          <a:ea typeface="Onest" pitchFamily="34" charset="-122"/>
                          <a:cs typeface="Onest" pitchFamily="34" charset="-120"/>
                        </a:rPr>
                        <a:t>0,3%</a:t>
                      </a:r>
                      <a:endParaRPr lang="en-US" sz="17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dirty="0">
                          <a:solidFill>
                            <a:srgbClr val="F4F1E8"/>
                          </a:solidFill>
                          <a:latin typeface="Onest" pitchFamily="34" charset="0"/>
                          <a:ea typeface="Onest" pitchFamily="34" charset="-122"/>
                          <a:cs typeface="Onest" pitchFamily="34" charset="-120"/>
                        </a:rPr>
                        <a:t>Tráfico real que este sistema ni ve</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700" b="1" dirty="0">
                          <a:solidFill>
                            <a:srgbClr val="E8837C"/>
                          </a:solidFill>
                          <a:latin typeface="Onest" pitchFamily="34" charset="0"/>
                          <a:ea typeface="Onest" pitchFamily="34" charset="-122"/>
                          <a:cs typeface="Onest" pitchFamily="34" charset="-120"/>
                        </a:rPr>
                        <a:t>19%</a:t>
                      </a:r>
                      <a:endParaRPr lang="en-US" sz="17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1700" b="1" dirty="0">
                          <a:solidFill>
                            <a:srgbClr val="CBFF3D"/>
                          </a:solidFill>
                          <a:latin typeface="Onest" pitchFamily="34" charset="0"/>
                          <a:ea typeface="Onest" pitchFamily="34" charset="-122"/>
                          <a:cs typeface="Onest" pitchFamily="34" charset="-120"/>
                        </a:rPr>
                        <a:t>0%</a:t>
                      </a:r>
                      <a:endParaRPr lang="en-US" sz="17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r h="416052">
                <a:tc>
                  <a:txBody>
                    <a:bodyPr/>
                    <a:lstStyle/>
                    <a:p>
                      <a:pPr indent="0" marL="0">
                        <a:buNone/>
                      </a:pPr>
                      <a:r>
                        <a:rPr lang="en-US" sz="1350" b="1" dirty="0">
                          <a:solidFill>
                            <a:srgbClr val="F4F1E8"/>
                          </a:solidFill>
                          <a:latin typeface="Onest" pitchFamily="34" charset="0"/>
                          <a:ea typeface="Onest" pitchFamily="34" charset="-122"/>
                          <a:cs typeface="Onest" pitchFamily="34" charset="-120"/>
                        </a:rPr>
                        <a:t>Parte del negocio sobre la que puedes decidir</a:t>
                      </a:r>
                      <a:endParaRPr lang="en-US" sz="135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2000" b="1" dirty="0">
                          <a:solidFill>
                            <a:srgbClr val="E8837C"/>
                          </a:solidFill>
                          <a:latin typeface="Onest" pitchFamily="34" charset="0"/>
                          <a:ea typeface="Onest" pitchFamily="34" charset="-122"/>
                          <a:cs typeface="Onest" pitchFamily="34" charset="-120"/>
                        </a:rPr>
                        <a:t>70%</a:t>
                      </a:r>
                      <a:endParaRPr lang="en-US" sz="20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c>
                  <a:txBody>
                    <a:bodyPr/>
                    <a:lstStyle/>
                    <a:p>
                      <a:pPr algn="ctr" indent="0" marL="0">
                        <a:buNone/>
                      </a:pPr>
                      <a:r>
                        <a:rPr lang="en-US" sz="2000" b="1" dirty="0">
                          <a:solidFill>
                            <a:srgbClr val="CBFF3D"/>
                          </a:solidFill>
                          <a:latin typeface="Onest" pitchFamily="34" charset="0"/>
                          <a:ea typeface="Onest" pitchFamily="34" charset="-122"/>
                          <a:cs typeface="Onest" pitchFamily="34" charset="-120"/>
                        </a:rPr>
                        <a:t>99,7%</a:t>
                      </a:r>
                      <a:endParaRPr lang="en-US" sz="2000" dirty="0">
                        <a:latin typeface="Onest" charset="0"/>
                        <a:ea typeface="Onest" charset="0"/>
                        <a:cs typeface="Onest" charset="0"/>
                      </a:endParaRPr>
                    </a:p>
                  </a:txBody>
                  <a:tcPr marL="64008" marR="64008" marT="64008" marB="64008" anchor="ctr">
                    <a:lnL w="12700" cap="flat" cmpd="sng" algn="ctr">
                      <a:solidFill>
                        <a:srgbClr val="2B2A28"/>
                      </a:solidFill>
                      <a:prstDash val="solid"/>
                      <a:round/>
                      <a:headEnd type="none" w="med" len="med"/>
                      <a:tailEnd type="none" w="med" len="med"/>
                    </a:lnL>
                    <a:lnR w="12700" cap="flat" cmpd="sng" algn="ctr">
                      <a:solidFill>
                        <a:srgbClr val="2B2A28"/>
                      </a:solidFill>
                      <a:prstDash val="solid"/>
                      <a:round/>
                      <a:headEnd type="none" w="med" len="med"/>
                      <a:tailEnd type="none" w="med" len="med"/>
                    </a:lnR>
                    <a:lnT w="12700" cap="flat" cmpd="sng" algn="ctr">
                      <a:solidFill>
                        <a:srgbClr val="2B2A28"/>
                      </a:solidFill>
                      <a:prstDash val="solid"/>
                      <a:round/>
                      <a:headEnd type="none" w="med" len="med"/>
                      <a:tailEnd type="none" w="med" len="med"/>
                    </a:lnT>
                    <a:lnB w="12700" cap="flat" cmpd="sng" algn="ctr">
                      <a:solidFill>
                        <a:srgbClr val="2B2A28"/>
                      </a:solidFill>
                      <a:prstDash val="solid"/>
                      <a:round/>
                      <a:headEnd type="none" w="med" len="med"/>
                      <a:tailEnd type="none" w="med" len="med"/>
                    </a:lnB>
                    <a:solidFill>
                      <a:srgbClr val="111412"/>
                    </a:solidFill>
                  </a:tcPr>
                </a:tc>
              </a:tr>
            </a:tbl>
          </a:graphicData>
        </a:graphic>
      </p:graphicFrame>
      <p:sp>
        <p:nvSpPr>
          <p:cNvPr id="5" name="Text 2"/>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6B6B5E"/>
                </a:solidFill>
                <a:latin typeface="JetBrains Mono" pitchFamily="34" charset="0"/>
                <a:ea typeface="JetBrains Mono" pitchFamily="34" charset="-122"/>
                <a:cs typeface="JetBrains Mono" pitchFamily="34" charset="-120"/>
              </a:rPr>
              <a:t>Mismo sector, mismo tamaño, misma ventana temporal. Que levanten la mano: A o 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412"/>
        </a:solidFill>
      </p:bgPr>
    </p:bg>
    <p:spTree>
      <p:nvGrpSpPr>
        <p:cNvPr id="1" name=""/>
        <p:cNvGrpSpPr/>
        <p:nvPr/>
      </p:nvGrpSpPr>
      <p:grpSpPr>
        <a:xfrm>
          <a:off x="0" y="0"/>
          <a:ext cx="0" cy="0"/>
          <a:chOff x="0" y="0"/>
          <a:chExt cx="0" cy="0"/>
        </a:xfrm>
      </p:grpSpPr>
      <p:sp>
        <p:nvSpPr>
          <p:cNvPr id="2" name="Text 0"/>
          <p:cNvSpPr txBox="1"/>
          <p:nvPr/>
        </p:nvSpPr>
        <p:spPr>
          <a:xfrm>
            <a:off x="685800" y="1371600"/>
            <a:ext cx="9735617" cy="914400"/>
          </a:xfrm>
          <a:prstGeom prst="rect">
            <a:avLst/>
          </a:prstGeom>
          <a:noFill/>
          <a:ln/>
        </p:spPr>
        <p:txBody>
          <a:bodyPr wrap="square" lIns="0" tIns="0" rIns="0" bIns="0" rtlCol="0" anchor="ctr"/>
          <a:lstStyle/>
          <a:p>
            <a:pPr algn="l" indent="0" marL="0">
              <a:buNone/>
            </a:pPr>
            <a:r>
              <a:rPr lang="en-US" sz="5800" b="1" dirty="0">
                <a:solidFill>
                  <a:srgbClr val="F4F1E8"/>
                </a:solidFill>
                <a:latin typeface="Onest" pitchFamily="34" charset="0"/>
                <a:ea typeface="Onest" pitchFamily="34" charset="-122"/>
                <a:cs typeface="Onest" pitchFamily="34" charset="-120"/>
              </a:rPr>
              <a:t>Es la misma empresa.</a:t>
            </a:r>
            <a:endParaRPr lang="en-US" sz="5800" dirty="0"/>
          </a:p>
        </p:txBody>
      </p:sp>
      <p:sp>
        <p:nvSpPr>
          <p:cNvPr id="3" name="Text 1"/>
          <p:cNvSpPr txBox="1"/>
          <p:nvPr/>
        </p:nvSpPr>
        <p:spPr>
          <a:xfrm>
            <a:off x="685800" y="2468880"/>
            <a:ext cx="8653882" cy="1005840"/>
          </a:xfrm>
          <a:prstGeom prst="rect">
            <a:avLst/>
          </a:prstGeom>
          <a:noFill/>
          <a:ln/>
        </p:spPr>
        <p:txBody>
          <a:bodyPr wrap="square" lIns="0" tIns="0" rIns="0" bIns="0" rtlCol="0" anchor="t"/>
          <a:lstStyle/>
          <a:p>
            <a:pPr algn="l" indent="0" marL="0">
              <a:lnSpc>
                <a:spcPts val="3200"/>
              </a:lnSpc>
              <a:buNone/>
            </a:pPr>
            <a:r>
              <a:rPr lang="en-US" sz="2400" dirty="0">
                <a:solidFill>
                  <a:srgbClr val="A3A396"/>
                </a:solidFill>
                <a:latin typeface="Onest" pitchFamily="34" charset="0"/>
                <a:ea typeface="Onest" pitchFamily="34" charset="-122"/>
                <a:cs typeface="Onest" pitchFamily="34" charset="-120"/>
              </a:rPr>
              <a:t>El mismo día. La misma web. Lo único que cambia es la herramienta que mide.</a:t>
            </a:r>
            <a:endParaRPr lang="en-US" sz="2400" dirty="0"/>
          </a:p>
        </p:txBody>
      </p:sp>
      <p:sp>
        <p:nvSpPr>
          <p:cNvPr id="4" name="Text 2"/>
          <p:cNvSpPr txBox="1"/>
          <p:nvPr/>
        </p:nvSpPr>
        <p:spPr>
          <a:xfrm>
            <a:off x="685800" y="3703320"/>
            <a:ext cx="9735617" cy="1737360"/>
          </a:xfrm>
          <a:prstGeom prst="rect">
            <a:avLst/>
          </a:prstGeom>
          <a:noFill/>
          <a:ln/>
        </p:spPr>
        <p:txBody>
          <a:bodyPr wrap="square" lIns="0" tIns="0" rIns="0" bIns="0" rtlCol="0" anchor="t"/>
          <a:lstStyle/>
          <a:p>
            <a:pPr algn="l" indent="0" marL="0">
              <a:lnSpc>
                <a:spcPts val="5600"/>
              </a:lnSpc>
              <a:buNone/>
            </a:pPr>
            <a:r>
              <a:rPr lang="en-US" sz="4800" b="1" dirty="0">
                <a:solidFill>
                  <a:srgbClr val="CBFF3D"/>
                </a:solidFill>
                <a:latin typeface="Onest" pitchFamily="34" charset="0"/>
                <a:ea typeface="Onest" pitchFamily="34" charset="-122"/>
                <a:cs typeface="Onest" pitchFamily="34" charset="-120"/>
              </a:rPr>
              <a:t>GA4 no mide menos.</a:t>
            </a:r>
            <a:endParaRPr lang="en-US" sz="4800" dirty="0"/>
          </a:p>
          <a:p>
            <a:pPr algn="l" indent="0" marL="0">
              <a:lnSpc>
                <a:spcPts val="5600"/>
              </a:lnSpc>
              <a:buNone/>
            </a:pPr>
            <a:r>
              <a:rPr lang="en-US" sz="4800" b="1" dirty="0">
                <a:solidFill>
                  <a:srgbClr val="CBFF3D"/>
                </a:solidFill>
                <a:latin typeface="Onest" pitchFamily="34" charset="0"/>
                <a:ea typeface="Onest" pitchFamily="34" charset="-122"/>
                <a:cs typeface="Onest" pitchFamily="34" charset="-120"/>
              </a:rPr>
              <a:t>Mide otro negocio.</a:t>
            </a:r>
            <a:endParaRPr lang="en-US" sz="4800" dirty="0"/>
          </a:p>
        </p:txBody>
      </p:sp>
      <p:sp>
        <p:nvSpPr>
          <p:cNvPr id="5" name="Text 3"/>
          <p:cNvSpPr txBox="1"/>
          <p:nvPr/>
        </p:nvSpPr>
        <p:spPr>
          <a:xfrm>
            <a:off x="685800" y="5623560"/>
            <a:ext cx="10817352" cy="411480"/>
          </a:xfrm>
          <a:prstGeom prst="rect">
            <a:avLst/>
          </a:prstGeom>
          <a:noFill/>
          <a:ln/>
        </p:spPr>
        <p:txBody>
          <a:bodyPr wrap="square" lIns="0" tIns="0" rIns="0" bIns="0" rtlCol="0" anchor="ctr"/>
          <a:lstStyle/>
          <a:p>
            <a:pPr algn="l" indent="0" marL="0">
              <a:buNone/>
            </a:pPr>
            <a:r>
              <a:rPr lang="en-US" sz="1400" dirty="0">
                <a:solidFill>
                  <a:srgbClr val="A3A396"/>
                </a:solidFill>
                <a:latin typeface="JetBrains Mono" pitchFamily="34" charset="0"/>
                <a:ea typeface="JetBrains Mono" pitchFamily="34" charset="-122"/>
                <a:cs typeface="JetBrains Mono" pitchFamily="34" charset="-120"/>
              </a:rPr>
              <a:t>A = lo que veía GA4     ·     B = lo que estaba pasando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8"/>
        </a:solidFill>
      </p:bgPr>
    </p:bg>
    <p:spTree>
      <p:nvGrpSpPr>
        <p:cNvPr id="1" name=""/>
        <p:cNvGrpSpPr/>
        <p:nvPr/>
      </p:nvGrpSpPr>
      <p:grpSpPr>
        <a:xfrm>
          <a:off x="0" y="0"/>
          <a:ext cx="0" cy="0"/>
          <a:chOff x="0" y="0"/>
          <a:chExt cx="0" cy="0"/>
        </a:xfrm>
      </p:grpSpPr>
      <p:sp>
        <p:nvSpPr>
          <p:cNvPr id="2" name="Text 0"/>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Y ESTO ES LO QUE CUESTA</a:t>
            </a:r>
            <a:endParaRPr lang="en-US" sz="1100" dirty="0"/>
          </a:p>
        </p:txBody>
      </p:sp>
      <p:sp>
        <p:nvSpPr>
          <p:cNvPr id="3" name="Text 1"/>
          <p:cNvSpPr txBox="1"/>
          <p:nvPr/>
        </p:nvSpPr>
        <p:spPr>
          <a:xfrm>
            <a:off x="685800" y="1051560"/>
            <a:ext cx="4023360" cy="2103120"/>
          </a:xfrm>
          <a:prstGeom prst="rect">
            <a:avLst/>
          </a:prstGeom>
          <a:noFill/>
          <a:ln/>
        </p:spPr>
        <p:txBody>
          <a:bodyPr wrap="square" lIns="0" tIns="0" rIns="0" bIns="0" rtlCol="0" anchor="ctr"/>
          <a:lstStyle/>
          <a:p>
            <a:pPr algn="l" indent="0" marL="0">
              <a:buNone/>
            </a:pPr>
            <a:r>
              <a:rPr lang="en-US" sz="17000" b="1" dirty="0">
                <a:solidFill>
                  <a:srgbClr val="B5423B"/>
                </a:solidFill>
                <a:latin typeface="Onest" pitchFamily="34" charset="0"/>
                <a:ea typeface="Onest" pitchFamily="34" charset="-122"/>
                <a:cs typeface="Onest" pitchFamily="34" charset="-120"/>
              </a:rPr>
              <a:t>193</a:t>
            </a:r>
            <a:endParaRPr lang="en-US" sz="17000" dirty="0"/>
          </a:p>
        </p:txBody>
      </p:sp>
      <p:sp>
        <p:nvSpPr>
          <p:cNvPr id="4" name="Text 2"/>
          <p:cNvSpPr txBox="1"/>
          <p:nvPr/>
        </p:nvSpPr>
        <p:spPr>
          <a:xfrm>
            <a:off x="685800" y="3063240"/>
            <a:ext cx="4023360" cy="548640"/>
          </a:xfrm>
          <a:prstGeom prst="rect">
            <a:avLst/>
          </a:prstGeom>
          <a:noFill/>
          <a:ln/>
        </p:spPr>
        <p:txBody>
          <a:bodyPr wrap="square" lIns="0" tIns="0" rIns="0" bIns="0" rtlCol="0" anchor="ctr"/>
          <a:lstStyle/>
          <a:p>
            <a:pPr algn="l" indent="0" marL="0">
              <a:buNone/>
            </a:pPr>
            <a:r>
              <a:rPr lang="en-US" sz="3000" b="1" dirty="0">
                <a:solidFill>
                  <a:srgbClr val="111412"/>
                </a:solidFill>
                <a:latin typeface="Onest" pitchFamily="34" charset="0"/>
                <a:ea typeface="Onest" pitchFamily="34" charset="-122"/>
                <a:cs typeface="Onest" pitchFamily="34" charset="-120"/>
              </a:rPr>
              <a:t>ventas</a:t>
            </a:r>
            <a:endParaRPr lang="en-US" sz="3000" dirty="0"/>
          </a:p>
        </p:txBody>
      </p:sp>
      <p:sp>
        <p:nvSpPr>
          <p:cNvPr id="5" name="Text 3"/>
          <p:cNvSpPr txBox="1"/>
          <p:nvPr/>
        </p:nvSpPr>
        <p:spPr>
          <a:xfrm>
            <a:off x="5440680" y="1280160"/>
            <a:ext cx="6062472" cy="411480"/>
          </a:xfrm>
          <a:prstGeom prst="rect">
            <a:avLst/>
          </a:prstGeom>
          <a:noFill/>
          <a:ln/>
        </p:spPr>
        <p:txBody>
          <a:bodyPr wrap="square" lIns="0" tIns="0" rIns="0" bIns="0" rtlCol="0" anchor="ctr"/>
          <a:lstStyle/>
          <a:p>
            <a:pPr algn="l" indent="0" marL="0">
              <a:buNone/>
            </a:pPr>
            <a:r>
              <a:rPr lang="en-US" sz="2600" b="1" dirty="0">
                <a:solidFill>
                  <a:srgbClr val="111412"/>
                </a:solidFill>
                <a:latin typeface="Onest" pitchFamily="34" charset="0"/>
                <a:ea typeface="Onest" pitchFamily="34" charset="-122"/>
                <a:cs typeface="Onest" pitchFamily="34" charset="-120"/>
              </a:rPr>
              <a:t>Ocurrieron.</a:t>
            </a:r>
            <a:endParaRPr lang="en-US" sz="2600" dirty="0"/>
          </a:p>
        </p:txBody>
      </p:sp>
      <p:sp>
        <p:nvSpPr>
          <p:cNvPr id="6" name="Text 4"/>
          <p:cNvSpPr txBox="1"/>
          <p:nvPr/>
        </p:nvSpPr>
        <p:spPr>
          <a:xfrm>
            <a:off x="5440680" y="1719072"/>
            <a:ext cx="6062472" cy="457200"/>
          </a:xfrm>
          <a:prstGeom prst="rect">
            <a:avLst/>
          </a:prstGeom>
          <a:noFill/>
          <a:ln/>
        </p:spPr>
        <p:txBody>
          <a:bodyPr wrap="square" lIns="0" tIns="0" rIns="0" bIns="0" rtlCol="0" anchor="t"/>
          <a:lstStyle/>
          <a:p>
            <a:pPr algn="l" indent="0" marL="0">
              <a:lnSpc>
                <a:spcPts val="2100"/>
              </a:lnSpc>
              <a:buNone/>
            </a:pPr>
            <a:r>
              <a:rPr lang="en-US" sz="1600" dirty="0">
                <a:solidFill>
                  <a:srgbClr val="6B6B5E"/>
                </a:solidFill>
                <a:latin typeface="Onest" pitchFamily="34" charset="0"/>
                <a:ea typeface="Onest" pitchFamily="34" charset="-122"/>
                <a:cs typeface="Onest" pitchFamily="34" charset="-120"/>
              </a:rPr>
              <a:t>Alguien entró en la web, eligió un producto y pagó.</a:t>
            </a:r>
            <a:endParaRPr lang="en-US" sz="1600" dirty="0"/>
          </a:p>
        </p:txBody>
      </p:sp>
      <p:sp>
        <p:nvSpPr>
          <p:cNvPr id="7" name="Text 5"/>
          <p:cNvSpPr txBox="1"/>
          <p:nvPr/>
        </p:nvSpPr>
        <p:spPr>
          <a:xfrm>
            <a:off x="5440680" y="2423160"/>
            <a:ext cx="6062472" cy="411480"/>
          </a:xfrm>
          <a:prstGeom prst="rect">
            <a:avLst/>
          </a:prstGeom>
          <a:noFill/>
          <a:ln/>
        </p:spPr>
        <p:txBody>
          <a:bodyPr wrap="square" lIns="0" tIns="0" rIns="0" bIns="0" rtlCol="0" anchor="ctr"/>
          <a:lstStyle/>
          <a:p>
            <a:pPr algn="l" indent="0" marL="0">
              <a:buNone/>
            </a:pPr>
            <a:r>
              <a:rPr lang="en-US" sz="2600" b="1" dirty="0">
                <a:solidFill>
                  <a:srgbClr val="111412"/>
                </a:solidFill>
                <a:latin typeface="Onest" pitchFamily="34" charset="0"/>
                <a:ea typeface="Onest" pitchFamily="34" charset="-122"/>
                <a:cs typeface="Onest" pitchFamily="34" charset="-120"/>
              </a:rPr>
              <a:t>Están cobradas.</a:t>
            </a:r>
            <a:endParaRPr lang="en-US" sz="2600" dirty="0"/>
          </a:p>
        </p:txBody>
      </p:sp>
      <p:sp>
        <p:nvSpPr>
          <p:cNvPr id="8" name="Text 6"/>
          <p:cNvSpPr txBox="1"/>
          <p:nvPr/>
        </p:nvSpPr>
        <p:spPr>
          <a:xfrm>
            <a:off x="5440680" y="2862072"/>
            <a:ext cx="6062472" cy="457200"/>
          </a:xfrm>
          <a:prstGeom prst="rect">
            <a:avLst/>
          </a:prstGeom>
          <a:noFill/>
          <a:ln/>
        </p:spPr>
        <p:txBody>
          <a:bodyPr wrap="square" lIns="0" tIns="0" rIns="0" bIns="0" rtlCol="0" anchor="t"/>
          <a:lstStyle/>
          <a:p>
            <a:pPr algn="l" indent="0" marL="0">
              <a:lnSpc>
                <a:spcPts val="2100"/>
              </a:lnSpc>
              <a:buNone/>
            </a:pPr>
            <a:r>
              <a:rPr lang="en-US" sz="1600" dirty="0">
                <a:solidFill>
                  <a:srgbClr val="6B6B5E"/>
                </a:solidFill>
                <a:latin typeface="Onest" pitchFamily="34" charset="0"/>
                <a:ea typeface="Onest" pitchFamily="34" charset="-122"/>
                <a:cs typeface="Onest" pitchFamily="34" charset="-120"/>
              </a:rPr>
              <a:t>El dinero está en la cuenta. No es una venta perdida.</a:t>
            </a:r>
            <a:endParaRPr lang="en-US" sz="1600" dirty="0"/>
          </a:p>
        </p:txBody>
      </p:sp>
      <p:sp>
        <p:nvSpPr>
          <p:cNvPr id="9" name="Text 7"/>
          <p:cNvSpPr txBox="1"/>
          <p:nvPr/>
        </p:nvSpPr>
        <p:spPr>
          <a:xfrm>
            <a:off x="5440680" y="3566160"/>
            <a:ext cx="6062472" cy="411480"/>
          </a:xfrm>
          <a:prstGeom prst="rect">
            <a:avLst/>
          </a:prstGeom>
          <a:noFill/>
          <a:ln/>
        </p:spPr>
        <p:txBody>
          <a:bodyPr wrap="square" lIns="0" tIns="0" rIns="0" bIns="0" rtlCol="0" anchor="ctr"/>
          <a:lstStyle/>
          <a:p>
            <a:pPr algn="l" indent="0" marL="0">
              <a:buNone/>
            </a:pPr>
            <a:r>
              <a:rPr lang="en-US" sz="2600" b="1" dirty="0">
                <a:solidFill>
                  <a:srgbClr val="111412"/>
                </a:solidFill>
                <a:latin typeface="Onest" pitchFamily="34" charset="0"/>
                <a:ea typeface="Onest" pitchFamily="34" charset="-122"/>
                <a:cs typeface="Onest" pitchFamily="34" charset="-120"/>
              </a:rPr>
              <a:t>No sabes de dónde vinieron.</a:t>
            </a:r>
            <a:endParaRPr lang="en-US" sz="2600" dirty="0"/>
          </a:p>
        </p:txBody>
      </p:sp>
      <p:sp>
        <p:nvSpPr>
          <p:cNvPr id="10" name="Text 8"/>
          <p:cNvSpPr txBox="1"/>
          <p:nvPr/>
        </p:nvSpPr>
        <p:spPr>
          <a:xfrm>
            <a:off x="5440680" y="4005072"/>
            <a:ext cx="6062472" cy="457200"/>
          </a:xfrm>
          <a:prstGeom prst="rect">
            <a:avLst/>
          </a:prstGeom>
          <a:noFill/>
          <a:ln/>
        </p:spPr>
        <p:txBody>
          <a:bodyPr wrap="square" lIns="0" tIns="0" rIns="0" bIns="0" rtlCol="0" anchor="t"/>
          <a:lstStyle/>
          <a:p>
            <a:pPr algn="l" indent="0" marL="0">
              <a:lnSpc>
                <a:spcPts val="2100"/>
              </a:lnSpc>
              <a:buNone/>
            </a:pPr>
            <a:r>
              <a:rPr lang="en-US" sz="1600" dirty="0">
                <a:solidFill>
                  <a:srgbClr val="6B6B5E"/>
                </a:solidFill>
                <a:latin typeface="Onest" pitchFamily="34" charset="0"/>
                <a:ea typeface="Onest" pitchFamily="34" charset="-122"/>
                <a:cs typeface="Onest" pitchFamily="34" charset="-120"/>
              </a:rPr>
              <a:t>Y por eso no puedes repetirlas el mes que viene.</a:t>
            </a:r>
            <a:endParaRPr lang="en-US" sz="1600" dirty="0"/>
          </a:p>
        </p:txBody>
      </p:sp>
      <p:sp>
        <p:nvSpPr>
          <p:cNvPr id="11" name="Text 9"/>
          <p:cNvSpPr txBox="1"/>
          <p:nvPr/>
        </p:nvSpPr>
        <p:spPr>
          <a:xfrm>
            <a:off x="685800" y="4892040"/>
            <a:ext cx="9951964" cy="914400"/>
          </a:xfrm>
          <a:prstGeom prst="rect">
            <a:avLst/>
          </a:prstGeom>
          <a:noFill/>
          <a:ln/>
        </p:spPr>
        <p:txBody>
          <a:bodyPr wrap="square" lIns="0" tIns="0" rIns="0" bIns="0" rtlCol="0" anchor="ctr"/>
          <a:lstStyle/>
          <a:p>
            <a:pPr algn="l" indent="0" marL="0">
              <a:lnSpc>
                <a:spcPts val="3000"/>
              </a:lnSpc>
              <a:buNone/>
            </a:pPr>
            <a:r>
              <a:rPr lang="en-US" sz="2300" b="1" dirty="0">
                <a:solidFill>
                  <a:srgbClr val="111412"/>
                </a:solidFill>
                <a:latin typeface="Onest" pitchFamily="34" charset="0"/>
                <a:ea typeface="Onest" pitchFamily="34" charset="-122"/>
                <a:cs typeface="Onest" pitchFamily="34" charset="-120"/>
              </a:rPr>
              <a:t>Ese es el precio de medir con el sistema A: no perder ventas, sino perder la capacidad de repetirlas.</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2B2A28"/>
            </a:solidFill>
            <a:prstDash val="solid"/>
          </a:ln>
        </p:spPr>
      </p:sp>
      <p:sp>
        <p:nvSpPr>
          <p:cNvPr id="3" name="Shape 1"/>
          <p:cNvSpPr/>
          <p:nvPr/>
        </p:nvSpPr>
        <p:spPr>
          <a:xfrm>
            <a:off x="10222992" y="402336"/>
            <a:ext cx="137160" cy="137160"/>
          </a:xfrm>
          <a:prstGeom prst="rect">
            <a:avLst/>
          </a:prstGeom>
          <a:solidFill>
            <a:srgbClr val="111412"/>
          </a:solidFill>
          <a:ln w="12700">
            <a:solidFill>
              <a:srgbClr val="2B2A28"/>
            </a:solidFill>
            <a:prstDash val="solid"/>
          </a:ln>
        </p:spPr>
      </p:sp>
      <p:sp>
        <p:nvSpPr>
          <p:cNvPr id="4" name="Shape 2"/>
          <p:cNvSpPr/>
          <p:nvPr/>
        </p:nvSpPr>
        <p:spPr>
          <a:xfrm>
            <a:off x="10428732" y="402336"/>
            <a:ext cx="137160" cy="137160"/>
          </a:xfrm>
          <a:prstGeom prst="rect">
            <a:avLst/>
          </a:prstGeom>
          <a:solidFill>
            <a:srgbClr val="111412"/>
          </a:solidFill>
          <a:ln w="12700">
            <a:solidFill>
              <a:srgbClr val="2B2A28"/>
            </a:solidFill>
            <a:prstDash val="solid"/>
          </a:ln>
        </p:spPr>
      </p:sp>
      <p:sp>
        <p:nvSpPr>
          <p:cNvPr id="5" name="Shape 3"/>
          <p:cNvSpPr/>
          <p:nvPr/>
        </p:nvSpPr>
        <p:spPr>
          <a:xfrm>
            <a:off x="10634472" y="402336"/>
            <a:ext cx="137160" cy="137160"/>
          </a:xfrm>
          <a:prstGeom prst="rect">
            <a:avLst/>
          </a:prstGeom>
          <a:solidFill>
            <a:srgbClr val="111412"/>
          </a:solidFill>
          <a:ln w="12700">
            <a:solidFill>
              <a:srgbClr val="2B2A28"/>
            </a:solidFill>
            <a:prstDash val="solid"/>
          </a:ln>
        </p:spPr>
      </p:sp>
      <p:sp>
        <p:nvSpPr>
          <p:cNvPr id="6" name="Shape 4"/>
          <p:cNvSpPr/>
          <p:nvPr/>
        </p:nvSpPr>
        <p:spPr>
          <a:xfrm>
            <a:off x="10840212" y="402336"/>
            <a:ext cx="137160" cy="137160"/>
          </a:xfrm>
          <a:prstGeom prst="rect">
            <a:avLst/>
          </a:prstGeom>
          <a:solidFill>
            <a:srgbClr val="111412"/>
          </a:solidFill>
          <a:ln w="12700">
            <a:solidFill>
              <a:srgbClr val="2B2A28"/>
            </a:solidFill>
            <a:prstDash val="solid"/>
          </a:ln>
        </p:spPr>
      </p:sp>
      <p:sp>
        <p:nvSpPr>
          <p:cNvPr id="7" name="Shape 5"/>
          <p:cNvSpPr/>
          <p:nvPr/>
        </p:nvSpPr>
        <p:spPr>
          <a:xfrm>
            <a:off x="11228832" y="402336"/>
            <a:ext cx="137160" cy="137160"/>
          </a:xfrm>
          <a:prstGeom prst="rect">
            <a:avLst/>
          </a:prstGeom>
          <a:solidFill>
            <a:srgbClr val="111412"/>
          </a:solidFill>
          <a:ln w="12700">
            <a:solidFill>
              <a:srgbClr val="2B2A28"/>
            </a:solidFill>
            <a:prstDash val="solid"/>
          </a:ln>
        </p:spPr>
      </p:sp>
      <p:sp>
        <p:nvSpPr>
          <p:cNvPr id="8" name="Shape 6"/>
          <p:cNvSpPr/>
          <p:nvPr/>
        </p:nvSpPr>
        <p:spPr>
          <a:xfrm>
            <a:off x="11434572" y="402336"/>
            <a:ext cx="137160" cy="137160"/>
          </a:xfrm>
          <a:prstGeom prst="rect">
            <a:avLst/>
          </a:prstGeom>
          <a:solidFill>
            <a:srgbClr val="111412"/>
          </a:solidFill>
          <a:ln w="12700">
            <a:solidFill>
              <a:srgbClr val="2B2A2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ENAE BUSINESS SCHOOL</a:t>
            </a:r>
            <a:endParaRPr lang="en-US" sz="1100" dirty="0"/>
          </a:p>
        </p:txBody>
      </p:sp>
      <p:sp>
        <p:nvSpPr>
          <p:cNvPr id="11" name="Text 9"/>
          <p:cNvSpPr txBox="1"/>
          <p:nvPr/>
        </p:nvSpPr>
        <p:spPr>
          <a:xfrm>
            <a:off x="685800" y="1371600"/>
            <a:ext cx="9302923" cy="2651760"/>
          </a:xfrm>
          <a:prstGeom prst="rect">
            <a:avLst/>
          </a:prstGeom>
          <a:noFill/>
          <a:ln/>
        </p:spPr>
        <p:txBody>
          <a:bodyPr wrap="square" lIns="0" tIns="0" rIns="0" bIns="0" rtlCol="0" anchor="ctr"/>
          <a:lstStyle/>
          <a:p>
            <a:pPr algn="l" indent="0" marL="0">
              <a:lnSpc>
                <a:spcPts val="5600"/>
              </a:lnSpc>
              <a:buNone/>
            </a:pPr>
            <a:r>
              <a:rPr lang="en-US" sz="4800" b="1" dirty="0">
                <a:solidFill>
                  <a:srgbClr val="F4F1E8"/>
                </a:solidFill>
                <a:latin typeface="Onest" pitchFamily="34" charset="0"/>
                <a:ea typeface="Onest" pitchFamily="34" charset="-122"/>
                <a:cs typeface="Onest" pitchFamily="34" charset="-120"/>
              </a:rPr>
              <a:t>5+2 formas de detectar fugas de dinero de tu negocio online</a:t>
            </a:r>
            <a:endParaRPr lang="en-US" sz="4800" dirty="0"/>
          </a:p>
        </p:txBody>
      </p:sp>
      <p:sp>
        <p:nvSpPr>
          <p:cNvPr id="12" name="Text 10"/>
          <p:cNvSpPr txBox="1"/>
          <p:nvPr/>
        </p:nvSpPr>
        <p:spPr>
          <a:xfrm>
            <a:off x="685800" y="4434840"/>
            <a:ext cx="10817352" cy="457200"/>
          </a:xfrm>
          <a:prstGeom prst="rect">
            <a:avLst/>
          </a:prstGeom>
          <a:noFill/>
          <a:ln/>
        </p:spPr>
        <p:txBody>
          <a:bodyPr wrap="square" lIns="0" tIns="0" rIns="0" bIns="0" rtlCol="0" anchor="ctr"/>
          <a:lstStyle/>
          <a:p>
            <a:pPr algn="l" indent="0" marL="0">
              <a:buNone/>
            </a:pPr>
            <a:r>
              <a:rPr lang="en-US" sz="1400" b="1" dirty="0">
                <a:solidFill>
                  <a:srgbClr val="CBFF3D"/>
                </a:solidFill>
                <a:latin typeface="JetBrains Mono" pitchFamily="34" charset="0"/>
                <a:ea typeface="JetBrains Mono" pitchFamily="34" charset="-122"/>
                <a:cs typeface="JetBrains Mono" pitchFamily="34" charset="-120"/>
              </a:rPr>
              <a:t>5 fugas</a:t>
            </a:r>
            <a:pPr algn="l" indent="0" marL="0">
              <a:buNone/>
            </a:pPr>
            <a:r>
              <a:rPr lang="en-US" sz="1400" b="1" dirty="0">
                <a:solidFill>
                  <a:srgbClr val="6B6B5E"/>
                </a:solidFill>
                <a:latin typeface="JetBrains Mono" pitchFamily="34" charset="0"/>
                <a:ea typeface="JetBrains Mono" pitchFamily="34" charset="-122"/>
                <a:cs typeface="JetBrains Mono" pitchFamily="34" charset="-120"/>
              </a:rPr>
              <a:t>   ·   </a:t>
            </a:r>
            <a:pPr algn="l" indent="0" marL="0">
              <a:buNone/>
            </a:pPr>
            <a:r>
              <a:rPr lang="en-US" sz="1400" b="1" dirty="0">
                <a:solidFill>
                  <a:srgbClr val="CBFF3D"/>
                </a:solidFill>
                <a:latin typeface="JetBrains Mono" pitchFamily="34" charset="0"/>
                <a:ea typeface="JetBrains Mono" pitchFamily="34" charset="-122"/>
                <a:cs typeface="JetBrains Mono" pitchFamily="34" charset="-120"/>
              </a:rPr>
              <a:t>2 extra</a:t>
            </a:r>
            <a:pPr algn="l" indent="0" marL="0">
              <a:buNone/>
            </a:pPr>
            <a:r>
              <a:rPr lang="en-US" sz="1400" b="1" dirty="0">
                <a:solidFill>
                  <a:srgbClr val="6B6B5E"/>
                </a:solidFill>
                <a:latin typeface="JetBrains Mono" pitchFamily="34" charset="0"/>
                <a:ea typeface="JetBrains Mono" pitchFamily="34" charset="-122"/>
                <a:cs typeface="JetBrains Mono" pitchFamily="34" charset="-120"/>
              </a:rPr>
              <a:t>   ·   </a:t>
            </a:r>
            <a:pPr algn="l" indent="0" marL="0">
              <a:buNone/>
            </a:pPr>
            <a:r>
              <a:rPr lang="en-US" sz="1400" b="1" dirty="0">
                <a:solidFill>
                  <a:srgbClr val="CBFF3D"/>
                </a:solidFill>
                <a:latin typeface="JetBrains Mono" pitchFamily="34" charset="0"/>
                <a:ea typeface="JetBrains Mono" pitchFamily="34" charset="-122"/>
                <a:cs typeface="JetBrains Mono" pitchFamily="34" charset="-120"/>
              </a:rPr>
              <a:t>7 tests que puedes hacer el lunes</a:t>
            </a:r>
            <a:endParaRPr lang="en-US" sz="1400" dirty="0"/>
          </a:p>
        </p:txBody>
      </p:sp>
      <p:sp>
        <p:nvSpPr>
          <p:cNvPr id="13" name="Text 11"/>
          <p:cNvSpPr txBox="1"/>
          <p:nvPr/>
        </p:nvSpPr>
        <p:spPr>
          <a:xfrm>
            <a:off x="685800" y="5303520"/>
            <a:ext cx="10817352" cy="365760"/>
          </a:xfrm>
          <a:prstGeom prst="rect">
            <a:avLst/>
          </a:prstGeom>
          <a:noFill/>
          <a:ln/>
        </p:spPr>
        <p:txBody>
          <a:bodyPr wrap="square" lIns="0" tIns="0" rIns="0" bIns="0" rtlCol="0" anchor="ctr"/>
          <a:lstStyle/>
          <a:p>
            <a:pPr algn="l" indent="0" marL="0">
              <a:buNone/>
            </a:pPr>
            <a:r>
              <a:rPr lang="en-US" sz="1600" dirty="0">
                <a:solidFill>
                  <a:srgbClr val="A3A396"/>
                </a:solidFill>
                <a:latin typeface="Onest" pitchFamily="34" charset="0"/>
                <a:ea typeface="Onest" pitchFamily="34" charset="-122"/>
                <a:cs typeface="Onest" pitchFamily="34" charset="-120"/>
              </a:rPr>
              <a:t>Rafael Jiménez · SealMetrics</a:t>
            </a:r>
            <a:endParaRPr lang="en-US" sz="1600" dirty="0"/>
          </a:p>
        </p:txBody>
      </p:sp>
      <p:sp>
        <p:nvSpPr>
          <p:cNvPr id="14" name="Text 12"/>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6B6B5E"/>
                </a:solidFill>
                <a:latin typeface="JetBrains Mono" pitchFamily="34" charset="0"/>
                <a:ea typeface="JetBrains Mono" pitchFamily="34" charset="-122"/>
                <a:cs typeface="JetBrains Mono" pitchFamily="34" charset="-120"/>
              </a:rPr>
              <a:t>Los cuadrados de arriba a la derecha os van diciendo por donde vamos.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22225">
            <a:solidFill>
              <a:srgbClr val="111412"/>
            </a:solidFill>
            <a:prstDash val="solid"/>
          </a:ln>
        </p:spPr>
      </p:sp>
      <p:sp>
        <p:nvSpPr>
          <p:cNvPr id="3" name="Shape 1"/>
          <p:cNvSpPr/>
          <p:nvPr/>
        </p:nvSpPr>
        <p:spPr>
          <a:xfrm>
            <a:off x="10222992" y="402336"/>
            <a:ext cx="137160" cy="137160"/>
          </a:xfrm>
          <a:prstGeom prst="rect">
            <a:avLst/>
          </a:prstGeom>
          <a:solidFill>
            <a:srgbClr val="F4F1E8"/>
          </a:solidFill>
          <a:ln w="12700">
            <a:solidFill>
              <a:srgbClr val="D4D4C8"/>
            </a:solidFill>
            <a:prstDash val="solid"/>
          </a:ln>
        </p:spPr>
      </p:sp>
      <p:sp>
        <p:nvSpPr>
          <p:cNvPr id="4" name="Shape 2"/>
          <p:cNvSpPr/>
          <p:nvPr/>
        </p:nvSpPr>
        <p:spPr>
          <a:xfrm>
            <a:off x="10428732" y="402336"/>
            <a:ext cx="137160" cy="137160"/>
          </a:xfrm>
          <a:prstGeom prst="rect">
            <a:avLst/>
          </a:prstGeom>
          <a:solidFill>
            <a:srgbClr val="F4F1E8"/>
          </a:solidFill>
          <a:ln w="12700">
            <a:solidFill>
              <a:srgbClr val="D4D4C8"/>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FUGA 1 · EL BANNER</a:t>
            </a:r>
            <a:endParaRPr lang="en-US" sz="1100" dirty="0"/>
          </a:p>
        </p:txBody>
      </p:sp>
      <p:sp>
        <p:nvSpPr>
          <p:cNvPr id="11" name="Text 9"/>
          <p:cNvSpPr txBox="1"/>
          <p:nvPr/>
        </p:nvSpPr>
        <p:spPr>
          <a:xfrm>
            <a:off x="685800" y="868680"/>
            <a:ext cx="8437535" cy="640080"/>
          </a:xfrm>
          <a:prstGeom prst="rect">
            <a:avLst/>
          </a:prstGeom>
          <a:noFill/>
          <a:ln/>
        </p:spPr>
        <p:txBody>
          <a:bodyPr wrap="square" lIns="0" tIns="0" rIns="0" bIns="0" rtlCol="0" anchor="ctr"/>
          <a:lstStyle/>
          <a:p>
            <a:pPr algn="l" indent="0" marL="0">
              <a:buNone/>
            </a:pPr>
            <a:r>
              <a:rPr lang="en-US" sz="3300" b="1" dirty="0">
                <a:solidFill>
                  <a:srgbClr val="111412"/>
                </a:solidFill>
                <a:latin typeface="Onest" pitchFamily="34" charset="0"/>
                <a:ea typeface="Onest" pitchFamily="34" charset="-122"/>
                <a:cs typeface="Onest" pitchFamily="34" charset="-120"/>
              </a:rPr>
              <a:t>Arriba del funnel solo ves 1 de cada 5.</a:t>
            </a:r>
            <a:endParaRPr lang="en-US" sz="3300" dirty="0"/>
          </a:p>
        </p:txBody>
      </p:sp>
      <p:sp>
        <p:nvSpPr>
          <p:cNvPr id="12" name="Text 10"/>
          <p:cNvSpPr txBox="1"/>
          <p:nvPr/>
        </p:nvSpPr>
        <p:spPr>
          <a:xfrm>
            <a:off x="685800" y="1847088"/>
            <a:ext cx="2697480" cy="566928"/>
          </a:xfrm>
          <a:prstGeom prst="rect">
            <a:avLst/>
          </a:prstGeom>
          <a:noFill/>
          <a:ln/>
        </p:spPr>
        <p:txBody>
          <a:bodyPr wrap="square" lIns="0" tIns="0" rIns="0" bIns="0" rtlCol="0" anchor="ctr"/>
          <a:lstStyle/>
          <a:p>
            <a:pPr algn="r" indent="0" marL="0">
              <a:buNone/>
            </a:pPr>
            <a:r>
              <a:rPr lang="en-US" sz="1500" dirty="0">
                <a:solidFill>
                  <a:srgbClr val="111412"/>
                </a:solidFill>
                <a:latin typeface="Onest" pitchFamily="34" charset="0"/>
                <a:ea typeface="Onest" pitchFamily="34" charset="-122"/>
                <a:cs typeface="Onest" pitchFamily="34" charset="-120"/>
              </a:rPr>
              <a:t>Entran en la web</a:t>
            </a:r>
            <a:endParaRPr lang="en-US" sz="1500" dirty="0"/>
          </a:p>
        </p:txBody>
      </p:sp>
      <p:sp>
        <p:nvSpPr>
          <p:cNvPr id="13" name="Shape 11"/>
          <p:cNvSpPr/>
          <p:nvPr/>
        </p:nvSpPr>
        <p:spPr>
          <a:xfrm>
            <a:off x="3566160" y="1847088"/>
            <a:ext cx="6565392" cy="566928"/>
          </a:xfrm>
          <a:prstGeom prst="rect">
            <a:avLst/>
          </a:prstGeom>
          <a:solidFill>
            <a:srgbClr val="E4E0D1"/>
          </a:solidFill>
          <a:ln/>
        </p:spPr>
      </p:sp>
      <p:sp>
        <p:nvSpPr>
          <p:cNvPr id="14" name="Shape 12"/>
          <p:cNvSpPr/>
          <p:nvPr/>
        </p:nvSpPr>
        <p:spPr>
          <a:xfrm>
            <a:off x="3566160" y="1847088"/>
            <a:ext cx="1313078" cy="566928"/>
          </a:xfrm>
          <a:prstGeom prst="rect">
            <a:avLst/>
          </a:prstGeom>
          <a:solidFill>
            <a:srgbClr val="2D8B6D"/>
          </a:solidFill>
          <a:ln/>
        </p:spPr>
      </p:sp>
      <p:sp>
        <p:nvSpPr>
          <p:cNvPr id="15" name="Text 13"/>
          <p:cNvSpPr txBox="1"/>
          <p:nvPr/>
        </p:nvSpPr>
        <p:spPr>
          <a:xfrm>
            <a:off x="3657600" y="1847088"/>
            <a:ext cx="1130198" cy="566928"/>
          </a:xfrm>
          <a:prstGeom prst="rect">
            <a:avLst/>
          </a:prstGeom>
          <a:noFill/>
          <a:ln/>
        </p:spPr>
        <p:txBody>
          <a:bodyPr wrap="square" lIns="0" tIns="0" rIns="0" bIns="0" rtlCol="0" anchor="ctr"/>
          <a:lstStyle/>
          <a:p>
            <a:pPr algn="l" indent="0" marL="0">
              <a:buNone/>
            </a:pPr>
            <a:r>
              <a:rPr lang="en-US" sz="1500" b="1" dirty="0">
                <a:solidFill>
                  <a:srgbClr val="FFFDF7"/>
                </a:solidFill>
                <a:latin typeface="Onest" pitchFamily="34" charset="0"/>
                <a:ea typeface="Onest" pitchFamily="34" charset="-122"/>
                <a:cs typeface="Onest" pitchFamily="34" charset="-120"/>
              </a:rPr>
              <a:t>20</a:t>
            </a:r>
            <a:endParaRPr lang="en-US" sz="1500" dirty="0"/>
          </a:p>
        </p:txBody>
      </p:sp>
      <p:sp>
        <p:nvSpPr>
          <p:cNvPr id="16" name="Text 14"/>
          <p:cNvSpPr txBox="1"/>
          <p:nvPr/>
        </p:nvSpPr>
        <p:spPr>
          <a:xfrm>
            <a:off x="10241280" y="1847088"/>
            <a:ext cx="822960" cy="566928"/>
          </a:xfrm>
          <a:prstGeom prst="rect">
            <a:avLst/>
          </a:prstGeom>
          <a:noFill/>
          <a:ln/>
        </p:spPr>
        <p:txBody>
          <a:bodyPr wrap="square" lIns="0" tIns="0" rIns="0" bIns="0" rtlCol="0" anchor="ctr"/>
          <a:lstStyle/>
          <a:p>
            <a:pPr algn="l" indent="0" marL="0">
              <a:buNone/>
            </a:pPr>
            <a:r>
              <a:rPr lang="en-US" sz="1300" dirty="0">
                <a:solidFill>
                  <a:srgbClr val="6B6B5E"/>
                </a:solidFill>
                <a:latin typeface="JetBrains Mono" pitchFamily="34" charset="0"/>
                <a:ea typeface="JetBrains Mono" pitchFamily="34" charset="-122"/>
                <a:cs typeface="JetBrains Mono" pitchFamily="34" charset="-120"/>
              </a:rPr>
              <a:t>100</a:t>
            </a:r>
            <a:endParaRPr lang="en-US" sz="1300" dirty="0"/>
          </a:p>
        </p:txBody>
      </p:sp>
      <p:sp>
        <p:nvSpPr>
          <p:cNvPr id="17" name="Text 15"/>
          <p:cNvSpPr txBox="1"/>
          <p:nvPr/>
        </p:nvSpPr>
        <p:spPr>
          <a:xfrm>
            <a:off x="10451592" y="1847088"/>
            <a:ext cx="1051560" cy="566928"/>
          </a:xfrm>
          <a:prstGeom prst="rect">
            <a:avLst/>
          </a:prstGeom>
          <a:noFill/>
          <a:ln/>
        </p:spPr>
        <p:txBody>
          <a:bodyPr wrap="square" lIns="0" tIns="0" rIns="0" bIns="0" rtlCol="0" anchor="ctr"/>
          <a:lstStyle/>
          <a:p>
            <a:pPr algn="r" indent="0" marL="0">
              <a:buNone/>
            </a:pPr>
            <a:r>
              <a:rPr lang="en-US" sz="1500" b="1" dirty="0">
                <a:solidFill>
                  <a:srgbClr val="2D8B6D"/>
                </a:solidFill>
                <a:latin typeface="JetBrains Mono" pitchFamily="34" charset="0"/>
                <a:ea typeface="JetBrains Mono" pitchFamily="34" charset="-122"/>
                <a:cs typeface="JetBrains Mono" pitchFamily="34" charset="-120"/>
              </a:rPr>
              <a:t>20%</a:t>
            </a:r>
            <a:endParaRPr lang="en-US" sz="1500" dirty="0"/>
          </a:p>
        </p:txBody>
      </p:sp>
      <p:sp>
        <p:nvSpPr>
          <p:cNvPr id="18" name="Text 16"/>
          <p:cNvSpPr txBox="1"/>
          <p:nvPr/>
        </p:nvSpPr>
        <p:spPr>
          <a:xfrm>
            <a:off x="685800" y="2734056"/>
            <a:ext cx="2697480" cy="566928"/>
          </a:xfrm>
          <a:prstGeom prst="rect">
            <a:avLst/>
          </a:prstGeom>
          <a:noFill/>
          <a:ln/>
        </p:spPr>
        <p:txBody>
          <a:bodyPr wrap="square" lIns="0" tIns="0" rIns="0" bIns="0" rtlCol="0" anchor="ctr"/>
          <a:lstStyle/>
          <a:p>
            <a:pPr algn="r" indent="0" marL="0">
              <a:buNone/>
            </a:pPr>
            <a:r>
              <a:rPr lang="en-US" sz="1500" dirty="0">
                <a:solidFill>
                  <a:srgbClr val="111412"/>
                </a:solidFill>
                <a:latin typeface="Onest" pitchFamily="34" charset="0"/>
                <a:ea typeface="Onest" pitchFamily="34" charset="-122"/>
                <a:cs typeface="Onest" pitchFamily="34" charset="-120"/>
              </a:rPr>
              <a:t>Ven una segunda página</a:t>
            </a:r>
            <a:endParaRPr lang="en-US" sz="1500" dirty="0"/>
          </a:p>
        </p:txBody>
      </p:sp>
      <p:sp>
        <p:nvSpPr>
          <p:cNvPr id="19" name="Shape 17"/>
          <p:cNvSpPr/>
          <p:nvPr/>
        </p:nvSpPr>
        <p:spPr>
          <a:xfrm>
            <a:off x="3566160" y="2734056"/>
            <a:ext cx="4818998" cy="566928"/>
          </a:xfrm>
          <a:prstGeom prst="rect">
            <a:avLst/>
          </a:prstGeom>
          <a:solidFill>
            <a:srgbClr val="E4E0D1"/>
          </a:solidFill>
          <a:ln/>
        </p:spPr>
      </p:sp>
      <p:sp>
        <p:nvSpPr>
          <p:cNvPr id="20" name="Shape 18"/>
          <p:cNvSpPr/>
          <p:nvPr/>
        </p:nvSpPr>
        <p:spPr>
          <a:xfrm>
            <a:off x="3566160" y="2734056"/>
            <a:ext cx="1445699" cy="566928"/>
          </a:xfrm>
          <a:prstGeom prst="rect">
            <a:avLst/>
          </a:prstGeom>
          <a:solidFill>
            <a:srgbClr val="2D8B6D"/>
          </a:solidFill>
          <a:ln/>
        </p:spPr>
      </p:sp>
      <p:sp>
        <p:nvSpPr>
          <p:cNvPr id="21" name="Text 19"/>
          <p:cNvSpPr txBox="1"/>
          <p:nvPr/>
        </p:nvSpPr>
        <p:spPr>
          <a:xfrm>
            <a:off x="3657600" y="2734056"/>
            <a:ext cx="1262819" cy="566928"/>
          </a:xfrm>
          <a:prstGeom prst="rect">
            <a:avLst/>
          </a:prstGeom>
          <a:noFill/>
          <a:ln/>
        </p:spPr>
        <p:txBody>
          <a:bodyPr wrap="square" lIns="0" tIns="0" rIns="0" bIns="0" rtlCol="0" anchor="ctr"/>
          <a:lstStyle/>
          <a:p>
            <a:pPr algn="l" indent="0" marL="0">
              <a:buNone/>
            </a:pPr>
            <a:r>
              <a:rPr lang="en-US" sz="1500" b="1" dirty="0">
                <a:solidFill>
                  <a:srgbClr val="FFFDF7"/>
                </a:solidFill>
                <a:latin typeface="Onest" pitchFamily="34" charset="0"/>
                <a:ea typeface="Onest" pitchFamily="34" charset="-122"/>
                <a:cs typeface="Onest" pitchFamily="34" charset="-120"/>
              </a:rPr>
              <a:t>19</a:t>
            </a:r>
            <a:endParaRPr lang="en-US" sz="1500" dirty="0"/>
          </a:p>
        </p:txBody>
      </p:sp>
      <p:sp>
        <p:nvSpPr>
          <p:cNvPr id="22" name="Text 20"/>
          <p:cNvSpPr txBox="1"/>
          <p:nvPr/>
        </p:nvSpPr>
        <p:spPr>
          <a:xfrm>
            <a:off x="8494886" y="2734056"/>
            <a:ext cx="822960" cy="566928"/>
          </a:xfrm>
          <a:prstGeom prst="rect">
            <a:avLst/>
          </a:prstGeom>
          <a:noFill/>
          <a:ln/>
        </p:spPr>
        <p:txBody>
          <a:bodyPr wrap="square" lIns="0" tIns="0" rIns="0" bIns="0" rtlCol="0" anchor="ctr"/>
          <a:lstStyle/>
          <a:p>
            <a:pPr algn="l" indent="0" marL="0">
              <a:buNone/>
            </a:pPr>
            <a:r>
              <a:rPr lang="en-US" sz="1300" dirty="0">
                <a:solidFill>
                  <a:srgbClr val="6B6B5E"/>
                </a:solidFill>
                <a:latin typeface="JetBrains Mono" pitchFamily="34" charset="0"/>
                <a:ea typeface="JetBrains Mono" pitchFamily="34" charset="-122"/>
                <a:cs typeface="JetBrains Mono" pitchFamily="34" charset="-120"/>
              </a:rPr>
              <a:t>62</a:t>
            </a:r>
            <a:endParaRPr lang="en-US" sz="1300" dirty="0"/>
          </a:p>
        </p:txBody>
      </p:sp>
      <p:sp>
        <p:nvSpPr>
          <p:cNvPr id="23" name="Text 21"/>
          <p:cNvSpPr txBox="1"/>
          <p:nvPr/>
        </p:nvSpPr>
        <p:spPr>
          <a:xfrm>
            <a:off x="10451592" y="2734056"/>
            <a:ext cx="1051560" cy="566928"/>
          </a:xfrm>
          <a:prstGeom prst="rect">
            <a:avLst/>
          </a:prstGeom>
          <a:noFill/>
          <a:ln/>
        </p:spPr>
        <p:txBody>
          <a:bodyPr wrap="square" lIns="0" tIns="0" rIns="0" bIns="0" rtlCol="0" anchor="ctr"/>
          <a:lstStyle/>
          <a:p>
            <a:pPr algn="r" indent="0" marL="0">
              <a:buNone/>
            </a:pPr>
            <a:r>
              <a:rPr lang="en-US" sz="1500" b="1" dirty="0">
                <a:solidFill>
                  <a:srgbClr val="2D8B6D"/>
                </a:solidFill>
                <a:latin typeface="JetBrains Mono" pitchFamily="34" charset="0"/>
                <a:ea typeface="JetBrains Mono" pitchFamily="34" charset="-122"/>
                <a:cs typeface="JetBrains Mono" pitchFamily="34" charset="-120"/>
              </a:rPr>
              <a:t>30%</a:t>
            </a:r>
            <a:endParaRPr lang="en-US" sz="1500" dirty="0"/>
          </a:p>
        </p:txBody>
      </p:sp>
      <p:sp>
        <p:nvSpPr>
          <p:cNvPr id="24" name="Text 22"/>
          <p:cNvSpPr txBox="1"/>
          <p:nvPr/>
        </p:nvSpPr>
        <p:spPr>
          <a:xfrm>
            <a:off x="685800" y="3621024"/>
            <a:ext cx="2697480" cy="566928"/>
          </a:xfrm>
          <a:prstGeom prst="rect">
            <a:avLst/>
          </a:prstGeom>
          <a:noFill/>
          <a:ln/>
        </p:spPr>
        <p:txBody>
          <a:bodyPr wrap="square" lIns="0" tIns="0" rIns="0" bIns="0" rtlCol="0" anchor="ctr"/>
          <a:lstStyle/>
          <a:p>
            <a:pPr algn="r" indent="0" marL="0">
              <a:buNone/>
            </a:pPr>
            <a:r>
              <a:rPr lang="en-US" sz="1500" dirty="0">
                <a:solidFill>
                  <a:srgbClr val="111412"/>
                </a:solidFill>
                <a:latin typeface="Onest" pitchFamily="34" charset="0"/>
                <a:ea typeface="Onest" pitchFamily="34" charset="-122"/>
                <a:cs typeface="Onest" pitchFamily="34" charset="-120"/>
              </a:rPr>
              <a:t>Añaden al carrito</a:t>
            </a:r>
            <a:endParaRPr lang="en-US" sz="1500" dirty="0"/>
          </a:p>
        </p:txBody>
      </p:sp>
      <p:sp>
        <p:nvSpPr>
          <p:cNvPr id="25" name="Shape 23"/>
          <p:cNvSpPr/>
          <p:nvPr/>
        </p:nvSpPr>
        <p:spPr>
          <a:xfrm>
            <a:off x="3566160" y="3621024"/>
            <a:ext cx="2796857" cy="566928"/>
          </a:xfrm>
          <a:prstGeom prst="rect">
            <a:avLst/>
          </a:prstGeom>
          <a:solidFill>
            <a:srgbClr val="E4E0D1"/>
          </a:solidFill>
          <a:ln/>
        </p:spPr>
      </p:sp>
      <p:sp>
        <p:nvSpPr>
          <p:cNvPr id="26" name="Shape 24"/>
          <p:cNvSpPr/>
          <p:nvPr/>
        </p:nvSpPr>
        <p:spPr>
          <a:xfrm>
            <a:off x="3566160" y="3621024"/>
            <a:ext cx="1118743" cy="566928"/>
          </a:xfrm>
          <a:prstGeom prst="rect">
            <a:avLst/>
          </a:prstGeom>
          <a:solidFill>
            <a:srgbClr val="2D8B6D"/>
          </a:solidFill>
          <a:ln/>
        </p:spPr>
      </p:sp>
      <p:sp>
        <p:nvSpPr>
          <p:cNvPr id="27" name="Text 25"/>
          <p:cNvSpPr txBox="1"/>
          <p:nvPr/>
        </p:nvSpPr>
        <p:spPr>
          <a:xfrm>
            <a:off x="3657600" y="3621024"/>
            <a:ext cx="935863" cy="566928"/>
          </a:xfrm>
          <a:prstGeom prst="rect">
            <a:avLst/>
          </a:prstGeom>
          <a:noFill/>
          <a:ln/>
        </p:spPr>
        <p:txBody>
          <a:bodyPr wrap="square" lIns="0" tIns="0" rIns="0" bIns="0" rtlCol="0" anchor="ctr"/>
          <a:lstStyle/>
          <a:p>
            <a:pPr algn="l" indent="0" marL="0">
              <a:buNone/>
            </a:pPr>
            <a:r>
              <a:rPr lang="en-US" sz="1500" b="1" dirty="0">
                <a:solidFill>
                  <a:srgbClr val="FFFDF7"/>
                </a:solidFill>
                <a:latin typeface="Onest" pitchFamily="34" charset="0"/>
                <a:ea typeface="Onest" pitchFamily="34" charset="-122"/>
                <a:cs typeface="Onest" pitchFamily="34" charset="-120"/>
              </a:rPr>
              <a:t>7</a:t>
            </a:r>
            <a:endParaRPr lang="en-US" sz="1500" dirty="0"/>
          </a:p>
        </p:txBody>
      </p:sp>
      <p:sp>
        <p:nvSpPr>
          <p:cNvPr id="28" name="Text 26"/>
          <p:cNvSpPr txBox="1"/>
          <p:nvPr/>
        </p:nvSpPr>
        <p:spPr>
          <a:xfrm>
            <a:off x="6472745" y="3621024"/>
            <a:ext cx="822960" cy="566928"/>
          </a:xfrm>
          <a:prstGeom prst="rect">
            <a:avLst/>
          </a:prstGeom>
          <a:noFill/>
          <a:ln/>
        </p:spPr>
        <p:txBody>
          <a:bodyPr wrap="square" lIns="0" tIns="0" rIns="0" bIns="0" rtlCol="0" anchor="ctr"/>
          <a:lstStyle/>
          <a:p>
            <a:pPr algn="l" indent="0" marL="0">
              <a:buNone/>
            </a:pPr>
            <a:r>
              <a:rPr lang="en-US" sz="1300" dirty="0">
                <a:solidFill>
                  <a:srgbClr val="6B6B5E"/>
                </a:solidFill>
                <a:latin typeface="JetBrains Mono" pitchFamily="34" charset="0"/>
                <a:ea typeface="JetBrains Mono" pitchFamily="34" charset="-122"/>
                <a:cs typeface="JetBrains Mono" pitchFamily="34" charset="-120"/>
              </a:rPr>
              <a:t>18</a:t>
            </a:r>
            <a:endParaRPr lang="en-US" sz="1300" dirty="0"/>
          </a:p>
        </p:txBody>
      </p:sp>
      <p:sp>
        <p:nvSpPr>
          <p:cNvPr id="29" name="Text 27"/>
          <p:cNvSpPr txBox="1"/>
          <p:nvPr/>
        </p:nvSpPr>
        <p:spPr>
          <a:xfrm>
            <a:off x="10451592" y="3621024"/>
            <a:ext cx="1051560" cy="566928"/>
          </a:xfrm>
          <a:prstGeom prst="rect">
            <a:avLst/>
          </a:prstGeom>
          <a:noFill/>
          <a:ln/>
        </p:spPr>
        <p:txBody>
          <a:bodyPr wrap="square" lIns="0" tIns="0" rIns="0" bIns="0" rtlCol="0" anchor="ctr"/>
          <a:lstStyle/>
          <a:p>
            <a:pPr algn="r" indent="0" marL="0">
              <a:buNone/>
            </a:pPr>
            <a:r>
              <a:rPr lang="en-US" sz="1500" b="1" dirty="0">
                <a:solidFill>
                  <a:srgbClr val="2D8B6D"/>
                </a:solidFill>
                <a:latin typeface="JetBrains Mono" pitchFamily="34" charset="0"/>
                <a:ea typeface="JetBrains Mono" pitchFamily="34" charset="-122"/>
                <a:cs typeface="JetBrains Mono" pitchFamily="34" charset="-120"/>
              </a:rPr>
              <a:t>40%</a:t>
            </a:r>
            <a:endParaRPr lang="en-US" sz="1500" dirty="0"/>
          </a:p>
        </p:txBody>
      </p:sp>
      <p:sp>
        <p:nvSpPr>
          <p:cNvPr id="30" name="Text 28"/>
          <p:cNvSpPr txBox="1"/>
          <p:nvPr/>
        </p:nvSpPr>
        <p:spPr>
          <a:xfrm>
            <a:off x="685800" y="4507992"/>
            <a:ext cx="2697480" cy="566928"/>
          </a:xfrm>
          <a:prstGeom prst="rect">
            <a:avLst/>
          </a:prstGeom>
          <a:noFill/>
          <a:ln/>
        </p:spPr>
        <p:txBody>
          <a:bodyPr wrap="square" lIns="0" tIns="0" rIns="0" bIns="0" rtlCol="0" anchor="ctr"/>
          <a:lstStyle/>
          <a:p>
            <a:pPr algn="r" indent="0" marL="0">
              <a:buNone/>
            </a:pPr>
            <a:r>
              <a:rPr lang="en-US" sz="1500" dirty="0">
                <a:solidFill>
                  <a:srgbClr val="111412"/>
                </a:solidFill>
                <a:latin typeface="Onest" pitchFamily="34" charset="0"/>
                <a:ea typeface="Onest" pitchFamily="34" charset="-122"/>
                <a:cs typeface="Onest" pitchFamily="34" charset="-120"/>
              </a:rPr>
              <a:t>Llegan a checkout</a:t>
            </a:r>
            <a:endParaRPr lang="en-US" sz="1500" dirty="0"/>
          </a:p>
        </p:txBody>
      </p:sp>
      <p:sp>
        <p:nvSpPr>
          <p:cNvPr id="31" name="Shape 29"/>
          <p:cNvSpPr/>
          <p:nvPr/>
        </p:nvSpPr>
        <p:spPr>
          <a:xfrm>
            <a:off x="3566160" y="4507992"/>
            <a:ext cx="2383237" cy="566928"/>
          </a:xfrm>
          <a:prstGeom prst="rect">
            <a:avLst/>
          </a:prstGeom>
          <a:solidFill>
            <a:srgbClr val="E4E0D1"/>
          </a:solidFill>
          <a:ln/>
        </p:spPr>
      </p:sp>
      <p:sp>
        <p:nvSpPr>
          <p:cNvPr id="32" name="Shape 30"/>
          <p:cNvSpPr/>
          <p:nvPr/>
        </p:nvSpPr>
        <p:spPr>
          <a:xfrm>
            <a:off x="3566160" y="4507992"/>
            <a:ext cx="1191619" cy="566928"/>
          </a:xfrm>
          <a:prstGeom prst="rect">
            <a:avLst/>
          </a:prstGeom>
          <a:solidFill>
            <a:srgbClr val="2D8B6D"/>
          </a:solidFill>
          <a:ln/>
        </p:spPr>
      </p:sp>
      <p:sp>
        <p:nvSpPr>
          <p:cNvPr id="33" name="Text 31"/>
          <p:cNvSpPr txBox="1"/>
          <p:nvPr/>
        </p:nvSpPr>
        <p:spPr>
          <a:xfrm>
            <a:off x="3657600" y="4507992"/>
            <a:ext cx="1008739" cy="566928"/>
          </a:xfrm>
          <a:prstGeom prst="rect">
            <a:avLst/>
          </a:prstGeom>
          <a:noFill/>
          <a:ln/>
        </p:spPr>
        <p:txBody>
          <a:bodyPr wrap="square" lIns="0" tIns="0" rIns="0" bIns="0" rtlCol="0" anchor="ctr"/>
          <a:lstStyle/>
          <a:p>
            <a:pPr algn="l" indent="0" marL="0">
              <a:buNone/>
            </a:pPr>
            <a:r>
              <a:rPr lang="en-US" sz="1500" b="1" dirty="0">
                <a:solidFill>
                  <a:srgbClr val="FFFDF7"/>
                </a:solidFill>
                <a:latin typeface="Onest" pitchFamily="34" charset="0"/>
                <a:ea typeface="Onest" pitchFamily="34" charset="-122"/>
                <a:cs typeface="Onest" pitchFamily="34" charset="-120"/>
              </a:rPr>
              <a:t>5</a:t>
            </a:r>
            <a:endParaRPr lang="en-US" sz="1500" dirty="0"/>
          </a:p>
        </p:txBody>
      </p:sp>
      <p:sp>
        <p:nvSpPr>
          <p:cNvPr id="34" name="Text 32"/>
          <p:cNvSpPr txBox="1"/>
          <p:nvPr/>
        </p:nvSpPr>
        <p:spPr>
          <a:xfrm>
            <a:off x="6059125" y="4507992"/>
            <a:ext cx="822960" cy="566928"/>
          </a:xfrm>
          <a:prstGeom prst="rect">
            <a:avLst/>
          </a:prstGeom>
          <a:noFill/>
          <a:ln/>
        </p:spPr>
        <p:txBody>
          <a:bodyPr wrap="square" lIns="0" tIns="0" rIns="0" bIns="0" rtlCol="0" anchor="ctr"/>
          <a:lstStyle/>
          <a:p>
            <a:pPr algn="l" indent="0" marL="0">
              <a:buNone/>
            </a:pPr>
            <a:r>
              <a:rPr lang="en-US" sz="1300" dirty="0">
                <a:solidFill>
                  <a:srgbClr val="6B6B5E"/>
                </a:solidFill>
                <a:latin typeface="JetBrains Mono" pitchFamily="34" charset="0"/>
                <a:ea typeface="JetBrains Mono" pitchFamily="34" charset="-122"/>
                <a:cs typeface="JetBrains Mono" pitchFamily="34" charset="-120"/>
              </a:rPr>
              <a:t>9</a:t>
            </a:r>
            <a:endParaRPr lang="en-US" sz="1300" dirty="0"/>
          </a:p>
        </p:txBody>
      </p:sp>
      <p:sp>
        <p:nvSpPr>
          <p:cNvPr id="35" name="Text 33"/>
          <p:cNvSpPr txBox="1"/>
          <p:nvPr/>
        </p:nvSpPr>
        <p:spPr>
          <a:xfrm>
            <a:off x="10451592" y="4507992"/>
            <a:ext cx="1051560" cy="566928"/>
          </a:xfrm>
          <a:prstGeom prst="rect">
            <a:avLst/>
          </a:prstGeom>
          <a:noFill/>
          <a:ln/>
        </p:spPr>
        <p:txBody>
          <a:bodyPr wrap="square" lIns="0" tIns="0" rIns="0" bIns="0" rtlCol="0" anchor="ctr"/>
          <a:lstStyle/>
          <a:p>
            <a:pPr algn="r" indent="0" marL="0">
              <a:buNone/>
            </a:pPr>
            <a:r>
              <a:rPr lang="en-US" sz="1500" b="1" dirty="0">
                <a:solidFill>
                  <a:srgbClr val="2D8B6D"/>
                </a:solidFill>
                <a:latin typeface="JetBrains Mono" pitchFamily="34" charset="0"/>
                <a:ea typeface="JetBrains Mono" pitchFamily="34" charset="-122"/>
                <a:cs typeface="JetBrains Mono" pitchFamily="34" charset="-120"/>
              </a:rPr>
              <a:t>50%</a:t>
            </a:r>
            <a:endParaRPr lang="en-US" sz="1500" dirty="0"/>
          </a:p>
        </p:txBody>
      </p:sp>
      <p:sp>
        <p:nvSpPr>
          <p:cNvPr id="36" name="Text 34"/>
          <p:cNvSpPr txBox="1"/>
          <p:nvPr/>
        </p:nvSpPr>
        <p:spPr>
          <a:xfrm>
            <a:off x="685800" y="5440680"/>
            <a:ext cx="10817352" cy="365760"/>
          </a:xfrm>
          <a:prstGeom prst="rect">
            <a:avLst/>
          </a:prstGeom>
          <a:noFill/>
          <a:ln/>
        </p:spPr>
        <p:txBody>
          <a:bodyPr wrap="square" lIns="0" tIns="0" rIns="0" bIns="0" rtlCol="0" anchor="ctr"/>
          <a:lstStyle/>
          <a:p>
            <a:pPr algn="l" indent="0" marL="0">
              <a:buNone/>
            </a:pPr>
            <a:r>
              <a:rPr lang="en-US" sz="1000" dirty="0">
                <a:solidFill>
                  <a:srgbClr val="A3A396"/>
                </a:solidFill>
                <a:latin typeface="JetBrains Mono" pitchFamily="34" charset="0"/>
                <a:ea typeface="JetBrains Mono" pitchFamily="34" charset="-122"/>
                <a:cs typeface="JetBrains Mono" pitchFamily="34" charset="-120"/>
              </a:rPr>
              <a:t>verde: lo que mides   ·   gris: lo que ocurrió   ·   la aceptación sube según baja el funnel: +10 puntos por paso</a:t>
            </a:r>
            <a:endParaRPr lang="en-US" sz="1000" dirty="0"/>
          </a:p>
        </p:txBody>
      </p:sp>
      <p:sp>
        <p:nvSpPr>
          <p:cNvPr id="37" name="Text 35"/>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1  ·  Pedidos reales de tu eCommerce vs. los que cuenta tu analitica, mismo periodo.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22225">
            <a:solidFill>
              <a:srgbClr val="111412"/>
            </a:solidFill>
            <a:prstDash val="solid"/>
          </a:ln>
        </p:spPr>
      </p:sp>
      <p:sp>
        <p:nvSpPr>
          <p:cNvPr id="3" name="Shape 1"/>
          <p:cNvSpPr/>
          <p:nvPr/>
        </p:nvSpPr>
        <p:spPr>
          <a:xfrm>
            <a:off x="10222992" y="402336"/>
            <a:ext cx="137160" cy="137160"/>
          </a:xfrm>
          <a:prstGeom prst="rect">
            <a:avLst/>
          </a:prstGeom>
          <a:solidFill>
            <a:srgbClr val="F4F1E8"/>
          </a:solidFill>
          <a:ln w="12700">
            <a:solidFill>
              <a:srgbClr val="D4D4C8"/>
            </a:solidFill>
            <a:prstDash val="solid"/>
          </a:ln>
        </p:spPr>
      </p:sp>
      <p:sp>
        <p:nvSpPr>
          <p:cNvPr id="4" name="Shape 2"/>
          <p:cNvSpPr/>
          <p:nvPr/>
        </p:nvSpPr>
        <p:spPr>
          <a:xfrm>
            <a:off x="10428732" y="402336"/>
            <a:ext cx="137160" cy="137160"/>
          </a:xfrm>
          <a:prstGeom prst="rect">
            <a:avLst/>
          </a:prstGeom>
          <a:solidFill>
            <a:srgbClr val="F4F1E8"/>
          </a:solidFill>
          <a:ln w="12700">
            <a:solidFill>
              <a:srgbClr val="D4D4C8"/>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FUGA 1 · LAS DOS MÉTRICAS DE TU CMP</a:t>
            </a:r>
            <a:endParaRPr lang="en-US" sz="1100" dirty="0"/>
          </a:p>
        </p:txBody>
      </p:sp>
      <p:sp>
        <p:nvSpPr>
          <p:cNvPr id="11" name="Text 9"/>
          <p:cNvSpPr txBox="1"/>
          <p:nvPr/>
        </p:nvSpPr>
        <p:spPr>
          <a:xfrm>
            <a:off x="685800" y="868680"/>
            <a:ext cx="8437535" cy="640080"/>
          </a:xfrm>
          <a:prstGeom prst="rect">
            <a:avLst/>
          </a:prstGeom>
          <a:noFill/>
          <a:ln/>
        </p:spPr>
        <p:txBody>
          <a:bodyPr wrap="square" lIns="0" tIns="0" rIns="0" bIns="0" rtlCol="0" anchor="ctr"/>
          <a:lstStyle/>
          <a:p>
            <a:pPr algn="l" indent="0" marL="0">
              <a:buNone/>
            </a:pPr>
            <a:r>
              <a:rPr lang="en-US" sz="3300" b="1" dirty="0">
                <a:solidFill>
                  <a:srgbClr val="111412"/>
                </a:solidFill>
                <a:latin typeface="Onest" pitchFamily="34" charset="0"/>
                <a:ea typeface="Onest" pitchFamily="34" charset="-122"/>
                <a:cs typeface="Onest" pitchFamily="34" charset="-120"/>
              </a:rPr>
              <a:t>Tu panel tiene dos porcentajes. Solo uno te sirve.</a:t>
            </a:r>
            <a:endParaRPr lang="en-US" sz="3300" dirty="0"/>
          </a:p>
        </p:txBody>
      </p:sp>
      <p:sp>
        <p:nvSpPr>
          <p:cNvPr id="12" name="Shape 10"/>
          <p:cNvSpPr/>
          <p:nvPr/>
        </p:nvSpPr>
        <p:spPr>
          <a:xfrm>
            <a:off x="685800" y="1691640"/>
            <a:ext cx="5271516" cy="2514600"/>
          </a:xfrm>
          <a:prstGeom prst="rect">
            <a:avLst/>
          </a:prstGeom>
          <a:solidFill>
            <a:srgbClr val="FFFDF7"/>
          </a:solidFill>
          <a:ln w="25400">
            <a:solidFill>
              <a:srgbClr val="B5423B"/>
            </a:solidFill>
            <a:prstDash val="solid"/>
          </a:ln>
        </p:spPr>
      </p:sp>
      <p:sp>
        <p:nvSpPr>
          <p:cNvPr id="13" name="Text 11"/>
          <p:cNvSpPr txBox="1"/>
          <p:nvPr/>
        </p:nvSpPr>
        <p:spPr>
          <a:xfrm>
            <a:off x="1005840" y="1874520"/>
            <a:ext cx="4631436" cy="347472"/>
          </a:xfrm>
          <a:prstGeom prst="rect">
            <a:avLst/>
          </a:prstGeom>
          <a:noFill/>
          <a:ln/>
        </p:spPr>
        <p:txBody>
          <a:bodyPr wrap="square" lIns="0" tIns="0" rIns="0" bIns="0" rtlCol="0" anchor="ctr"/>
          <a:lstStyle/>
          <a:p>
            <a:pPr algn="l" indent="0" marL="0">
              <a:buNone/>
            </a:pPr>
            <a:r>
              <a:rPr lang="en-US" sz="1300" b="1" spc="150" kern="0" dirty="0">
                <a:solidFill>
                  <a:srgbClr val="B5423B"/>
                </a:solidFill>
                <a:latin typeface="JetBrains Mono" pitchFamily="34" charset="0"/>
                <a:ea typeface="JetBrains Mono" pitchFamily="34" charset="-122"/>
                <a:cs typeface="JetBrains Mono" pitchFamily="34" charset="-120"/>
              </a:rPr>
              <a:t>CONSENT RATE</a:t>
            </a:r>
            <a:endParaRPr lang="en-US" sz="1300" dirty="0"/>
          </a:p>
        </p:txBody>
      </p:sp>
      <p:sp>
        <p:nvSpPr>
          <p:cNvPr id="14" name="Text 12"/>
          <p:cNvSpPr txBox="1"/>
          <p:nvPr/>
        </p:nvSpPr>
        <p:spPr>
          <a:xfrm>
            <a:off x="1005840" y="2331720"/>
            <a:ext cx="2743200" cy="365760"/>
          </a:xfrm>
          <a:prstGeom prst="rect">
            <a:avLst/>
          </a:prstGeom>
          <a:noFill/>
          <a:ln/>
        </p:spPr>
        <p:txBody>
          <a:bodyPr wrap="square" lIns="0" tIns="0" rIns="0" bIns="0" rtlCol="0" anchor="ctr"/>
          <a:lstStyle/>
          <a:p>
            <a:pPr algn="ctr" indent="0" marL="0">
              <a:buNone/>
            </a:pPr>
            <a:r>
              <a:rPr lang="en-US" sz="1600" b="1" dirty="0">
                <a:solidFill>
                  <a:srgbClr val="111412"/>
                </a:solidFill>
                <a:latin typeface="Onest" pitchFamily="34" charset="0"/>
                <a:ea typeface="Onest" pitchFamily="34" charset="-122"/>
                <a:cs typeface="Onest" pitchFamily="34" charset="-120"/>
              </a:rPr>
              <a:t>opt-ins</a:t>
            </a:r>
            <a:endParaRPr lang="en-US" sz="1600" dirty="0"/>
          </a:p>
        </p:txBody>
      </p:sp>
      <p:sp>
        <p:nvSpPr>
          <p:cNvPr id="15" name="Shape 13"/>
          <p:cNvSpPr/>
          <p:nvPr/>
        </p:nvSpPr>
        <p:spPr>
          <a:xfrm>
            <a:off x="1051560" y="2715768"/>
            <a:ext cx="2651760" cy="27432"/>
          </a:xfrm>
          <a:prstGeom prst="rect">
            <a:avLst/>
          </a:prstGeom>
          <a:solidFill>
            <a:srgbClr val="111412"/>
          </a:solidFill>
          <a:ln/>
        </p:spPr>
      </p:sp>
      <p:sp>
        <p:nvSpPr>
          <p:cNvPr id="16" name="Text 14"/>
          <p:cNvSpPr txBox="1"/>
          <p:nvPr/>
        </p:nvSpPr>
        <p:spPr>
          <a:xfrm>
            <a:off x="1005840" y="2761488"/>
            <a:ext cx="2743200" cy="365760"/>
          </a:xfrm>
          <a:prstGeom prst="rect">
            <a:avLst/>
          </a:prstGeom>
          <a:noFill/>
          <a:ln/>
        </p:spPr>
        <p:txBody>
          <a:bodyPr wrap="square" lIns="0" tIns="0" rIns="0" bIns="0" rtlCol="0" anchor="ctr"/>
          <a:lstStyle/>
          <a:p>
            <a:pPr algn="ctr" indent="0" marL="0">
              <a:buNone/>
            </a:pPr>
            <a:r>
              <a:rPr lang="en-US" sz="1600" b="1" dirty="0">
                <a:solidFill>
                  <a:srgbClr val="111412"/>
                </a:solidFill>
                <a:latin typeface="Onest" pitchFamily="34" charset="0"/>
                <a:ea typeface="Onest" pitchFamily="34" charset="-122"/>
                <a:cs typeface="Onest" pitchFamily="34" charset="-120"/>
              </a:rPr>
              <a:t>opt-ins + opt-outs</a:t>
            </a:r>
            <a:endParaRPr lang="en-US" sz="1600" dirty="0"/>
          </a:p>
        </p:txBody>
      </p:sp>
      <p:sp>
        <p:nvSpPr>
          <p:cNvPr id="17" name="Text 15"/>
          <p:cNvSpPr txBox="1"/>
          <p:nvPr/>
        </p:nvSpPr>
        <p:spPr>
          <a:xfrm>
            <a:off x="3931920" y="2286000"/>
            <a:ext cx="2103120" cy="914400"/>
          </a:xfrm>
          <a:prstGeom prst="rect">
            <a:avLst/>
          </a:prstGeom>
          <a:noFill/>
          <a:ln/>
        </p:spPr>
        <p:txBody>
          <a:bodyPr wrap="square" lIns="0" tIns="0" rIns="0" bIns="0" rtlCol="0" anchor="ctr"/>
          <a:lstStyle/>
          <a:p>
            <a:pPr algn="l" indent="0" marL="0">
              <a:buNone/>
            </a:pPr>
            <a:r>
              <a:rPr lang="en-US" sz="4400" b="1" dirty="0">
                <a:solidFill>
                  <a:srgbClr val="B5423B"/>
                </a:solidFill>
                <a:latin typeface="Onest" pitchFamily="34" charset="0"/>
                <a:ea typeface="Onest" pitchFamily="34" charset="-122"/>
                <a:cs typeface="Onest" pitchFamily="34" charset="-120"/>
              </a:rPr>
              <a:t>78–81%</a:t>
            </a:r>
            <a:endParaRPr lang="en-US" sz="4400" dirty="0"/>
          </a:p>
        </p:txBody>
      </p:sp>
      <p:sp>
        <p:nvSpPr>
          <p:cNvPr id="18" name="Text 16"/>
          <p:cNvSpPr txBox="1"/>
          <p:nvPr/>
        </p:nvSpPr>
        <p:spPr>
          <a:xfrm>
            <a:off x="3931920" y="3127248"/>
            <a:ext cx="2194560" cy="274320"/>
          </a:xfrm>
          <a:prstGeom prst="rect">
            <a:avLst/>
          </a:prstGeom>
          <a:noFill/>
          <a:ln/>
        </p:spPr>
        <p:txBody>
          <a:bodyPr wrap="square" lIns="0" tIns="0" rIns="0" bIns="0" rtlCol="0" anchor="ctr"/>
          <a:lstStyle/>
          <a:p>
            <a:pPr algn="l" indent="0" marL="0">
              <a:buNone/>
            </a:pPr>
            <a:r>
              <a:rPr lang="en-US" sz="950" dirty="0">
                <a:solidFill>
                  <a:srgbClr val="A3A396"/>
                </a:solidFill>
                <a:latin typeface="JetBrains Mono" pitchFamily="34" charset="0"/>
                <a:ea typeface="JetBrains Mono" pitchFamily="34" charset="-122"/>
                <a:cs typeface="JetBrains Mono" pitchFamily="34" charset="-120"/>
              </a:rPr>
              <a:t>Didomi · Europa 2025</a:t>
            </a:r>
            <a:endParaRPr lang="en-US" sz="950" dirty="0"/>
          </a:p>
        </p:txBody>
      </p:sp>
      <p:sp>
        <p:nvSpPr>
          <p:cNvPr id="19" name="Text 17"/>
          <p:cNvSpPr txBox="1"/>
          <p:nvPr/>
        </p:nvSpPr>
        <p:spPr>
          <a:xfrm>
            <a:off x="1005840" y="3520440"/>
            <a:ext cx="4631436" cy="548640"/>
          </a:xfrm>
          <a:prstGeom prst="rect">
            <a:avLst/>
          </a:prstGeom>
          <a:noFill/>
          <a:ln/>
        </p:spPr>
        <p:txBody>
          <a:bodyPr wrap="square" lIns="0" tIns="0" rIns="0" bIns="0" rtlCol="0" anchor="t"/>
          <a:lstStyle/>
          <a:p>
            <a:pPr algn="l" indent="0" marL="0">
              <a:lnSpc>
                <a:spcPts val="1900"/>
              </a:lnSpc>
              <a:buNone/>
            </a:pPr>
            <a:r>
              <a:rPr lang="en-US" sz="1400" dirty="0">
                <a:solidFill>
                  <a:srgbClr val="6B6B5E"/>
                </a:solidFill>
                <a:latin typeface="Onest" pitchFamily="34" charset="0"/>
                <a:ea typeface="Onest" pitchFamily="34" charset="-122"/>
                <a:cs typeface="Onest" pitchFamily="34" charset="-120"/>
              </a:rPr>
              <a:t>Solo cuenta a quien pulsó algo. Es el que se cita en las reuniones.</a:t>
            </a:r>
            <a:endParaRPr lang="en-US" sz="1400" dirty="0"/>
          </a:p>
        </p:txBody>
      </p:sp>
      <p:sp>
        <p:nvSpPr>
          <p:cNvPr id="20" name="Shape 18"/>
          <p:cNvSpPr/>
          <p:nvPr/>
        </p:nvSpPr>
        <p:spPr>
          <a:xfrm>
            <a:off x="6231636" y="1691640"/>
            <a:ext cx="5271516" cy="2514600"/>
          </a:xfrm>
          <a:prstGeom prst="rect">
            <a:avLst/>
          </a:prstGeom>
          <a:solidFill>
            <a:srgbClr val="FFFDF7"/>
          </a:solidFill>
          <a:ln w="25400">
            <a:solidFill>
              <a:srgbClr val="2D8B6D"/>
            </a:solidFill>
            <a:prstDash val="solid"/>
          </a:ln>
        </p:spPr>
      </p:sp>
      <p:sp>
        <p:nvSpPr>
          <p:cNvPr id="21" name="Text 19"/>
          <p:cNvSpPr txBox="1"/>
          <p:nvPr/>
        </p:nvSpPr>
        <p:spPr>
          <a:xfrm>
            <a:off x="6551676" y="1874520"/>
            <a:ext cx="4631436" cy="347472"/>
          </a:xfrm>
          <a:prstGeom prst="rect">
            <a:avLst/>
          </a:prstGeom>
          <a:noFill/>
          <a:ln/>
        </p:spPr>
        <p:txBody>
          <a:bodyPr wrap="square" lIns="0" tIns="0" rIns="0" bIns="0" rtlCol="0" anchor="ctr"/>
          <a:lstStyle/>
          <a:p>
            <a:pPr algn="l" indent="0" marL="0">
              <a:buNone/>
            </a:pPr>
            <a:r>
              <a:rPr lang="en-US" sz="1300" b="1" spc="150" kern="0" dirty="0">
                <a:solidFill>
                  <a:srgbClr val="2D8B6D"/>
                </a:solidFill>
                <a:latin typeface="JetBrains Mono" pitchFamily="34" charset="0"/>
                <a:ea typeface="JetBrains Mono" pitchFamily="34" charset="-122"/>
                <a:cs typeface="JetBrains Mono" pitchFamily="34" charset="-120"/>
              </a:rPr>
              <a:t>OPT-IN RATE</a:t>
            </a:r>
            <a:endParaRPr lang="en-US" sz="1300" dirty="0"/>
          </a:p>
        </p:txBody>
      </p:sp>
      <p:sp>
        <p:nvSpPr>
          <p:cNvPr id="22" name="Text 20"/>
          <p:cNvSpPr txBox="1"/>
          <p:nvPr/>
        </p:nvSpPr>
        <p:spPr>
          <a:xfrm>
            <a:off x="6551676" y="2331720"/>
            <a:ext cx="2743200" cy="365760"/>
          </a:xfrm>
          <a:prstGeom prst="rect">
            <a:avLst/>
          </a:prstGeom>
          <a:noFill/>
          <a:ln/>
        </p:spPr>
        <p:txBody>
          <a:bodyPr wrap="square" lIns="0" tIns="0" rIns="0" bIns="0" rtlCol="0" anchor="ctr"/>
          <a:lstStyle/>
          <a:p>
            <a:pPr algn="ctr" indent="0" marL="0">
              <a:buNone/>
            </a:pPr>
            <a:r>
              <a:rPr lang="en-US" sz="1600" b="1" dirty="0">
                <a:solidFill>
                  <a:srgbClr val="111412"/>
                </a:solidFill>
                <a:latin typeface="Onest" pitchFamily="34" charset="0"/>
                <a:ea typeface="Onest" pitchFamily="34" charset="-122"/>
                <a:cs typeface="Onest" pitchFamily="34" charset="-120"/>
              </a:rPr>
              <a:t>opt-ins</a:t>
            </a:r>
            <a:endParaRPr lang="en-US" sz="1600" dirty="0"/>
          </a:p>
        </p:txBody>
      </p:sp>
      <p:sp>
        <p:nvSpPr>
          <p:cNvPr id="23" name="Shape 21"/>
          <p:cNvSpPr/>
          <p:nvPr/>
        </p:nvSpPr>
        <p:spPr>
          <a:xfrm>
            <a:off x="6597396" y="2715768"/>
            <a:ext cx="2651760" cy="27432"/>
          </a:xfrm>
          <a:prstGeom prst="rect">
            <a:avLst/>
          </a:prstGeom>
          <a:solidFill>
            <a:srgbClr val="111412"/>
          </a:solidFill>
          <a:ln/>
        </p:spPr>
      </p:sp>
      <p:sp>
        <p:nvSpPr>
          <p:cNvPr id="24" name="Text 22"/>
          <p:cNvSpPr txBox="1"/>
          <p:nvPr/>
        </p:nvSpPr>
        <p:spPr>
          <a:xfrm>
            <a:off x="6551676" y="2761488"/>
            <a:ext cx="2743200" cy="365760"/>
          </a:xfrm>
          <a:prstGeom prst="rect">
            <a:avLst/>
          </a:prstGeom>
          <a:noFill/>
          <a:ln/>
        </p:spPr>
        <p:txBody>
          <a:bodyPr wrap="square" lIns="0" tIns="0" rIns="0" bIns="0" rtlCol="0" anchor="ctr"/>
          <a:lstStyle/>
          <a:p>
            <a:pPr algn="ctr" indent="0" marL="0">
              <a:buNone/>
            </a:pPr>
            <a:r>
              <a:rPr lang="en-US" sz="1600" b="1" dirty="0">
                <a:solidFill>
                  <a:srgbClr val="111412"/>
                </a:solidFill>
                <a:latin typeface="Onest" pitchFamily="34" charset="0"/>
                <a:ea typeface="Onest" pitchFamily="34" charset="-122"/>
                <a:cs typeface="Onest" pitchFamily="34" charset="-120"/>
              </a:rPr>
              <a:t>faldones mostrados</a:t>
            </a:r>
            <a:endParaRPr lang="en-US" sz="1600" dirty="0"/>
          </a:p>
        </p:txBody>
      </p:sp>
      <p:sp>
        <p:nvSpPr>
          <p:cNvPr id="25" name="Text 23"/>
          <p:cNvSpPr txBox="1"/>
          <p:nvPr/>
        </p:nvSpPr>
        <p:spPr>
          <a:xfrm>
            <a:off x="9477756" y="2286000"/>
            <a:ext cx="2103120" cy="914400"/>
          </a:xfrm>
          <a:prstGeom prst="rect">
            <a:avLst/>
          </a:prstGeom>
          <a:noFill/>
          <a:ln/>
        </p:spPr>
        <p:txBody>
          <a:bodyPr wrap="square" lIns="0" tIns="0" rIns="0" bIns="0" rtlCol="0" anchor="ctr"/>
          <a:lstStyle/>
          <a:p>
            <a:pPr algn="l" indent="0" marL="0">
              <a:buNone/>
            </a:pPr>
            <a:r>
              <a:rPr lang="en-US" sz="4400" b="1" dirty="0">
                <a:solidFill>
                  <a:srgbClr val="2D8B6D"/>
                </a:solidFill>
                <a:latin typeface="Onest" pitchFamily="34" charset="0"/>
                <a:ea typeface="Onest" pitchFamily="34" charset="-122"/>
                <a:cs typeface="Onest" pitchFamily="34" charset="-120"/>
              </a:rPr>
              <a:t>29%</a:t>
            </a:r>
            <a:endParaRPr lang="en-US" sz="4400" dirty="0"/>
          </a:p>
        </p:txBody>
      </p:sp>
      <p:sp>
        <p:nvSpPr>
          <p:cNvPr id="26" name="Text 24"/>
          <p:cNvSpPr txBox="1"/>
          <p:nvPr/>
        </p:nvSpPr>
        <p:spPr>
          <a:xfrm>
            <a:off x="9477756" y="3127248"/>
            <a:ext cx="2194560" cy="274320"/>
          </a:xfrm>
          <a:prstGeom prst="rect">
            <a:avLst/>
          </a:prstGeom>
          <a:noFill/>
          <a:ln/>
        </p:spPr>
        <p:txBody>
          <a:bodyPr wrap="square" lIns="0" tIns="0" rIns="0" bIns="0" rtlCol="0" anchor="ctr"/>
          <a:lstStyle/>
          <a:p>
            <a:pPr algn="l" indent="0" marL="0">
              <a:buNone/>
            </a:pPr>
            <a:r>
              <a:rPr lang="en-US" sz="950" dirty="0">
                <a:solidFill>
                  <a:srgbClr val="A3A396"/>
                </a:solidFill>
                <a:latin typeface="JetBrains Mono" pitchFamily="34" charset="0"/>
                <a:ea typeface="JetBrains Mono" pitchFamily="34" charset="-122"/>
                <a:cs typeface="JetBrains Mono" pitchFamily="34" charset="-120"/>
              </a:rPr>
              <a:t>nuestro funnel: 29 de 100</a:t>
            </a:r>
            <a:endParaRPr lang="en-US" sz="950" dirty="0"/>
          </a:p>
        </p:txBody>
      </p:sp>
      <p:sp>
        <p:nvSpPr>
          <p:cNvPr id="27" name="Text 25"/>
          <p:cNvSpPr txBox="1"/>
          <p:nvPr/>
        </p:nvSpPr>
        <p:spPr>
          <a:xfrm>
            <a:off x="6551676" y="3520440"/>
            <a:ext cx="4631436" cy="548640"/>
          </a:xfrm>
          <a:prstGeom prst="rect">
            <a:avLst/>
          </a:prstGeom>
          <a:noFill/>
          <a:ln/>
        </p:spPr>
        <p:txBody>
          <a:bodyPr wrap="square" lIns="0" tIns="0" rIns="0" bIns="0" rtlCol="0" anchor="t"/>
          <a:lstStyle/>
          <a:p>
            <a:pPr algn="l" indent="0" marL="0">
              <a:lnSpc>
                <a:spcPts val="1900"/>
              </a:lnSpc>
              <a:buNone/>
            </a:pPr>
            <a:r>
              <a:rPr lang="en-US" sz="1400" dirty="0">
                <a:solidFill>
                  <a:srgbClr val="6B6B5E"/>
                </a:solidFill>
                <a:latin typeface="Onest" pitchFamily="34" charset="0"/>
                <a:ea typeface="Onest" pitchFamily="34" charset="-122"/>
                <a:cs typeface="Onest" pitchFamily="34" charset="-120"/>
              </a:rPr>
              <a:t>Cuenta a todos los que lo vieron. Es el que puedes medir.</a:t>
            </a:r>
            <a:endParaRPr lang="en-US" sz="1400" dirty="0"/>
          </a:p>
        </p:txBody>
      </p:sp>
      <p:sp>
        <p:nvSpPr>
          <p:cNvPr id="28" name="Text 26"/>
          <p:cNvSpPr txBox="1"/>
          <p:nvPr/>
        </p:nvSpPr>
        <p:spPr>
          <a:xfrm>
            <a:off x="685800" y="4434840"/>
            <a:ext cx="9951964" cy="822960"/>
          </a:xfrm>
          <a:prstGeom prst="rect">
            <a:avLst/>
          </a:prstGeom>
          <a:noFill/>
          <a:ln/>
        </p:spPr>
        <p:txBody>
          <a:bodyPr wrap="square" lIns="0" tIns="0" rIns="0" bIns="0" rtlCol="0" anchor="ctr"/>
          <a:lstStyle/>
          <a:p>
            <a:pPr algn="l" indent="0" marL="0">
              <a:lnSpc>
                <a:spcPts val="3200"/>
              </a:lnSpc>
              <a:buNone/>
            </a:pPr>
            <a:r>
              <a:rPr lang="en-US" sz="2500" b="1" dirty="0">
                <a:solidFill>
                  <a:srgbClr val="111412"/>
                </a:solidFill>
                <a:latin typeface="Onest" pitchFamily="34" charset="0"/>
                <a:ea typeface="Onest" pitchFamily="34" charset="-122"/>
                <a:cs typeface="Onest" pitchFamily="34" charset="-120"/>
              </a:rPr>
              <a:t>La diferencia entre los dos son los que no tocan nada. Y el que no toca nada, no consiente.</a:t>
            </a:r>
            <a:endParaRPr lang="en-US" sz="2500" dirty="0"/>
          </a:p>
        </p:txBody>
      </p:sp>
      <p:sp>
        <p:nvSpPr>
          <p:cNvPr id="29" name="Text 27"/>
          <p:cNvSpPr txBox="1"/>
          <p:nvPr/>
        </p:nvSpPr>
        <p:spPr>
          <a:xfrm>
            <a:off x="685800" y="5257800"/>
            <a:ext cx="9951964" cy="457200"/>
          </a:xfrm>
          <a:prstGeom prst="rect">
            <a:avLst/>
          </a:prstGeom>
          <a:noFill/>
          <a:ln/>
        </p:spPr>
        <p:txBody>
          <a:bodyPr wrap="square" lIns="0" tIns="0" rIns="0" bIns="0" rtlCol="0" anchor="ctr"/>
          <a:lstStyle/>
          <a:p>
            <a:pPr algn="l" indent="0" marL="0">
              <a:buNone/>
            </a:pPr>
            <a:r>
              <a:rPr lang="en-US" sz="1800" dirty="0">
                <a:solidFill>
                  <a:srgbClr val="6B6B5E"/>
                </a:solidFill>
                <a:latin typeface="Onest" pitchFamily="34" charset="0"/>
                <a:ea typeface="Onest" pitchFamily="34" charset="-122"/>
                <a:cs typeface="Onest" pitchFamily="34" charset="-120"/>
              </a:rPr>
              <a:t>Tu CMP los saca del cálculo. Tu analítica no puede: para la ley cuentan como un no.</a:t>
            </a:r>
            <a:endParaRPr lang="en-US" sz="1800" dirty="0"/>
          </a:p>
        </p:txBody>
      </p:sp>
      <p:sp>
        <p:nvSpPr>
          <p:cNvPr id="30" name="Text 28"/>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Formulas: documentacion de Didomi y de Axeptio. Benchmark: Didomi, mercados europeos, datos 2025.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22225">
            <a:solidFill>
              <a:srgbClr val="CBFF3D"/>
            </a:solidFill>
            <a:prstDash val="solid"/>
          </a:ln>
        </p:spPr>
      </p:sp>
      <p:sp>
        <p:nvSpPr>
          <p:cNvPr id="3" name="Shape 1"/>
          <p:cNvSpPr/>
          <p:nvPr/>
        </p:nvSpPr>
        <p:spPr>
          <a:xfrm>
            <a:off x="10222992" y="402336"/>
            <a:ext cx="137160" cy="137160"/>
          </a:xfrm>
          <a:prstGeom prst="rect">
            <a:avLst/>
          </a:prstGeom>
          <a:solidFill>
            <a:srgbClr val="111412"/>
          </a:solidFill>
          <a:ln w="12700">
            <a:solidFill>
              <a:srgbClr val="2B2A28"/>
            </a:solidFill>
            <a:prstDash val="solid"/>
          </a:ln>
        </p:spPr>
      </p:sp>
      <p:sp>
        <p:nvSpPr>
          <p:cNvPr id="4" name="Shape 2"/>
          <p:cNvSpPr/>
          <p:nvPr/>
        </p:nvSpPr>
        <p:spPr>
          <a:xfrm>
            <a:off x="10428732" y="402336"/>
            <a:ext cx="137160" cy="137160"/>
          </a:xfrm>
          <a:prstGeom prst="rect">
            <a:avLst/>
          </a:prstGeom>
          <a:solidFill>
            <a:srgbClr val="111412"/>
          </a:solidFill>
          <a:ln w="12700">
            <a:solidFill>
              <a:srgbClr val="2B2A28"/>
            </a:solidFill>
            <a:prstDash val="solid"/>
          </a:ln>
        </p:spPr>
      </p:sp>
      <p:sp>
        <p:nvSpPr>
          <p:cNvPr id="5" name="Shape 3"/>
          <p:cNvSpPr/>
          <p:nvPr/>
        </p:nvSpPr>
        <p:spPr>
          <a:xfrm>
            <a:off x="10634472" y="402336"/>
            <a:ext cx="137160" cy="137160"/>
          </a:xfrm>
          <a:prstGeom prst="rect">
            <a:avLst/>
          </a:prstGeom>
          <a:solidFill>
            <a:srgbClr val="111412"/>
          </a:solidFill>
          <a:ln w="12700">
            <a:solidFill>
              <a:srgbClr val="2B2A28"/>
            </a:solidFill>
            <a:prstDash val="solid"/>
          </a:ln>
        </p:spPr>
      </p:sp>
      <p:sp>
        <p:nvSpPr>
          <p:cNvPr id="6" name="Shape 4"/>
          <p:cNvSpPr/>
          <p:nvPr/>
        </p:nvSpPr>
        <p:spPr>
          <a:xfrm>
            <a:off x="10840212" y="402336"/>
            <a:ext cx="137160" cy="137160"/>
          </a:xfrm>
          <a:prstGeom prst="rect">
            <a:avLst/>
          </a:prstGeom>
          <a:solidFill>
            <a:srgbClr val="111412"/>
          </a:solidFill>
          <a:ln w="12700">
            <a:solidFill>
              <a:srgbClr val="2B2A28"/>
            </a:solidFill>
            <a:prstDash val="solid"/>
          </a:ln>
        </p:spPr>
      </p:sp>
      <p:sp>
        <p:nvSpPr>
          <p:cNvPr id="7" name="Shape 5"/>
          <p:cNvSpPr/>
          <p:nvPr/>
        </p:nvSpPr>
        <p:spPr>
          <a:xfrm>
            <a:off x="11228832" y="402336"/>
            <a:ext cx="137160" cy="137160"/>
          </a:xfrm>
          <a:prstGeom prst="rect">
            <a:avLst/>
          </a:prstGeom>
          <a:solidFill>
            <a:srgbClr val="111412"/>
          </a:solidFill>
          <a:ln w="12700">
            <a:solidFill>
              <a:srgbClr val="2B2A28"/>
            </a:solidFill>
            <a:prstDash val="solid"/>
          </a:ln>
        </p:spPr>
      </p:sp>
      <p:sp>
        <p:nvSpPr>
          <p:cNvPr id="8" name="Shape 6"/>
          <p:cNvSpPr/>
          <p:nvPr/>
        </p:nvSpPr>
        <p:spPr>
          <a:xfrm>
            <a:off x="11434572" y="402336"/>
            <a:ext cx="137160" cy="137160"/>
          </a:xfrm>
          <a:prstGeom prst="rect">
            <a:avLst/>
          </a:prstGeom>
          <a:solidFill>
            <a:srgbClr val="111412"/>
          </a:solidFill>
          <a:ln w="12700">
            <a:solidFill>
              <a:srgbClr val="2B2A2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Y EL QUE ACEPTA TARDE, ACEPTA SIN ORIGEN</a:t>
            </a:r>
            <a:endParaRPr lang="en-US" sz="1100" dirty="0"/>
          </a:p>
        </p:txBody>
      </p:sp>
      <p:sp>
        <p:nvSpPr>
          <p:cNvPr id="11" name="Text 9"/>
          <p:cNvSpPr txBox="1"/>
          <p:nvPr/>
        </p:nvSpPr>
        <p:spPr>
          <a:xfrm>
            <a:off x="685800" y="1234440"/>
            <a:ext cx="4572000" cy="1828800"/>
          </a:xfrm>
          <a:prstGeom prst="rect">
            <a:avLst/>
          </a:prstGeom>
          <a:noFill/>
          <a:ln/>
        </p:spPr>
        <p:txBody>
          <a:bodyPr wrap="square" lIns="0" tIns="0" rIns="0" bIns="0" rtlCol="0" anchor="ctr"/>
          <a:lstStyle/>
          <a:p>
            <a:pPr algn="l" indent="0" marL="0">
              <a:buNone/>
            </a:pPr>
            <a:r>
              <a:rPr lang="en-US" sz="14000" b="1" dirty="0">
                <a:solidFill>
                  <a:srgbClr val="CBFF3D"/>
                </a:solidFill>
                <a:latin typeface="Onest" pitchFamily="34" charset="0"/>
                <a:ea typeface="Onest" pitchFamily="34" charset="-122"/>
                <a:cs typeface="Onest" pitchFamily="34" charset="-120"/>
              </a:rPr>
              <a:t>60%</a:t>
            </a:r>
            <a:endParaRPr lang="en-US" sz="14000" dirty="0"/>
          </a:p>
        </p:txBody>
      </p:sp>
      <p:sp>
        <p:nvSpPr>
          <p:cNvPr id="12" name="Text 10"/>
          <p:cNvSpPr txBox="1"/>
          <p:nvPr/>
        </p:nvSpPr>
        <p:spPr>
          <a:xfrm>
            <a:off x="685800" y="3246120"/>
            <a:ext cx="4297680" cy="1188720"/>
          </a:xfrm>
          <a:prstGeom prst="rect">
            <a:avLst/>
          </a:prstGeom>
          <a:noFill/>
          <a:ln/>
        </p:spPr>
        <p:txBody>
          <a:bodyPr wrap="square" lIns="0" tIns="0" rIns="0" bIns="0" rtlCol="0" anchor="t"/>
          <a:lstStyle/>
          <a:p>
            <a:pPr algn="l" indent="0" marL="0">
              <a:lnSpc>
                <a:spcPts val="2600"/>
              </a:lnSpc>
              <a:buNone/>
            </a:pPr>
            <a:r>
              <a:rPr lang="en-US" sz="1900" dirty="0">
                <a:solidFill>
                  <a:srgbClr val="A3A396"/>
                </a:solidFill>
                <a:latin typeface="Onest" pitchFamily="34" charset="0"/>
                <a:ea typeface="Onest" pitchFamily="34" charset="-122"/>
                <a:cs typeface="Onest" pitchFamily="34" charset="-120"/>
              </a:rPr>
              <a:t>de las ventas que SÍ mides no sabes de dónde vienen.</a:t>
            </a:r>
            <a:endParaRPr lang="en-US" sz="1900" dirty="0"/>
          </a:p>
        </p:txBody>
      </p:sp>
      <p:sp>
        <p:nvSpPr>
          <p:cNvPr id="13" name="Text 11"/>
          <p:cNvSpPr txBox="1"/>
          <p:nvPr/>
        </p:nvSpPr>
        <p:spPr>
          <a:xfrm>
            <a:off x="5623560" y="1325880"/>
            <a:ext cx="5879592" cy="1645920"/>
          </a:xfrm>
          <a:prstGeom prst="rect">
            <a:avLst/>
          </a:prstGeom>
          <a:noFill/>
          <a:ln/>
        </p:spPr>
        <p:txBody>
          <a:bodyPr wrap="square" lIns="0" tIns="0" rIns="0" bIns="0" rtlCol="0" anchor="t"/>
          <a:lstStyle/>
          <a:p>
            <a:pPr algn="l" indent="0" marL="0">
              <a:lnSpc>
                <a:spcPts val="2600"/>
              </a:lnSpc>
              <a:buNone/>
            </a:pPr>
            <a:r>
              <a:rPr lang="en-US" sz="1800" dirty="0">
                <a:solidFill>
                  <a:srgbClr val="F4F1E8"/>
                </a:solidFill>
                <a:latin typeface="Onest" pitchFamily="34" charset="0"/>
                <a:ea typeface="Onest" pitchFamily="34" charset="-122"/>
                <a:cs typeface="Onest" pitchFamily="34" charset="-120"/>
              </a:rPr>
              <a:t>El origen de una visita se captura en la PRIMERA página. Si alguien acepta en la segunda, en el carrito o en el checkout, has ganado un usuario medido al que ya le has perdido la procedencia.</a:t>
            </a:r>
            <a:endParaRPr lang="en-US" sz="1800" dirty="0"/>
          </a:p>
        </p:txBody>
      </p:sp>
      <p:sp>
        <p:nvSpPr>
          <p:cNvPr id="14" name="Text 12"/>
          <p:cNvSpPr txBox="1"/>
          <p:nvPr/>
        </p:nvSpPr>
        <p:spPr>
          <a:xfrm>
            <a:off x="5623560" y="3154680"/>
            <a:ext cx="5879592" cy="1463040"/>
          </a:xfrm>
          <a:prstGeom prst="rect">
            <a:avLst/>
          </a:prstGeom>
          <a:noFill/>
          <a:ln/>
        </p:spPr>
        <p:txBody>
          <a:bodyPr wrap="square" lIns="0" tIns="0" rIns="0" bIns="0" rtlCol="0" anchor="t"/>
          <a:lstStyle/>
          <a:p>
            <a:pPr algn="l" indent="0" marL="0">
              <a:lnSpc>
                <a:spcPts val="2100"/>
              </a:lnSpc>
              <a:buNone/>
            </a:pPr>
            <a:r>
              <a:rPr lang="en-US" sz="1500" dirty="0">
                <a:solidFill>
                  <a:srgbClr val="A3A396"/>
                </a:solidFill>
                <a:latin typeface="Onest" pitchFamily="34" charset="0"/>
                <a:ea typeface="Onest" pitchFamily="34" charset="-122"/>
                <a:cs typeface="Onest" pitchFamily="34" charset="-120"/>
              </a:rPr>
              <a:t>Sale del funnel de la slide anterior: de los 5 checkouts que mides, solo 2 aceptaron en la primera página. Los otros 3 entran en tu informe sin saber quién los trajo.</a:t>
            </a:r>
            <a:endParaRPr lang="en-US" sz="1500" dirty="0"/>
          </a:p>
        </p:txBody>
      </p:sp>
      <p:sp>
        <p:nvSpPr>
          <p:cNvPr id="15" name="Text 13"/>
          <p:cNvSpPr txBox="1"/>
          <p:nvPr/>
        </p:nvSpPr>
        <p:spPr>
          <a:xfrm>
            <a:off x="685800" y="5394960"/>
            <a:ext cx="9735617" cy="457200"/>
          </a:xfrm>
          <a:prstGeom prst="rect">
            <a:avLst/>
          </a:prstGeom>
          <a:noFill/>
          <a:ln/>
        </p:spPr>
        <p:txBody>
          <a:bodyPr wrap="square" lIns="0" tIns="0" rIns="0" bIns="0" rtlCol="0" anchor="ctr"/>
          <a:lstStyle/>
          <a:p>
            <a:pPr algn="l" indent="0" marL="0">
              <a:buNone/>
            </a:pPr>
            <a:r>
              <a:rPr lang="en-US" sz="2200" b="1" dirty="0">
                <a:solidFill>
                  <a:srgbClr val="CBFF3D"/>
                </a:solidFill>
                <a:latin typeface="Onest" pitchFamily="34" charset="0"/>
                <a:ea typeface="Onest" pitchFamily="34" charset="-122"/>
                <a:cs typeface="Onest" pitchFamily="34" charset="-120"/>
              </a:rPr>
              <a:t>Y ahí es donde nace el cubo de «Directo».</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22225">
            <a:solidFill>
              <a:srgbClr val="111412"/>
            </a:solidFill>
            <a:prstDash val="solid"/>
          </a:ln>
        </p:spPr>
      </p:sp>
      <p:sp>
        <p:nvSpPr>
          <p:cNvPr id="3" name="Shape 1"/>
          <p:cNvSpPr/>
          <p:nvPr/>
        </p:nvSpPr>
        <p:spPr>
          <a:xfrm>
            <a:off x="10222992" y="402336"/>
            <a:ext cx="137160" cy="137160"/>
          </a:xfrm>
          <a:prstGeom prst="rect">
            <a:avLst/>
          </a:prstGeom>
          <a:solidFill>
            <a:srgbClr val="F4F1E8"/>
          </a:solidFill>
          <a:ln w="12700">
            <a:solidFill>
              <a:srgbClr val="D4D4C8"/>
            </a:solidFill>
            <a:prstDash val="solid"/>
          </a:ln>
        </p:spPr>
      </p:sp>
      <p:sp>
        <p:nvSpPr>
          <p:cNvPr id="4" name="Shape 2"/>
          <p:cNvSpPr/>
          <p:nvPr/>
        </p:nvSpPr>
        <p:spPr>
          <a:xfrm>
            <a:off x="10428732" y="402336"/>
            <a:ext cx="137160" cy="137160"/>
          </a:xfrm>
          <a:prstGeom prst="rect">
            <a:avLst/>
          </a:prstGeom>
          <a:solidFill>
            <a:srgbClr val="F4F1E8"/>
          </a:solidFill>
          <a:ln w="12700">
            <a:solidFill>
              <a:srgbClr val="D4D4C8"/>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QUÉ EXIGE CONSENTIMIENTO Y QUÉ NO</a:t>
            </a:r>
            <a:endParaRPr lang="en-US" sz="1100" dirty="0"/>
          </a:p>
        </p:txBody>
      </p:sp>
      <p:sp>
        <p:nvSpPr>
          <p:cNvPr id="11" name="Text 9"/>
          <p:cNvSpPr txBox="1"/>
          <p:nvPr/>
        </p:nvSpPr>
        <p:spPr>
          <a:xfrm>
            <a:off x="685800" y="868680"/>
            <a:ext cx="10817352" cy="548640"/>
          </a:xfrm>
          <a:prstGeom prst="rect">
            <a:avLst/>
          </a:prstGeom>
          <a:noFill/>
          <a:ln/>
        </p:spPr>
        <p:txBody>
          <a:bodyPr wrap="square" lIns="0" tIns="0" rIns="0" bIns="0" rtlCol="0" anchor="ctr"/>
          <a:lstStyle/>
          <a:p>
            <a:pPr algn="l" indent="0" marL="0">
              <a:buNone/>
            </a:pPr>
            <a:r>
              <a:rPr lang="en-US" sz="2900" b="1" dirty="0">
                <a:solidFill>
                  <a:srgbClr val="111412"/>
                </a:solidFill>
                <a:latin typeface="Onest" pitchFamily="34" charset="0"/>
                <a:ea typeface="Onest" pitchFamily="34" charset="-122"/>
                <a:cs typeface="Onest" pitchFamily="34" charset="-120"/>
              </a:rPr>
              <a:t>No es la tecnología. Es si identificas a una persona.</a:t>
            </a:r>
            <a:endParaRPr lang="en-US" sz="2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10817352" cy="914400"/>
        </p:xfrm>
        <a:graphic>
          <a:graphicData uri="http://schemas.openxmlformats.org/drawingml/2006/table">
            <a:tbl>
              <a:tblPr/>
              <a:tblGrid>
                <a:gridCol w="3931920"/>
                <a:gridCol w="3200400"/>
                <a:gridCol w="2651760"/>
                <a:gridCol w="1033272"/>
              </a:tblGrid>
              <a:tr h="384048">
                <a:tc>
                  <a:txBody>
                    <a:bodyPr/>
                    <a:lstStyle/>
                    <a:p>
                      <a:pPr algn="l" indent="0" marL="0">
                        <a:buNone/>
                      </a:pPr>
                      <a:r>
                        <a:rPr lang="en-US" sz="950" b="1" dirty="0">
                          <a:solidFill>
                            <a:srgbClr val="CBFF3D"/>
                          </a:solidFill>
                          <a:latin typeface="JetBrains Mono" pitchFamily="34" charset="0"/>
                          <a:ea typeface="JetBrains Mono" pitchFamily="34" charset="-122"/>
                          <a:cs typeface="JetBrains Mono" pitchFamily="34" charset="-120"/>
                        </a:rPr>
                        <a:t>Técnica de medición</a:t>
                      </a:r>
                      <a:endParaRPr lang="en-US" sz="95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l" indent="0" marL="0">
                        <a:buNone/>
                      </a:pPr>
                      <a:r>
                        <a:rPr lang="en-US" sz="950" b="1" dirty="0">
                          <a:solidFill>
                            <a:srgbClr val="CBFF3D"/>
                          </a:solidFill>
                          <a:latin typeface="JetBrains Mono" pitchFamily="34" charset="0"/>
                          <a:ea typeface="JetBrains Mono" pitchFamily="34" charset="-122"/>
                          <a:cs typeface="JetBrains Mono" pitchFamily="34" charset="-120"/>
                        </a:rPr>
                        <a:t>¿Guarda/lee en el dispositivo?</a:t>
                      </a:r>
                      <a:endParaRPr lang="en-US" sz="95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l" indent="0" marL="0">
                        <a:buNone/>
                      </a:pPr>
                      <a:r>
                        <a:rPr lang="en-US" sz="950" b="1" dirty="0">
                          <a:solidFill>
                            <a:srgbClr val="CBFF3D"/>
                          </a:solidFill>
                          <a:latin typeface="JetBrains Mono" pitchFamily="34" charset="0"/>
                          <a:ea typeface="JetBrains Mono" pitchFamily="34" charset="-122"/>
                          <a:cs typeface="JetBrains Mono" pitchFamily="34" charset="-120"/>
                        </a:rPr>
                        <a:t>¿Datos personales?</a:t>
                      </a:r>
                      <a:endParaRPr lang="en-US" sz="95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950" b="1" dirty="0">
                          <a:solidFill>
                            <a:srgbClr val="CBFF3D"/>
                          </a:solidFill>
                          <a:latin typeface="JetBrains Mono" pitchFamily="34" charset="0"/>
                          <a:ea typeface="JetBrains Mono" pitchFamily="34" charset="-122"/>
                          <a:cs typeface="JetBrains Mono" pitchFamily="34" charset="-120"/>
                        </a:rPr>
                        <a:t>¿Consent.?</a:t>
                      </a:r>
                      <a:endParaRPr lang="en-US" sz="95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Cookies de terceros (publicidad, retargeting)</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Cookies propias de analítica (GA4)</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client ID, IP</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localStorage / sessionStorage</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Según el contenido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Fingerprinting (huella de dispositivo)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lee del dispositivo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es un identificador</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Píxeles publicitarios (Meta, TikTok, Google Ads)</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b="1" dirty="0">
                          <a:solidFill>
                            <a:srgbClr val="111412"/>
                          </a:solidFill>
                          <a:latin typeface="Onest" pitchFamily="34" charset="0"/>
                          <a:ea typeface="Onest" pitchFamily="34" charset="-122"/>
                          <a:cs typeface="Onest" pitchFamily="34" charset="-120"/>
                        </a:rPr>
                        <a:t>Server-side tracking CON ID de usuario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el ID vive en el dispositivo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r>
              <a:tr h="384048">
                <a:tc>
                  <a:txBody>
                    <a:bodyPr/>
                    <a:lstStyle/>
                    <a:p>
                      <a:pPr indent="0" marL="0">
                        <a:buNone/>
                      </a:pPr>
                      <a:r>
                        <a:rPr lang="en-US" sz="1200" b="1" dirty="0">
                          <a:solidFill>
                            <a:srgbClr val="111412"/>
                          </a:solidFill>
                          <a:latin typeface="Onest" pitchFamily="34" charset="0"/>
                          <a:ea typeface="Onest" pitchFamily="34" charset="-122"/>
                          <a:cs typeface="Onest" pitchFamily="34" charset="-120"/>
                        </a:rPr>
                        <a:t>Server-side sin ID, pero enviando la IP</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No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la IP es dato personal</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r>
              <a:tr h="384048">
                <a:tc>
                  <a:txBody>
                    <a:bodyPr/>
                    <a:lstStyle/>
                    <a:p>
                      <a:pPr indent="0" marL="0">
                        <a:buNone/>
                      </a:pPr>
                      <a:r>
                        <a:rPr lang="en-US" sz="1200" dirty="0">
                          <a:solidFill>
                            <a:srgbClr val="111412"/>
                          </a:solidFill>
                          <a:latin typeface="Onest" pitchFamily="34" charset="0"/>
                          <a:ea typeface="Onest" pitchFamily="34" charset="-122"/>
                          <a:cs typeface="Onest" pitchFamily="34" charset="-120"/>
                        </a:rPr>
                        <a:t>Consent Mode v2 / datos modelados</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 — sigue habiendo cookie</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Sí</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100" b="1" dirty="0">
                          <a:solidFill>
                            <a:srgbClr val="B5423B"/>
                          </a:solidFill>
                          <a:latin typeface="JetBrains Mono" pitchFamily="34" charset="0"/>
                          <a:ea typeface="JetBrains Mono" pitchFamily="34" charset="-122"/>
                          <a:cs typeface="JetBrains Mono" pitchFamily="34" charset="-120"/>
                        </a:rPr>
                        <a:t>SÍ</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384048">
                <a:tc>
                  <a:txBody>
                    <a:bodyPr/>
                    <a:lstStyle/>
                    <a:p>
                      <a:pPr indent="0" marL="0">
                        <a:buNone/>
                      </a:pPr>
                      <a:r>
                        <a:rPr lang="en-US" sz="1200" b="1" dirty="0">
                          <a:solidFill>
                            <a:srgbClr val="111412"/>
                          </a:solidFill>
                          <a:latin typeface="Onest" pitchFamily="34" charset="0"/>
                          <a:ea typeface="Onest" pitchFamily="34" charset="-122"/>
                          <a:cs typeface="Onest" pitchFamily="34" charset="-120"/>
                        </a:rPr>
                        <a:t>Medición agregada: sin cookies, sin IP, sin ID</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No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indent="0" marL="0">
                        <a:buNone/>
                      </a:pPr>
                      <a:r>
                        <a:rPr lang="en-US" sz="1200" dirty="0">
                          <a:solidFill>
                            <a:srgbClr val="6B6B5E"/>
                          </a:solidFill>
                          <a:latin typeface="Onest" pitchFamily="34" charset="0"/>
                          <a:ea typeface="Onest" pitchFamily="34" charset="-122"/>
                          <a:cs typeface="Onest" pitchFamily="34" charset="-120"/>
                        </a:rPr>
                        <a:t>No</a:t>
                      </a:r>
                      <a:endParaRPr lang="en-US" sz="1200" dirty="0">
                        <a:latin typeface="Onest" charset="0"/>
                        <a:ea typeface="Onest" charset="0"/>
                        <a:cs typeface="Onest"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100" b="1" dirty="0">
                          <a:solidFill>
                            <a:srgbClr val="2D8B6D"/>
                          </a:solidFill>
                          <a:latin typeface="JetBrains Mono" pitchFamily="34" charset="0"/>
                          <a:ea typeface="JetBrains Mono" pitchFamily="34" charset="-122"/>
                          <a:cs typeface="JetBrains Mono" pitchFamily="34" charset="-120"/>
                        </a:rPr>
                        <a:t>NO</a:t>
                      </a:r>
                      <a:endParaRPr lang="en-US" sz="1100" dirty="0">
                        <a:latin typeface="JetBrains Mono" charset="0"/>
                        <a:ea typeface="JetBrains Mono" charset="0"/>
                        <a:cs typeface="JetBrains Mono" charset="0"/>
                      </a:endParaRPr>
                    </a:p>
                  </a:txBody>
                  <a:tcPr marL="64008" marR="64008" marT="64008" marB="64008"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r>
            </a:tbl>
          </a:graphicData>
        </a:graphic>
      </p:graphicFrame>
      <p:sp>
        <p:nvSpPr>
          <p:cNvPr id="13" name="Text 10"/>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Las dos filas rojas: server-side cambia donde se procesa el dato, no si identificas a una persona.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22225">
            <a:solidFill>
              <a:srgbClr val="111412"/>
            </a:solidFill>
            <a:prstDash val="solid"/>
          </a:ln>
        </p:spPr>
      </p:sp>
      <p:sp>
        <p:nvSpPr>
          <p:cNvPr id="3" name="Shape 1"/>
          <p:cNvSpPr/>
          <p:nvPr/>
        </p:nvSpPr>
        <p:spPr>
          <a:xfrm>
            <a:off x="10222992" y="402336"/>
            <a:ext cx="137160" cy="137160"/>
          </a:xfrm>
          <a:prstGeom prst="rect">
            <a:avLst/>
          </a:prstGeom>
          <a:solidFill>
            <a:srgbClr val="F4F1E8"/>
          </a:solidFill>
          <a:ln w="12700">
            <a:solidFill>
              <a:srgbClr val="D4D4C8"/>
            </a:solidFill>
            <a:prstDash val="solid"/>
          </a:ln>
        </p:spPr>
      </p:sp>
      <p:sp>
        <p:nvSpPr>
          <p:cNvPr id="4" name="Shape 2"/>
          <p:cNvSpPr/>
          <p:nvPr/>
        </p:nvSpPr>
        <p:spPr>
          <a:xfrm>
            <a:off x="10428732" y="402336"/>
            <a:ext cx="137160" cy="137160"/>
          </a:xfrm>
          <a:prstGeom prst="rect">
            <a:avLst/>
          </a:prstGeom>
          <a:solidFill>
            <a:srgbClr val="F4F1E8"/>
          </a:solidFill>
          <a:ln w="12700">
            <a:solidFill>
              <a:srgbClr val="D4D4C8"/>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EL PRECIO DE LA EXENCIÓN</a:t>
            </a:r>
            <a:endParaRPr lang="en-US" sz="1100" dirty="0"/>
          </a:p>
        </p:txBody>
      </p:sp>
      <p:sp>
        <p:nvSpPr>
          <p:cNvPr id="11" name="Text 9"/>
          <p:cNvSpPr txBox="1"/>
          <p:nvPr/>
        </p:nvSpPr>
        <p:spPr>
          <a:xfrm>
            <a:off x="685800" y="1005840"/>
            <a:ext cx="10817352" cy="640080"/>
          </a:xfrm>
          <a:prstGeom prst="rect">
            <a:avLst/>
          </a:prstGeom>
          <a:noFill/>
          <a:ln/>
        </p:spPr>
        <p:txBody>
          <a:bodyPr wrap="square" lIns="0" tIns="0" rIns="0" bIns="0" rtlCol="0" anchor="ctr"/>
          <a:lstStyle/>
          <a:p>
            <a:pPr algn="l" indent="0" marL="0">
              <a:buNone/>
            </a:pPr>
            <a:r>
              <a:rPr lang="en-US" sz="3600" b="1" dirty="0">
                <a:solidFill>
                  <a:srgbClr val="111412"/>
                </a:solidFill>
                <a:latin typeface="Onest" pitchFamily="34" charset="0"/>
                <a:ea typeface="Onest" pitchFamily="34" charset="-122"/>
                <a:cs typeface="Onest" pitchFamily="34" charset="-120"/>
              </a:rPr>
              <a:t>Lo que pierdes, y lo que ganas.</a:t>
            </a:r>
            <a:endParaRPr lang="en-US" sz="3600" dirty="0"/>
          </a:p>
        </p:txBody>
      </p:sp>
      <p:sp>
        <p:nvSpPr>
          <p:cNvPr id="12" name="Text 10"/>
          <p:cNvSpPr txBox="1"/>
          <p:nvPr/>
        </p:nvSpPr>
        <p:spPr>
          <a:xfrm>
            <a:off x="685800" y="2011680"/>
            <a:ext cx="5271516" cy="320040"/>
          </a:xfrm>
          <a:prstGeom prst="rect">
            <a:avLst/>
          </a:prstGeom>
          <a:noFill/>
          <a:ln/>
        </p:spPr>
        <p:txBody>
          <a:bodyPr wrap="square" lIns="0" tIns="0" rIns="0" bIns="0" rtlCol="0" anchor="ctr"/>
          <a:lstStyle/>
          <a:p>
            <a:pPr algn="l" indent="0" marL="0">
              <a:buNone/>
            </a:pPr>
            <a:r>
              <a:rPr lang="en-US" sz="1100" b="1" spc="150" kern="0" dirty="0">
                <a:solidFill>
                  <a:srgbClr val="B5423B"/>
                </a:solidFill>
                <a:latin typeface="JetBrains Mono" pitchFamily="34" charset="0"/>
                <a:ea typeface="JetBrains Mono" pitchFamily="34" charset="-122"/>
                <a:cs typeface="JetBrains Mono" pitchFamily="34" charset="-120"/>
              </a:rPr>
              <a:t>LO QUE NO PUEDES</a:t>
            </a:r>
            <a:endParaRPr lang="en-US" sz="1100" dirty="0"/>
          </a:p>
        </p:txBody>
      </p:sp>
      <p:sp>
        <p:nvSpPr>
          <p:cNvPr id="13" name="Text 11"/>
          <p:cNvSpPr txBox="1"/>
          <p:nvPr/>
        </p:nvSpPr>
        <p:spPr>
          <a:xfrm>
            <a:off x="685800" y="2468880"/>
            <a:ext cx="5271516" cy="1737360"/>
          </a:xfrm>
          <a:prstGeom prst="rect">
            <a:avLst/>
          </a:prstGeom>
          <a:noFill/>
          <a:ln/>
        </p:spPr>
        <p:txBody>
          <a:bodyPr wrap="square" lIns="0" tIns="0" rIns="0" bIns="0" rtlCol="0" anchor="ctr"/>
          <a:lstStyle/>
          <a:p>
            <a:pPr algn="l" marL="342900" indent="-342900">
              <a:lnSpc>
                <a:spcPts val="2200"/>
              </a:lnSpc>
              <a:spcAft>
                <a:spcPts val="1000"/>
              </a:spcAft>
              <a:buSzPct val="100000"/>
              <a:buChar char="•"/>
            </a:pPr>
            <a:r>
              <a:rPr lang="en-US" sz="1600" dirty="0">
                <a:solidFill>
                  <a:srgbClr val="111412"/>
                </a:solidFill>
                <a:latin typeface="Onest" pitchFamily="34" charset="0"/>
                <a:ea typeface="Onest" pitchFamily="34" charset="-122"/>
                <a:cs typeface="Onest" pitchFamily="34" charset="-120"/>
              </a:rPr>
              <a:t>Reconstruir el recorrido individual de un usuario.</a:t>
            </a:r>
            <a:endParaRPr lang="en-US" sz="1600" dirty="0"/>
          </a:p>
          <a:p>
            <a:pPr algn="l" marL="342900" indent="-342900">
              <a:lnSpc>
                <a:spcPts val="2200"/>
              </a:lnSpc>
              <a:spcAft>
                <a:spcPts val="1000"/>
              </a:spcAft>
              <a:buSzPct val="100000"/>
              <a:buChar char="•"/>
            </a:pPr>
            <a:r>
              <a:rPr lang="en-US" sz="1600" dirty="0">
                <a:solidFill>
                  <a:srgbClr val="111412"/>
                </a:solidFill>
                <a:latin typeface="Onest" pitchFamily="34" charset="0"/>
                <a:ea typeface="Onest" pitchFamily="34" charset="-122"/>
                <a:cs typeface="Onest" pitchFamily="34" charset="-120"/>
              </a:rPr>
              <a:t>Hacer atribución multi-touch: requiere identificadores personales.</a:t>
            </a:r>
            <a:endParaRPr lang="en-US" sz="1600" dirty="0"/>
          </a:p>
        </p:txBody>
      </p:sp>
      <p:sp>
        <p:nvSpPr>
          <p:cNvPr id="14" name="Text 12"/>
          <p:cNvSpPr txBox="1"/>
          <p:nvPr/>
        </p:nvSpPr>
        <p:spPr>
          <a:xfrm>
            <a:off x="6231636" y="2011680"/>
            <a:ext cx="5271516" cy="320040"/>
          </a:xfrm>
          <a:prstGeom prst="rect">
            <a:avLst/>
          </a:prstGeom>
          <a:noFill/>
          <a:ln/>
        </p:spPr>
        <p:txBody>
          <a:bodyPr wrap="square" lIns="0" tIns="0" rIns="0" bIns="0" rtlCol="0" anchor="ctr"/>
          <a:lstStyle/>
          <a:p>
            <a:pPr algn="l" indent="0" marL="0">
              <a:buNone/>
            </a:pPr>
            <a:r>
              <a:rPr lang="en-US" sz="1100" b="1" spc="150" kern="0" dirty="0">
                <a:solidFill>
                  <a:srgbClr val="2D8B6D"/>
                </a:solidFill>
                <a:latin typeface="JetBrains Mono" pitchFamily="34" charset="0"/>
                <a:ea typeface="JetBrains Mono" pitchFamily="34" charset="-122"/>
                <a:cs typeface="JetBrains Mono" pitchFamily="34" charset="-120"/>
              </a:rPr>
              <a:t>LO QUE SÍ PUEDES</a:t>
            </a:r>
            <a:endParaRPr lang="en-US" sz="1100" dirty="0"/>
          </a:p>
        </p:txBody>
      </p:sp>
      <p:sp>
        <p:nvSpPr>
          <p:cNvPr id="15" name="Text 13"/>
          <p:cNvSpPr txBox="1"/>
          <p:nvPr/>
        </p:nvSpPr>
        <p:spPr>
          <a:xfrm>
            <a:off x="6231636" y="2468880"/>
            <a:ext cx="5271516" cy="1737360"/>
          </a:xfrm>
          <a:prstGeom prst="rect">
            <a:avLst/>
          </a:prstGeom>
          <a:noFill/>
          <a:ln/>
        </p:spPr>
        <p:txBody>
          <a:bodyPr wrap="square" lIns="0" tIns="0" rIns="0" bIns="0" rtlCol="0" anchor="ctr"/>
          <a:lstStyle/>
          <a:p>
            <a:pPr algn="l" marL="342900" indent="-342900">
              <a:lnSpc>
                <a:spcPts val="2200"/>
              </a:lnSpc>
              <a:spcAft>
                <a:spcPts val="1000"/>
              </a:spcAft>
              <a:buSzPct val="100000"/>
              <a:buChar char="•"/>
            </a:pPr>
            <a:r>
              <a:rPr lang="en-US" sz="1600" dirty="0">
                <a:solidFill>
                  <a:srgbClr val="111412"/>
                </a:solidFill>
                <a:latin typeface="Onest" pitchFamily="34" charset="0"/>
                <a:ea typeface="Onest" pitchFamily="34" charset="-122"/>
                <a:cs typeface="Onest" pitchFamily="34" charset="-120"/>
              </a:rPr>
              <a:t>Visitas, conversiones e ingresos por canal y campaña, de forma anónima y agregada.</a:t>
            </a:r>
            <a:endParaRPr lang="en-US" sz="1600" dirty="0"/>
          </a:p>
          <a:p>
            <a:pPr algn="l" marL="342900" indent="-342900">
              <a:lnSpc>
                <a:spcPts val="2200"/>
              </a:lnSpc>
              <a:spcAft>
                <a:spcPts val="1000"/>
              </a:spcAft>
              <a:buSzPct val="100000"/>
              <a:buChar char="•"/>
            </a:pPr>
            <a:r>
              <a:rPr lang="en-US" sz="1600" dirty="0">
                <a:solidFill>
                  <a:srgbClr val="111412"/>
                </a:solidFill>
                <a:latin typeface="Onest" pitchFamily="34" charset="0"/>
                <a:ea typeface="Onest" pitchFamily="34" charset="-122"/>
                <a:cs typeface="Onest" pitchFamily="34" charset="-120"/>
              </a:rPr>
              <a:t>Last-click sobre el 100% del tráfico, en vez de sobre una quinta parte.</a:t>
            </a:r>
            <a:endParaRPr lang="en-US" sz="1600" dirty="0"/>
          </a:p>
        </p:txBody>
      </p:sp>
      <p:sp>
        <p:nvSpPr>
          <p:cNvPr id="16" name="Text 14"/>
          <p:cNvSpPr txBox="1"/>
          <p:nvPr/>
        </p:nvSpPr>
        <p:spPr>
          <a:xfrm>
            <a:off x="685800" y="4526280"/>
            <a:ext cx="9735617" cy="1188720"/>
          </a:xfrm>
          <a:prstGeom prst="rect">
            <a:avLst/>
          </a:prstGeom>
          <a:noFill/>
          <a:ln/>
        </p:spPr>
        <p:txBody>
          <a:bodyPr wrap="square" lIns="0" tIns="0" rIns="0" bIns="0" rtlCol="0" anchor="ctr"/>
          <a:lstStyle/>
          <a:p>
            <a:pPr algn="l" indent="0" marL="0">
              <a:lnSpc>
                <a:spcPts val="2800"/>
              </a:lnSpc>
              <a:buNone/>
            </a:pPr>
            <a:r>
              <a:rPr lang="en-US" sz="2000" i="1" dirty="0">
                <a:solidFill>
                  <a:srgbClr val="6B6B5E"/>
                </a:solidFill>
                <a:latin typeface="Onest" pitchFamily="34" charset="0"/>
                <a:ea typeface="Onest" pitchFamily="34" charset="-122"/>
                <a:cs typeface="Onest" pitchFamily="34" charset="-120"/>
              </a:rPr>
              <a:t>«Y os lo digo yo, que vendo esto: si de verdad necesitáis el recorrido individual de una persona, necesitáis su consentimiento. No hay atajo, ni con nosotros ni con nadie.»</a:t>
            </a:r>
            <a:endParaRPr lang="en-US" sz="2000" dirty="0"/>
          </a:p>
        </p:txBody>
      </p:sp>
      <p:sp>
        <p:nvSpPr>
          <p:cNvPr id="17" name="Text 15"/>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EXTRA  ·  Incognito, F12 &gt; Application &gt; Cookies: cuantas se ponen ANTES de tocar el banner.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22225">
            <a:solidFill>
              <a:srgbClr val="CBFF3D"/>
            </a:solidFill>
            <a:prstDash val="solid"/>
          </a:ln>
        </p:spPr>
      </p:sp>
      <p:sp>
        <p:nvSpPr>
          <p:cNvPr id="4" name="Shape 2"/>
          <p:cNvSpPr/>
          <p:nvPr/>
        </p:nvSpPr>
        <p:spPr>
          <a:xfrm>
            <a:off x="10428732" y="402336"/>
            <a:ext cx="137160" cy="137160"/>
          </a:xfrm>
          <a:prstGeom prst="rect">
            <a:avLst/>
          </a:prstGeom>
          <a:solidFill>
            <a:srgbClr val="111412"/>
          </a:solidFill>
          <a:ln w="12700">
            <a:solidFill>
              <a:srgbClr val="2B2A28"/>
            </a:solidFill>
            <a:prstDash val="solid"/>
          </a:ln>
        </p:spPr>
      </p:sp>
      <p:sp>
        <p:nvSpPr>
          <p:cNvPr id="5" name="Shape 3"/>
          <p:cNvSpPr/>
          <p:nvPr/>
        </p:nvSpPr>
        <p:spPr>
          <a:xfrm>
            <a:off x="10634472" y="402336"/>
            <a:ext cx="137160" cy="137160"/>
          </a:xfrm>
          <a:prstGeom prst="rect">
            <a:avLst/>
          </a:prstGeom>
          <a:solidFill>
            <a:srgbClr val="111412"/>
          </a:solidFill>
          <a:ln w="12700">
            <a:solidFill>
              <a:srgbClr val="2B2A28"/>
            </a:solidFill>
            <a:prstDash val="solid"/>
          </a:ln>
        </p:spPr>
      </p:sp>
      <p:sp>
        <p:nvSpPr>
          <p:cNvPr id="6" name="Shape 4"/>
          <p:cNvSpPr/>
          <p:nvPr/>
        </p:nvSpPr>
        <p:spPr>
          <a:xfrm>
            <a:off x="10840212" y="402336"/>
            <a:ext cx="137160" cy="137160"/>
          </a:xfrm>
          <a:prstGeom prst="rect">
            <a:avLst/>
          </a:prstGeom>
          <a:solidFill>
            <a:srgbClr val="111412"/>
          </a:solidFill>
          <a:ln w="12700">
            <a:solidFill>
              <a:srgbClr val="2B2A28"/>
            </a:solidFill>
            <a:prstDash val="solid"/>
          </a:ln>
        </p:spPr>
      </p:sp>
      <p:sp>
        <p:nvSpPr>
          <p:cNvPr id="7" name="Shape 5"/>
          <p:cNvSpPr/>
          <p:nvPr/>
        </p:nvSpPr>
        <p:spPr>
          <a:xfrm>
            <a:off x="11228832" y="402336"/>
            <a:ext cx="137160" cy="137160"/>
          </a:xfrm>
          <a:prstGeom prst="rect">
            <a:avLst/>
          </a:prstGeom>
          <a:solidFill>
            <a:srgbClr val="111412"/>
          </a:solidFill>
          <a:ln w="12700">
            <a:solidFill>
              <a:srgbClr val="2B2A28"/>
            </a:solidFill>
            <a:prstDash val="solid"/>
          </a:ln>
        </p:spPr>
      </p:sp>
      <p:sp>
        <p:nvSpPr>
          <p:cNvPr id="8" name="Shape 6"/>
          <p:cNvSpPr/>
          <p:nvPr/>
        </p:nvSpPr>
        <p:spPr>
          <a:xfrm>
            <a:off x="11434572" y="402336"/>
            <a:ext cx="137160" cy="137160"/>
          </a:xfrm>
          <a:prstGeom prst="rect">
            <a:avLst/>
          </a:prstGeom>
          <a:solidFill>
            <a:srgbClr val="111412"/>
          </a:solidFill>
          <a:ln w="12700">
            <a:solidFill>
              <a:srgbClr val="2B2A2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FUGA 2 · EL PESO DEL PÍXEL</a:t>
            </a:r>
            <a:endParaRPr lang="en-US" sz="1100" dirty="0"/>
          </a:p>
        </p:txBody>
      </p:sp>
      <p:sp>
        <p:nvSpPr>
          <p:cNvPr id="11" name="Text 9"/>
          <p:cNvSpPr txBox="1"/>
          <p:nvPr/>
        </p:nvSpPr>
        <p:spPr>
          <a:xfrm>
            <a:off x="685800" y="1234440"/>
            <a:ext cx="4867808" cy="1920240"/>
          </a:xfrm>
          <a:prstGeom prst="rect">
            <a:avLst/>
          </a:prstGeom>
          <a:noFill/>
          <a:ln/>
        </p:spPr>
        <p:txBody>
          <a:bodyPr wrap="square" lIns="0" tIns="0" rIns="0" bIns="0" rtlCol="0" anchor="ctr"/>
          <a:lstStyle/>
          <a:p>
            <a:pPr algn="l" indent="0" marL="0">
              <a:buNone/>
            </a:pPr>
            <a:r>
              <a:rPr lang="en-US" sz="15000" b="1" dirty="0">
                <a:solidFill>
                  <a:srgbClr val="CBFF3D"/>
                </a:solidFill>
                <a:latin typeface="Onest" pitchFamily="34" charset="0"/>
                <a:ea typeface="Onest" pitchFamily="34" charset="-122"/>
                <a:cs typeface="Onest" pitchFamily="34" charset="-120"/>
              </a:rPr>
              <a:t>132×</a:t>
            </a:r>
            <a:endParaRPr lang="en-US" sz="15000" dirty="0"/>
          </a:p>
        </p:txBody>
      </p:sp>
      <p:sp>
        <p:nvSpPr>
          <p:cNvPr id="12" name="Text 10"/>
          <p:cNvSpPr txBox="1"/>
          <p:nvPr/>
        </p:nvSpPr>
        <p:spPr>
          <a:xfrm>
            <a:off x="685800" y="3200400"/>
            <a:ext cx="4759635" cy="1005840"/>
          </a:xfrm>
          <a:prstGeom prst="rect">
            <a:avLst/>
          </a:prstGeom>
          <a:noFill/>
          <a:ln/>
        </p:spPr>
        <p:txBody>
          <a:bodyPr wrap="square" lIns="0" tIns="0" rIns="0" bIns="0" rtlCol="0" anchor="t"/>
          <a:lstStyle/>
          <a:p>
            <a:pPr algn="l" indent="0" marL="0">
              <a:lnSpc>
                <a:spcPts val="2400"/>
              </a:lnSpc>
              <a:buNone/>
            </a:pPr>
            <a:r>
              <a:rPr lang="en-US" sz="1700" dirty="0">
                <a:solidFill>
                  <a:srgbClr val="A3A396"/>
                </a:solidFill>
                <a:latin typeface="Onest" pitchFamily="34" charset="0"/>
                <a:ea typeface="Onest" pitchFamily="34" charset="-122"/>
                <a:cs typeface="Onest" pitchFamily="34" charset="-120"/>
              </a:rPr>
              <a:t>más pesado es el script de GA4 que el nuestro.</a:t>
            </a:r>
            <a:endParaRPr lang="en-US" sz="1700" dirty="0"/>
          </a:p>
          <a:p>
            <a:pPr algn="l" indent="0" marL="0">
              <a:lnSpc>
                <a:spcPts val="2400"/>
              </a:lnSpc>
              <a:buNone/>
            </a:pPr>
            <a:r>
              <a:rPr lang="en-US" sz="1700" dirty="0">
                <a:solidFill>
                  <a:srgbClr val="A3A396"/>
                </a:solidFill>
                <a:latin typeface="Onest" pitchFamily="34" charset="0"/>
                <a:ea typeface="Onest" pitchFamily="34" charset="-122"/>
                <a:cs typeface="Onest" pitchFamily="34" charset="-120"/>
              </a:rPr>
              <a:t>Adobe, 155×.</a:t>
            </a:r>
            <a:endParaRPr lang="en-US" sz="1700" dirty="0"/>
          </a:p>
        </p:txBody>
      </p:sp>
      <p:sp>
        <p:nvSpPr>
          <p:cNvPr id="13" name="Shape 11"/>
          <p:cNvSpPr/>
          <p:nvPr/>
        </p:nvSpPr>
        <p:spPr>
          <a:xfrm>
            <a:off x="6094476" y="1325880"/>
            <a:ext cx="5408676" cy="2880360"/>
          </a:xfrm>
          <a:prstGeom prst="rect">
            <a:avLst/>
          </a:prstGeom>
          <a:solidFill>
            <a:srgbClr val="181C19"/>
          </a:solidFill>
          <a:ln w="12700">
            <a:solidFill>
              <a:srgbClr val="2B2A28"/>
            </a:solidFill>
            <a:prstDash val="solid"/>
          </a:ln>
        </p:spPr>
      </p:sp>
      <p:sp>
        <p:nvSpPr>
          <p:cNvPr id="14" name="Text 12"/>
          <p:cNvSpPr txBox="1"/>
          <p:nvPr/>
        </p:nvSpPr>
        <p:spPr>
          <a:xfrm>
            <a:off x="6460236" y="1600200"/>
            <a:ext cx="4677156" cy="1097280"/>
          </a:xfrm>
          <a:prstGeom prst="rect">
            <a:avLst/>
          </a:prstGeom>
          <a:noFill/>
          <a:ln/>
        </p:spPr>
        <p:txBody>
          <a:bodyPr wrap="square" lIns="0" tIns="0" rIns="0" bIns="0" rtlCol="0" anchor="ctr"/>
          <a:lstStyle/>
          <a:p>
            <a:pPr algn="l" indent="0" marL="0">
              <a:buNone/>
            </a:pPr>
            <a:r>
              <a:rPr lang="en-US" sz="7800" b="1" dirty="0">
                <a:solidFill>
                  <a:srgbClr val="E8837C"/>
                </a:solidFill>
                <a:latin typeface="Onest" pitchFamily="34" charset="0"/>
                <a:ea typeface="Onest" pitchFamily="34" charset="-122"/>
                <a:cs typeface="Onest" pitchFamily="34" charset="-120"/>
              </a:rPr>
              <a:t>15%</a:t>
            </a:r>
            <a:endParaRPr lang="en-US" sz="7800" dirty="0"/>
          </a:p>
        </p:txBody>
      </p:sp>
      <p:sp>
        <p:nvSpPr>
          <p:cNvPr id="15" name="Text 13"/>
          <p:cNvSpPr txBox="1"/>
          <p:nvPr/>
        </p:nvSpPr>
        <p:spPr>
          <a:xfrm>
            <a:off x="6460236" y="2743200"/>
            <a:ext cx="4677156" cy="1280160"/>
          </a:xfrm>
          <a:prstGeom prst="rect">
            <a:avLst/>
          </a:prstGeom>
          <a:noFill/>
          <a:ln/>
        </p:spPr>
        <p:txBody>
          <a:bodyPr wrap="square" lIns="0" tIns="0" rIns="0" bIns="0" rtlCol="0" anchor="t"/>
          <a:lstStyle/>
          <a:p>
            <a:pPr algn="l" indent="0" marL="0">
              <a:lnSpc>
                <a:spcPts val="2200"/>
              </a:lnSpc>
              <a:buNone/>
            </a:pPr>
            <a:r>
              <a:rPr lang="en-US" sz="1600" dirty="0">
                <a:solidFill>
                  <a:srgbClr val="F4F1E8"/>
                </a:solidFill>
                <a:latin typeface="Onest" pitchFamily="34" charset="0"/>
                <a:ea typeface="Onest" pitchFamily="34" charset="-122"/>
                <a:cs typeface="Onest" pitchFamily="34" charset="-120"/>
              </a:rPr>
              <a:t>de tus visitantes se va ANTES de que el pixel llegue a dispararse. Esa visita no se mide mal: no existe en el informe.</a:t>
            </a:r>
            <a:endParaRPr lang="en-US" sz="1600" dirty="0"/>
          </a:p>
        </p:txBody>
      </p:sp>
      <p:sp>
        <p:nvSpPr>
          <p:cNvPr id="16" name="Text 14"/>
          <p:cNvSpPr txBox="1"/>
          <p:nvPr/>
        </p:nvSpPr>
        <p:spPr>
          <a:xfrm>
            <a:off x="685800" y="4526280"/>
            <a:ext cx="9951964" cy="822960"/>
          </a:xfrm>
          <a:prstGeom prst="rect">
            <a:avLst/>
          </a:prstGeom>
          <a:noFill/>
          <a:ln/>
        </p:spPr>
        <p:txBody>
          <a:bodyPr wrap="square" lIns="0" tIns="0" rIns="0" bIns="0" rtlCol="0" anchor="ctr"/>
          <a:lstStyle/>
          <a:p>
            <a:pPr algn="l" indent="0" marL="0">
              <a:lnSpc>
                <a:spcPts val="2700"/>
              </a:lnSpc>
              <a:buNone/>
            </a:pPr>
            <a:r>
              <a:rPr lang="en-US" sz="2000" b="1" dirty="0">
                <a:solidFill>
                  <a:srgbClr val="F4F1E8"/>
                </a:solidFill>
                <a:latin typeface="Onest" pitchFamily="34" charset="0"/>
                <a:ea typeface="Onest" pitchFamily="34" charset="-122"/>
                <a:cs typeface="Onest" pitchFamily="34" charset="-120"/>
              </a:rPr>
              <a:t>Y esta pérdida se suma a la del banner: no se solapan. Es gente que ni siquiera llegó a ver el aviso de cookies.</a:t>
            </a:r>
            <a:endParaRPr lang="en-US" sz="2000" dirty="0"/>
          </a:p>
        </p:txBody>
      </p:sp>
      <p:sp>
        <p:nvSpPr>
          <p:cNvPr id="17" name="Text 15"/>
          <p:cNvSpPr txBox="1"/>
          <p:nvPr/>
        </p:nvSpPr>
        <p:spPr>
          <a:xfrm>
            <a:off x="685800" y="5394960"/>
            <a:ext cx="10817352" cy="411480"/>
          </a:xfrm>
          <a:prstGeom prst="rect">
            <a:avLst/>
          </a:prstGeom>
          <a:noFill/>
          <a:ln/>
        </p:spPr>
        <p:txBody>
          <a:bodyPr wrap="square" lIns="0" tIns="0" rIns="0" bIns="0" rtlCol="0" anchor="ctr"/>
          <a:lstStyle/>
          <a:p>
            <a:pPr algn="l" indent="0" marL="0">
              <a:buNone/>
            </a:pPr>
            <a:r>
              <a:rPr lang="en-US" sz="1200" b="1" dirty="0">
                <a:solidFill>
                  <a:srgbClr val="CBFF3D"/>
                </a:solidFill>
                <a:latin typeface="JetBrains Mono" pitchFamily="34" charset="0"/>
                <a:ea typeface="JetBrains Mono" pitchFamily="34" charset="-122"/>
                <a:cs typeface="JetBrains Mono" pitchFamily="34" charset="-120"/>
              </a:rPr>
              <a:t>100 ms de mejora de velocidad = +8,4% de conversión en eCommerce, +10,1% en travel.</a:t>
            </a:r>
            <a:endParaRPr lang="en-US" sz="1200" dirty="0"/>
          </a:p>
        </p:txBody>
      </p:sp>
      <p:sp>
        <p:nvSpPr>
          <p:cNvPr id="18" name="Text 16"/>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6B6B5E"/>
                </a:solidFill>
                <a:latin typeface="JetBrains Mono" pitchFamily="34" charset="0"/>
                <a:ea typeface="JetBrains Mono" pitchFamily="34" charset="-122"/>
                <a:cs typeface="JetBrains Mono" pitchFamily="34" charset="-120"/>
              </a:rPr>
              <a:t>TEST 2  ·  Mide tu web en PageSpeed Insights desde movil. Si pasa de 3 segundos, ya estas perdiendo visitas.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22225">
            <a:solidFill>
              <a:srgbClr val="111412"/>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FUGA 3 · «DIRECTO» NO ES UN CANAL. ES UNA FOSA COMÚN.</a:t>
            </a:r>
            <a:endParaRPr lang="en-US" sz="1100" dirty="0"/>
          </a:p>
        </p:txBody>
      </p:sp>
      <p:sp>
        <p:nvSpPr>
          <p:cNvPr id="11" name="Text 9"/>
          <p:cNvSpPr txBox="1"/>
          <p:nvPr/>
        </p:nvSpPr>
        <p:spPr>
          <a:xfrm>
            <a:off x="685800" y="868680"/>
            <a:ext cx="10817352" cy="548640"/>
          </a:xfrm>
          <a:prstGeom prst="rect">
            <a:avLst/>
          </a:prstGeom>
          <a:noFill/>
          <a:ln/>
        </p:spPr>
        <p:txBody>
          <a:bodyPr wrap="square" lIns="0" tIns="0" rIns="0" bIns="0" rtlCol="0" anchor="ctr"/>
          <a:lstStyle/>
          <a:p>
            <a:pPr algn="l" indent="0" marL="0">
              <a:buNone/>
            </a:pPr>
            <a:r>
              <a:rPr lang="en-US" sz="3000" b="1" dirty="0">
                <a:solidFill>
                  <a:srgbClr val="111412"/>
                </a:solidFill>
                <a:latin typeface="Onest" pitchFamily="34" charset="0"/>
                <a:ea typeface="Onest" pitchFamily="34" charset="-122"/>
                <a:cs typeface="Onest" pitchFamily="34" charset="-120"/>
              </a:rPr>
              <a:t>No se pierde lo mismo en todos los canales</a:t>
            </a:r>
            <a:endParaRPr lang="en-US" sz="3000" dirty="0"/>
          </a:p>
        </p:txBody>
      </p:sp>
      <p:sp>
        <p:nvSpPr>
          <p:cNvPr id="12" name="Text 10"/>
          <p:cNvSpPr txBox="1"/>
          <p:nvPr/>
        </p:nvSpPr>
        <p:spPr>
          <a:xfrm>
            <a:off x="685800" y="1572768"/>
            <a:ext cx="2331720" cy="365760"/>
          </a:xfrm>
          <a:prstGeom prst="rect">
            <a:avLst/>
          </a:prstGeom>
          <a:noFill/>
          <a:ln/>
        </p:spPr>
        <p:txBody>
          <a:bodyPr wrap="square" lIns="0" tIns="0" rIns="0" bIns="0" rtlCol="0" anchor="ctr"/>
          <a:lstStyle/>
          <a:p>
            <a:pPr algn="r" indent="0" marL="0">
              <a:buNone/>
            </a:pPr>
            <a:r>
              <a:rPr lang="en-US" sz="1450" dirty="0">
                <a:solidFill>
                  <a:srgbClr val="6B6B5E"/>
                </a:solidFill>
                <a:latin typeface="Onest" pitchFamily="34" charset="0"/>
                <a:ea typeface="Onest" pitchFamily="34" charset="-122"/>
                <a:cs typeface="Onest" pitchFamily="34" charset="-120"/>
              </a:rPr>
              <a:t>Directo</a:t>
            </a:r>
            <a:endParaRPr lang="en-US" sz="1450" dirty="0"/>
          </a:p>
        </p:txBody>
      </p:sp>
      <p:sp>
        <p:nvSpPr>
          <p:cNvPr id="13" name="Shape 11"/>
          <p:cNvSpPr/>
          <p:nvPr/>
        </p:nvSpPr>
        <p:spPr>
          <a:xfrm>
            <a:off x="3200400" y="1618488"/>
            <a:ext cx="6611112" cy="274320"/>
          </a:xfrm>
          <a:prstGeom prst="rect">
            <a:avLst/>
          </a:prstGeom>
          <a:solidFill>
            <a:srgbClr val="E4E0D1"/>
          </a:solidFill>
          <a:ln/>
        </p:spPr>
      </p:sp>
      <p:sp>
        <p:nvSpPr>
          <p:cNvPr id="14" name="Shape 12"/>
          <p:cNvSpPr/>
          <p:nvPr/>
        </p:nvSpPr>
        <p:spPr>
          <a:xfrm>
            <a:off x="3200400" y="1618488"/>
            <a:ext cx="548722" cy="274320"/>
          </a:xfrm>
          <a:prstGeom prst="rect">
            <a:avLst/>
          </a:prstGeom>
          <a:solidFill>
            <a:srgbClr val="A3A396"/>
          </a:solidFill>
          <a:ln/>
        </p:spPr>
      </p:sp>
      <p:sp>
        <p:nvSpPr>
          <p:cNvPr id="15" name="Text 13"/>
          <p:cNvSpPr txBox="1"/>
          <p:nvPr/>
        </p:nvSpPr>
        <p:spPr>
          <a:xfrm>
            <a:off x="9948672" y="1572768"/>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+11%</a:t>
            </a:r>
            <a:endParaRPr lang="en-US" sz="1300" dirty="0"/>
          </a:p>
        </p:txBody>
      </p:sp>
      <p:sp>
        <p:nvSpPr>
          <p:cNvPr id="16" name="Text 14"/>
          <p:cNvSpPr txBox="1"/>
          <p:nvPr/>
        </p:nvSpPr>
        <p:spPr>
          <a:xfrm>
            <a:off x="685800" y="2084832"/>
            <a:ext cx="2331720" cy="365760"/>
          </a:xfrm>
          <a:prstGeom prst="rect">
            <a:avLst/>
          </a:prstGeom>
          <a:noFill/>
          <a:ln/>
        </p:spPr>
        <p:txBody>
          <a:bodyPr wrap="square" lIns="0" tIns="0" rIns="0" bIns="0" rtlCol="0" anchor="ctr"/>
          <a:lstStyle/>
          <a:p>
            <a:pPr algn="r" indent="0" marL="0">
              <a:buNone/>
            </a:pPr>
            <a:r>
              <a:rPr lang="en-US" sz="1450" dirty="0">
                <a:solidFill>
                  <a:srgbClr val="6B6B5E"/>
                </a:solidFill>
                <a:latin typeface="Onest" pitchFamily="34" charset="0"/>
                <a:ea typeface="Onest" pitchFamily="34" charset="-122"/>
                <a:cs typeface="Onest" pitchFamily="34" charset="-120"/>
              </a:rPr>
              <a:t>Referral</a:t>
            </a:r>
            <a:endParaRPr lang="en-US" sz="1450" dirty="0"/>
          </a:p>
        </p:txBody>
      </p:sp>
      <p:sp>
        <p:nvSpPr>
          <p:cNvPr id="17" name="Shape 15"/>
          <p:cNvSpPr/>
          <p:nvPr/>
        </p:nvSpPr>
        <p:spPr>
          <a:xfrm>
            <a:off x="3200400" y="2130552"/>
            <a:ext cx="6611112" cy="274320"/>
          </a:xfrm>
          <a:prstGeom prst="rect">
            <a:avLst/>
          </a:prstGeom>
          <a:solidFill>
            <a:srgbClr val="E4E0D1"/>
          </a:solidFill>
          <a:ln/>
        </p:spPr>
      </p:sp>
      <p:sp>
        <p:nvSpPr>
          <p:cNvPr id="18" name="Shape 16"/>
          <p:cNvSpPr/>
          <p:nvPr/>
        </p:nvSpPr>
        <p:spPr>
          <a:xfrm>
            <a:off x="3200400" y="2130552"/>
            <a:ext cx="1176778" cy="274320"/>
          </a:xfrm>
          <a:prstGeom prst="rect">
            <a:avLst/>
          </a:prstGeom>
          <a:solidFill>
            <a:srgbClr val="A3A396"/>
          </a:solidFill>
          <a:ln/>
        </p:spPr>
      </p:sp>
      <p:sp>
        <p:nvSpPr>
          <p:cNvPr id="19" name="Text 17"/>
          <p:cNvSpPr txBox="1"/>
          <p:nvPr/>
        </p:nvSpPr>
        <p:spPr>
          <a:xfrm>
            <a:off x="9948672" y="2084832"/>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+24%</a:t>
            </a:r>
            <a:endParaRPr lang="en-US" sz="1300" dirty="0"/>
          </a:p>
        </p:txBody>
      </p:sp>
      <p:sp>
        <p:nvSpPr>
          <p:cNvPr id="20" name="Text 18"/>
          <p:cNvSpPr txBox="1"/>
          <p:nvPr/>
        </p:nvSpPr>
        <p:spPr>
          <a:xfrm>
            <a:off x="685800" y="2596896"/>
            <a:ext cx="2331720" cy="365760"/>
          </a:xfrm>
          <a:prstGeom prst="rect">
            <a:avLst/>
          </a:prstGeom>
          <a:noFill/>
          <a:ln/>
        </p:spPr>
        <p:txBody>
          <a:bodyPr wrap="square" lIns="0" tIns="0" rIns="0" bIns="0" rtlCol="0" anchor="ctr"/>
          <a:lstStyle/>
          <a:p>
            <a:pPr algn="r" indent="0" marL="0">
              <a:buNone/>
            </a:pPr>
            <a:r>
              <a:rPr lang="en-US" sz="1450" dirty="0">
                <a:solidFill>
                  <a:srgbClr val="6B6B5E"/>
                </a:solidFill>
                <a:latin typeface="Onest" pitchFamily="34" charset="0"/>
                <a:ea typeface="Onest" pitchFamily="34" charset="-122"/>
                <a:cs typeface="Onest" pitchFamily="34" charset="-120"/>
              </a:rPr>
              <a:t>Email</a:t>
            </a:r>
            <a:endParaRPr lang="en-US" sz="1450" dirty="0"/>
          </a:p>
        </p:txBody>
      </p:sp>
      <p:sp>
        <p:nvSpPr>
          <p:cNvPr id="21" name="Shape 19"/>
          <p:cNvSpPr/>
          <p:nvPr/>
        </p:nvSpPr>
        <p:spPr>
          <a:xfrm>
            <a:off x="3200400" y="2642616"/>
            <a:ext cx="6611112" cy="274320"/>
          </a:xfrm>
          <a:prstGeom prst="rect">
            <a:avLst/>
          </a:prstGeom>
          <a:solidFill>
            <a:srgbClr val="E4E0D1"/>
          </a:solidFill>
          <a:ln/>
        </p:spPr>
      </p:sp>
      <p:sp>
        <p:nvSpPr>
          <p:cNvPr id="22" name="Shape 20"/>
          <p:cNvSpPr/>
          <p:nvPr/>
        </p:nvSpPr>
        <p:spPr>
          <a:xfrm>
            <a:off x="3200400" y="2642616"/>
            <a:ext cx="1275945" cy="274320"/>
          </a:xfrm>
          <a:prstGeom prst="rect">
            <a:avLst/>
          </a:prstGeom>
          <a:solidFill>
            <a:srgbClr val="A3A396"/>
          </a:solidFill>
          <a:ln/>
        </p:spPr>
      </p:sp>
      <p:sp>
        <p:nvSpPr>
          <p:cNvPr id="23" name="Text 21"/>
          <p:cNvSpPr txBox="1"/>
          <p:nvPr/>
        </p:nvSpPr>
        <p:spPr>
          <a:xfrm>
            <a:off x="9948672" y="2596896"/>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+26%</a:t>
            </a:r>
            <a:endParaRPr lang="en-US" sz="1300" dirty="0"/>
          </a:p>
        </p:txBody>
      </p:sp>
      <p:sp>
        <p:nvSpPr>
          <p:cNvPr id="24" name="Text 22"/>
          <p:cNvSpPr txBox="1"/>
          <p:nvPr/>
        </p:nvSpPr>
        <p:spPr>
          <a:xfrm>
            <a:off x="685800" y="3108960"/>
            <a:ext cx="2331720" cy="365760"/>
          </a:xfrm>
          <a:prstGeom prst="rect">
            <a:avLst/>
          </a:prstGeom>
          <a:noFill/>
          <a:ln/>
        </p:spPr>
        <p:txBody>
          <a:bodyPr wrap="square" lIns="0" tIns="0" rIns="0" bIns="0" rtlCol="0" anchor="ctr"/>
          <a:lstStyle/>
          <a:p>
            <a:pPr algn="r" indent="0" marL="0">
              <a:buNone/>
            </a:pPr>
            <a:r>
              <a:rPr lang="en-US" sz="1450" dirty="0">
                <a:solidFill>
                  <a:srgbClr val="111412"/>
                </a:solidFill>
                <a:latin typeface="Onest" pitchFamily="34" charset="0"/>
                <a:ea typeface="Onest" pitchFamily="34" charset="-122"/>
                <a:cs typeface="Onest" pitchFamily="34" charset="-120"/>
              </a:rPr>
              <a:t>Campañas de pago</a:t>
            </a:r>
            <a:endParaRPr lang="en-US" sz="1450" dirty="0"/>
          </a:p>
        </p:txBody>
      </p:sp>
      <p:sp>
        <p:nvSpPr>
          <p:cNvPr id="25" name="Shape 23"/>
          <p:cNvSpPr/>
          <p:nvPr/>
        </p:nvSpPr>
        <p:spPr>
          <a:xfrm>
            <a:off x="3200400" y="3154680"/>
            <a:ext cx="6611112" cy="274320"/>
          </a:xfrm>
          <a:prstGeom prst="rect">
            <a:avLst/>
          </a:prstGeom>
          <a:solidFill>
            <a:srgbClr val="E4E0D1"/>
          </a:solidFill>
          <a:ln/>
        </p:spPr>
      </p:sp>
      <p:sp>
        <p:nvSpPr>
          <p:cNvPr id="26" name="Shape 24"/>
          <p:cNvSpPr/>
          <p:nvPr/>
        </p:nvSpPr>
        <p:spPr>
          <a:xfrm>
            <a:off x="3200400" y="3154680"/>
            <a:ext cx="2578334" cy="274320"/>
          </a:xfrm>
          <a:prstGeom prst="rect">
            <a:avLst/>
          </a:prstGeom>
          <a:solidFill>
            <a:srgbClr val="2D8B6D"/>
          </a:solidFill>
          <a:ln/>
        </p:spPr>
      </p:sp>
      <p:sp>
        <p:nvSpPr>
          <p:cNvPr id="27" name="Text 25"/>
          <p:cNvSpPr txBox="1"/>
          <p:nvPr/>
        </p:nvSpPr>
        <p:spPr>
          <a:xfrm>
            <a:off x="9948672" y="3108960"/>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+37 a +52%</a:t>
            </a:r>
            <a:endParaRPr lang="en-US" sz="1300" dirty="0"/>
          </a:p>
        </p:txBody>
      </p:sp>
      <p:sp>
        <p:nvSpPr>
          <p:cNvPr id="28" name="Text 26"/>
          <p:cNvSpPr txBox="1"/>
          <p:nvPr/>
        </p:nvSpPr>
        <p:spPr>
          <a:xfrm>
            <a:off x="685800" y="3621024"/>
            <a:ext cx="2331720" cy="365760"/>
          </a:xfrm>
          <a:prstGeom prst="rect">
            <a:avLst/>
          </a:prstGeom>
          <a:noFill/>
          <a:ln/>
        </p:spPr>
        <p:txBody>
          <a:bodyPr wrap="square" lIns="0" tIns="0" rIns="0" bIns="0" rtlCol="0" anchor="ctr"/>
          <a:lstStyle/>
          <a:p>
            <a:pPr algn="r" indent="0" marL="0">
              <a:buNone/>
            </a:pPr>
            <a:r>
              <a:rPr lang="en-US" sz="1450" dirty="0">
                <a:solidFill>
                  <a:srgbClr val="111412"/>
                </a:solidFill>
                <a:latin typeface="Onest" pitchFamily="34" charset="0"/>
                <a:ea typeface="Onest" pitchFamily="34" charset="-122"/>
                <a:cs typeface="Onest" pitchFamily="34" charset="-120"/>
              </a:rPr>
              <a:t>Buscador orgánico</a:t>
            </a:r>
            <a:endParaRPr lang="en-US" sz="1450" dirty="0"/>
          </a:p>
        </p:txBody>
      </p:sp>
      <p:sp>
        <p:nvSpPr>
          <p:cNvPr id="29" name="Shape 27"/>
          <p:cNvSpPr/>
          <p:nvPr/>
        </p:nvSpPr>
        <p:spPr>
          <a:xfrm>
            <a:off x="3200400" y="3666744"/>
            <a:ext cx="6611112" cy="274320"/>
          </a:xfrm>
          <a:prstGeom prst="rect">
            <a:avLst/>
          </a:prstGeom>
          <a:solidFill>
            <a:srgbClr val="E4E0D1"/>
          </a:solidFill>
          <a:ln/>
        </p:spPr>
      </p:sp>
      <p:sp>
        <p:nvSpPr>
          <p:cNvPr id="30" name="Shape 28"/>
          <p:cNvSpPr/>
          <p:nvPr/>
        </p:nvSpPr>
        <p:spPr>
          <a:xfrm>
            <a:off x="3200400" y="3666744"/>
            <a:ext cx="3074167" cy="274320"/>
          </a:xfrm>
          <a:prstGeom prst="rect">
            <a:avLst/>
          </a:prstGeom>
          <a:solidFill>
            <a:srgbClr val="2D8B6D"/>
          </a:solidFill>
          <a:ln/>
        </p:spPr>
      </p:sp>
      <p:sp>
        <p:nvSpPr>
          <p:cNvPr id="31" name="Text 29"/>
          <p:cNvSpPr txBox="1"/>
          <p:nvPr/>
        </p:nvSpPr>
        <p:spPr>
          <a:xfrm>
            <a:off x="9948672" y="3621024"/>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+62%</a:t>
            </a:r>
            <a:endParaRPr lang="en-US" sz="1300" dirty="0"/>
          </a:p>
        </p:txBody>
      </p:sp>
      <p:sp>
        <p:nvSpPr>
          <p:cNvPr id="32" name="Text 30"/>
          <p:cNvSpPr txBox="1"/>
          <p:nvPr/>
        </p:nvSpPr>
        <p:spPr>
          <a:xfrm>
            <a:off x="685800" y="4133088"/>
            <a:ext cx="2331720" cy="365760"/>
          </a:xfrm>
          <a:prstGeom prst="rect">
            <a:avLst/>
          </a:prstGeom>
          <a:noFill/>
          <a:ln/>
        </p:spPr>
        <p:txBody>
          <a:bodyPr wrap="square" lIns="0" tIns="0" rIns="0" bIns="0" rtlCol="0" anchor="ctr"/>
          <a:lstStyle/>
          <a:p>
            <a:pPr algn="r" indent="0" marL="0">
              <a:buNone/>
            </a:pPr>
            <a:r>
              <a:rPr lang="en-US" sz="1450" dirty="0">
                <a:solidFill>
                  <a:srgbClr val="111412"/>
                </a:solidFill>
                <a:latin typeface="Onest" pitchFamily="34" charset="0"/>
                <a:ea typeface="Onest" pitchFamily="34" charset="-122"/>
                <a:cs typeface="Onest" pitchFamily="34" charset="-120"/>
              </a:rPr>
              <a:t>Afiliación</a:t>
            </a:r>
            <a:endParaRPr lang="en-US" sz="1450" dirty="0"/>
          </a:p>
        </p:txBody>
      </p:sp>
      <p:sp>
        <p:nvSpPr>
          <p:cNvPr id="33" name="Shape 31"/>
          <p:cNvSpPr/>
          <p:nvPr/>
        </p:nvSpPr>
        <p:spPr>
          <a:xfrm>
            <a:off x="3200400" y="4178808"/>
            <a:ext cx="6611112" cy="274320"/>
          </a:xfrm>
          <a:prstGeom prst="rect">
            <a:avLst/>
          </a:prstGeom>
          <a:solidFill>
            <a:srgbClr val="E4E0D1"/>
          </a:solidFill>
          <a:ln/>
        </p:spPr>
      </p:sp>
      <p:sp>
        <p:nvSpPr>
          <p:cNvPr id="34" name="Shape 32"/>
          <p:cNvSpPr/>
          <p:nvPr/>
        </p:nvSpPr>
        <p:spPr>
          <a:xfrm>
            <a:off x="3200400" y="4178808"/>
            <a:ext cx="3609667" cy="274320"/>
          </a:xfrm>
          <a:prstGeom prst="rect">
            <a:avLst/>
          </a:prstGeom>
          <a:solidFill>
            <a:srgbClr val="2D8B6D"/>
          </a:solidFill>
          <a:ln/>
        </p:spPr>
      </p:sp>
      <p:sp>
        <p:nvSpPr>
          <p:cNvPr id="35" name="Text 33"/>
          <p:cNvSpPr txBox="1"/>
          <p:nvPr/>
        </p:nvSpPr>
        <p:spPr>
          <a:xfrm>
            <a:off x="9948672" y="4133088"/>
            <a:ext cx="1463040" cy="365760"/>
          </a:xfrm>
          <a:prstGeom prst="rect">
            <a:avLst/>
          </a:prstGeom>
          <a:noFill/>
          <a:ln/>
        </p:spPr>
        <p:txBody>
          <a:bodyPr wrap="square" lIns="0" tIns="0" rIns="0" bIns="0" rtlCol="0" anchor="ctr"/>
          <a:lstStyle/>
          <a:p>
            <a:pPr algn="l" indent="0" marL="0">
              <a:buNone/>
            </a:pPr>
            <a:r>
              <a:rPr lang="en-US" sz="1300" dirty="0">
                <a:solidFill>
                  <a:srgbClr val="111412"/>
                </a:solidFill>
                <a:latin typeface="JetBrains Mono" pitchFamily="34" charset="0"/>
                <a:ea typeface="JetBrains Mono" pitchFamily="34" charset="-122"/>
                <a:cs typeface="JetBrains Mono" pitchFamily="34" charset="-120"/>
              </a:rPr>
              <a:t>+73%</a:t>
            </a:r>
            <a:endParaRPr lang="en-US" sz="1300" dirty="0"/>
          </a:p>
        </p:txBody>
      </p:sp>
      <p:sp>
        <p:nvSpPr>
          <p:cNvPr id="36" name="Text 34"/>
          <p:cNvSpPr txBox="1"/>
          <p:nvPr/>
        </p:nvSpPr>
        <p:spPr>
          <a:xfrm>
            <a:off x="685800" y="4645152"/>
            <a:ext cx="2331720" cy="365760"/>
          </a:xfrm>
          <a:prstGeom prst="rect">
            <a:avLst/>
          </a:prstGeom>
          <a:noFill/>
          <a:ln/>
        </p:spPr>
        <p:txBody>
          <a:bodyPr wrap="square" lIns="0" tIns="0" rIns="0" bIns="0" rtlCol="0" anchor="ctr"/>
          <a:lstStyle/>
          <a:p>
            <a:pPr algn="r" indent="0" marL="0">
              <a:buNone/>
            </a:pPr>
            <a:r>
              <a:rPr lang="en-US" sz="1450" b="1" dirty="0">
                <a:solidFill>
                  <a:srgbClr val="111412"/>
                </a:solidFill>
                <a:latin typeface="Onest" pitchFamily="34" charset="0"/>
                <a:ea typeface="Onest" pitchFamily="34" charset="-122"/>
                <a:cs typeface="Onest" pitchFamily="34" charset="-120"/>
              </a:rPr>
              <a:t>Redes sociales</a:t>
            </a:r>
            <a:endParaRPr lang="en-US" sz="1450" dirty="0"/>
          </a:p>
        </p:txBody>
      </p:sp>
      <p:sp>
        <p:nvSpPr>
          <p:cNvPr id="37" name="Shape 35"/>
          <p:cNvSpPr/>
          <p:nvPr/>
        </p:nvSpPr>
        <p:spPr>
          <a:xfrm>
            <a:off x="3200400" y="4690872"/>
            <a:ext cx="6611112" cy="274320"/>
          </a:xfrm>
          <a:prstGeom prst="rect">
            <a:avLst/>
          </a:prstGeom>
          <a:solidFill>
            <a:srgbClr val="E4E0D1"/>
          </a:solidFill>
          <a:ln/>
        </p:spPr>
      </p:sp>
      <p:sp>
        <p:nvSpPr>
          <p:cNvPr id="38" name="Shape 36"/>
          <p:cNvSpPr/>
          <p:nvPr/>
        </p:nvSpPr>
        <p:spPr>
          <a:xfrm>
            <a:off x="3200400" y="4690872"/>
            <a:ext cx="6611112" cy="274320"/>
          </a:xfrm>
          <a:prstGeom prst="rect">
            <a:avLst/>
          </a:prstGeom>
          <a:solidFill>
            <a:srgbClr val="B5423B"/>
          </a:solidFill>
          <a:ln/>
        </p:spPr>
      </p:sp>
      <p:sp>
        <p:nvSpPr>
          <p:cNvPr id="39" name="Text 37"/>
          <p:cNvSpPr txBox="1"/>
          <p:nvPr/>
        </p:nvSpPr>
        <p:spPr>
          <a:xfrm>
            <a:off x="9948672" y="4645152"/>
            <a:ext cx="1463040" cy="365760"/>
          </a:xfrm>
          <a:prstGeom prst="rect">
            <a:avLst/>
          </a:prstGeom>
          <a:noFill/>
          <a:ln/>
        </p:spPr>
        <p:txBody>
          <a:bodyPr wrap="square" lIns="0" tIns="0" rIns="0" bIns="0" rtlCol="0" anchor="ctr"/>
          <a:lstStyle/>
          <a:p>
            <a:pPr algn="l" indent="0" marL="0">
              <a:buNone/>
            </a:pPr>
            <a:r>
              <a:rPr lang="en-US" sz="1300" b="1" dirty="0">
                <a:solidFill>
                  <a:srgbClr val="B5423B"/>
                </a:solidFill>
                <a:latin typeface="JetBrains Mono" pitchFamily="34" charset="0"/>
                <a:ea typeface="JetBrains Mono" pitchFamily="34" charset="-122"/>
                <a:cs typeface="JetBrains Mono" pitchFamily="34" charset="-120"/>
              </a:rPr>
              <a:t>+133%</a:t>
            </a:r>
            <a:endParaRPr lang="en-US" sz="1300" dirty="0"/>
          </a:p>
        </p:txBody>
      </p:sp>
      <p:sp>
        <p:nvSpPr>
          <p:cNvPr id="40" name="Text 38"/>
          <p:cNvSpPr txBox="1"/>
          <p:nvPr/>
        </p:nvSpPr>
        <p:spPr>
          <a:xfrm>
            <a:off x="685800" y="5349240"/>
            <a:ext cx="9951964" cy="822960"/>
          </a:xfrm>
          <a:prstGeom prst="rect">
            <a:avLst/>
          </a:prstGeom>
          <a:noFill/>
          <a:ln/>
        </p:spPr>
        <p:txBody>
          <a:bodyPr wrap="square" lIns="0" tIns="0" rIns="0" bIns="0" rtlCol="0" anchor="ctr"/>
          <a:lstStyle/>
          <a:p>
            <a:pPr algn="l" indent="0" marL="0">
              <a:lnSpc>
                <a:spcPts val="2700"/>
              </a:lnSpc>
              <a:buNone/>
            </a:pPr>
            <a:r>
              <a:rPr lang="en-US" sz="2000" b="1" dirty="0">
                <a:solidFill>
                  <a:srgbClr val="111412"/>
                </a:solidFill>
                <a:latin typeface="Onest" pitchFamily="34" charset="0"/>
                <a:ea typeface="Onest" pitchFamily="34" charset="-122"/>
                <a:cs typeface="Onest" pitchFamily="34" charset="-120"/>
              </a:rPr>
              <a:t>Los canales de gente que ya te conoce apenas cambian. Los que traen gente nueva pierden hasta doce veces más.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22225">
            <a:solidFill>
              <a:srgbClr val="111412"/>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Y ESTO ES INJUSTO CON TU PROPIO TRABAJO</a:t>
            </a:r>
            <a:endParaRPr lang="en-US" sz="1100" dirty="0"/>
          </a:p>
        </p:txBody>
      </p:sp>
      <p:sp>
        <p:nvSpPr>
          <p:cNvPr id="11" name="Text 9"/>
          <p:cNvSpPr txBox="1"/>
          <p:nvPr/>
        </p:nvSpPr>
        <p:spPr>
          <a:xfrm>
            <a:off x="685800" y="868680"/>
            <a:ext cx="9194749" cy="685800"/>
          </a:xfrm>
          <a:prstGeom prst="rect">
            <a:avLst/>
          </a:prstGeom>
          <a:noFill/>
          <a:ln/>
        </p:spPr>
        <p:txBody>
          <a:bodyPr wrap="square" lIns="0" tIns="0" rIns="0" bIns="0" rtlCol="0" anchor="ctr"/>
          <a:lstStyle/>
          <a:p>
            <a:pPr algn="l" indent="0" marL="0">
              <a:buNone/>
            </a:pPr>
            <a:r>
              <a:rPr lang="en-US" sz="3400" b="1" dirty="0">
                <a:solidFill>
                  <a:srgbClr val="111412"/>
                </a:solidFill>
                <a:latin typeface="Onest" pitchFamily="34" charset="0"/>
                <a:ea typeface="Onest" pitchFamily="34" charset="-122"/>
                <a:cs typeface="Onest" pitchFamily="34" charset="-120"/>
              </a:rPr>
              <a:t>Tu web no tiene 1,6 páginas por sesión.</a:t>
            </a:r>
            <a:endParaRPr lang="en-US" sz="3400" dirty="0"/>
          </a:p>
        </p:txBody>
      </p:sp>
      <p:sp>
        <p:nvSpPr>
          <p:cNvPr id="12" name="Text 10"/>
          <p:cNvSpPr txBox="1"/>
          <p:nvPr/>
        </p:nvSpPr>
        <p:spPr>
          <a:xfrm>
            <a:off x="685800" y="1783080"/>
            <a:ext cx="3200400" cy="713232"/>
          </a:xfrm>
          <a:prstGeom prst="rect">
            <a:avLst/>
          </a:prstGeom>
          <a:noFill/>
          <a:ln/>
        </p:spPr>
        <p:txBody>
          <a:bodyPr wrap="square" lIns="0" tIns="0" rIns="0" bIns="0" rtlCol="0" anchor="ctr"/>
          <a:lstStyle/>
          <a:p>
            <a:pPr algn="r" indent="0" marL="0">
              <a:buNone/>
            </a:pPr>
            <a:r>
              <a:rPr lang="en-US" sz="1500" dirty="0">
                <a:solidFill>
                  <a:srgbClr val="6B6B5E"/>
                </a:solidFill>
                <a:latin typeface="Onest" pitchFamily="34" charset="0"/>
                <a:ea typeface="Onest" pitchFamily="34" charset="-122"/>
                <a:cs typeface="Onest" pitchFamily="34" charset="-120"/>
              </a:rPr>
              <a:t>Lo que te dice GA4</a:t>
            </a:r>
            <a:endParaRPr lang="en-US" sz="1500" dirty="0"/>
          </a:p>
        </p:txBody>
      </p:sp>
      <p:sp>
        <p:nvSpPr>
          <p:cNvPr id="13" name="Shape 11"/>
          <p:cNvSpPr/>
          <p:nvPr/>
        </p:nvSpPr>
        <p:spPr>
          <a:xfrm>
            <a:off x="4160520" y="1856232"/>
            <a:ext cx="2984647" cy="566928"/>
          </a:xfrm>
          <a:prstGeom prst="rect">
            <a:avLst/>
          </a:prstGeom>
          <a:solidFill>
            <a:srgbClr val="A3A396"/>
          </a:solidFill>
          <a:ln/>
        </p:spPr>
      </p:sp>
      <p:sp>
        <p:nvSpPr>
          <p:cNvPr id="14" name="Text 12"/>
          <p:cNvSpPr txBox="1"/>
          <p:nvPr/>
        </p:nvSpPr>
        <p:spPr>
          <a:xfrm>
            <a:off x="4297680" y="1856232"/>
            <a:ext cx="1828800" cy="566928"/>
          </a:xfrm>
          <a:prstGeom prst="rect">
            <a:avLst/>
          </a:prstGeom>
          <a:noFill/>
          <a:ln/>
        </p:spPr>
        <p:txBody>
          <a:bodyPr wrap="square" lIns="0" tIns="0" rIns="0" bIns="0" rtlCol="0" anchor="ctr"/>
          <a:lstStyle/>
          <a:p>
            <a:pPr algn="l" indent="0" marL="0">
              <a:buNone/>
            </a:pPr>
            <a:r>
              <a:rPr lang="en-US" sz="2600" b="1" dirty="0">
                <a:solidFill>
                  <a:srgbClr val="111412"/>
                </a:solidFill>
                <a:latin typeface="Onest" pitchFamily="34" charset="0"/>
                <a:ea typeface="Onest" pitchFamily="34" charset="-122"/>
                <a:cs typeface="Onest" pitchFamily="34" charset="-120"/>
              </a:rPr>
              <a:t>1,6</a:t>
            </a:r>
            <a:endParaRPr lang="en-US" sz="2600" dirty="0"/>
          </a:p>
        </p:txBody>
      </p:sp>
      <p:sp>
        <p:nvSpPr>
          <p:cNvPr id="15" name="Text 13"/>
          <p:cNvSpPr txBox="1"/>
          <p:nvPr/>
        </p:nvSpPr>
        <p:spPr>
          <a:xfrm>
            <a:off x="685800" y="2834640"/>
            <a:ext cx="3200400" cy="713232"/>
          </a:xfrm>
          <a:prstGeom prst="rect">
            <a:avLst/>
          </a:prstGeom>
          <a:noFill/>
          <a:ln/>
        </p:spPr>
        <p:txBody>
          <a:bodyPr wrap="square" lIns="0" tIns="0" rIns="0" bIns="0" rtlCol="0" anchor="ctr"/>
          <a:lstStyle/>
          <a:p>
            <a:pPr algn="r" indent="0" marL="0">
              <a:buNone/>
            </a:pPr>
            <a:r>
              <a:rPr lang="en-US" sz="1500" dirty="0">
                <a:solidFill>
                  <a:srgbClr val="111412"/>
                </a:solidFill>
                <a:latin typeface="Onest" pitchFamily="34" charset="0"/>
                <a:ea typeface="Onest" pitchFamily="34" charset="-122"/>
                <a:cs typeface="Onest" pitchFamily="34" charset="-120"/>
              </a:rPr>
              <a:t>Tu media real</a:t>
            </a:r>
            <a:endParaRPr lang="en-US" sz="1500" dirty="0"/>
          </a:p>
        </p:txBody>
      </p:sp>
      <p:sp>
        <p:nvSpPr>
          <p:cNvPr id="16" name="Shape 14"/>
          <p:cNvSpPr/>
          <p:nvPr/>
        </p:nvSpPr>
        <p:spPr>
          <a:xfrm>
            <a:off x="4160520" y="2907792"/>
            <a:ext cx="3938504" cy="566928"/>
          </a:xfrm>
          <a:prstGeom prst="rect">
            <a:avLst/>
          </a:prstGeom>
          <a:solidFill>
            <a:srgbClr val="2D8B6D"/>
          </a:solidFill>
          <a:ln/>
        </p:spPr>
      </p:sp>
      <p:sp>
        <p:nvSpPr>
          <p:cNvPr id="17" name="Text 15"/>
          <p:cNvSpPr txBox="1"/>
          <p:nvPr/>
        </p:nvSpPr>
        <p:spPr>
          <a:xfrm>
            <a:off x="4297680" y="2907792"/>
            <a:ext cx="1828800" cy="566928"/>
          </a:xfrm>
          <a:prstGeom prst="rect">
            <a:avLst/>
          </a:prstGeom>
          <a:noFill/>
          <a:ln/>
        </p:spPr>
        <p:txBody>
          <a:bodyPr wrap="square" lIns="0" tIns="0" rIns="0" bIns="0" rtlCol="0" anchor="ctr"/>
          <a:lstStyle/>
          <a:p>
            <a:pPr algn="l" indent="0" marL="0">
              <a:buNone/>
            </a:pPr>
            <a:r>
              <a:rPr lang="en-US" sz="2600" b="1" dirty="0">
                <a:solidFill>
                  <a:srgbClr val="FFFDF7"/>
                </a:solidFill>
                <a:latin typeface="Onest" pitchFamily="34" charset="0"/>
                <a:ea typeface="Onest" pitchFamily="34" charset="-122"/>
                <a:cs typeface="Onest" pitchFamily="34" charset="-120"/>
              </a:rPr>
              <a:t>2,1</a:t>
            </a:r>
            <a:endParaRPr lang="en-US" sz="2600" dirty="0"/>
          </a:p>
        </p:txBody>
      </p:sp>
      <p:sp>
        <p:nvSpPr>
          <p:cNvPr id="18" name="Text 16"/>
          <p:cNvSpPr txBox="1"/>
          <p:nvPr/>
        </p:nvSpPr>
        <p:spPr>
          <a:xfrm>
            <a:off x="685800" y="3886200"/>
            <a:ext cx="3200400" cy="713232"/>
          </a:xfrm>
          <a:prstGeom prst="rect">
            <a:avLst/>
          </a:prstGeom>
          <a:noFill/>
          <a:ln/>
        </p:spPr>
        <p:txBody>
          <a:bodyPr wrap="square" lIns="0" tIns="0" rIns="0" bIns="0" rtlCol="0" anchor="ctr"/>
          <a:lstStyle/>
          <a:p>
            <a:pPr algn="r" indent="0" marL="0">
              <a:buNone/>
            </a:pPr>
            <a:r>
              <a:rPr lang="en-US" sz="1500" b="1" dirty="0">
                <a:solidFill>
                  <a:srgbClr val="111412"/>
                </a:solidFill>
                <a:latin typeface="Onest" pitchFamily="34" charset="0"/>
                <a:ea typeface="Onest" pitchFamily="34" charset="-122"/>
                <a:cs typeface="Onest" pitchFamily="34" charset="-120"/>
              </a:rPr>
              <a:t>Y el tráfico que GA4 no ve</a:t>
            </a:r>
            <a:endParaRPr lang="en-US" sz="1500" dirty="0"/>
          </a:p>
        </p:txBody>
      </p:sp>
      <p:sp>
        <p:nvSpPr>
          <p:cNvPr id="19" name="Shape 17"/>
          <p:cNvSpPr/>
          <p:nvPr/>
        </p:nvSpPr>
        <p:spPr>
          <a:xfrm>
            <a:off x="4160520" y="3959352"/>
            <a:ext cx="6153912" cy="566928"/>
          </a:xfrm>
          <a:prstGeom prst="rect">
            <a:avLst/>
          </a:prstGeom>
          <a:solidFill>
            <a:srgbClr val="B5423B"/>
          </a:solidFill>
          <a:ln/>
        </p:spPr>
      </p:sp>
      <p:sp>
        <p:nvSpPr>
          <p:cNvPr id="20" name="Text 18"/>
          <p:cNvSpPr txBox="1"/>
          <p:nvPr/>
        </p:nvSpPr>
        <p:spPr>
          <a:xfrm>
            <a:off x="4297680" y="3959352"/>
            <a:ext cx="1828800" cy="566928"/>
          </a:xfrm>
          <a:prstGeom prst="rect">
            <a:avLst/>
          </a:prstGeom>
          <a:noFill/>
          <a:ln/>
        </p:spPr>
        <p:txBody>
          <a:bodyPr wrap="square" lIns="0" tIns="0" rIns="0" bIns="0" rtlCol="0" anchor="ctr"/>
          <a:lstStyle/>
          <a:p>
            <a:pPr algn="l" indent="0" marL="0">
              <a:buNone/>
            </a:pPr>
            <a:r>
              <a:rPr lang="en-US" sz="2600" b="1" dirty="0">
                <a:solidFill>
                  <a:srgbClr val="FFFDF7"/>
                </a:solidFill>
                <a:latin typeface="Onest" pitchFamily="34" charset="0"/>
                <a:ea typeface="Onest" pitchFamily="34" charset="-122"/>
                <a:cs typeface="Onest" pitchFamily="34" charset="-120"/>
              </a:rPr>
              <a:t>3,3</a:t>
            </a:r>
            <a:endParaRPr lang="en-US" sz="2600" dirty="0"/>
          </a:p>
        </p:txBody>
      </p:sp>
      <p:sp>
        <p:nvSpPr>
          <p:cNvPr id="21" name="Text 19"/>
          <p:cNvSpPr txBox="1"/>
          <p:nvPr/>
        </p:nvSpPr>
        <p:spPr>
          <a:xfrm>
            <a:off x="685800" y="5029200"/>
            <a:ext cx="9951964" cy="914400"/>
          </a:xfrm>
          <a:prstGeom prst="rect">
            <a:avLst/>
          </a:prstGeom>
          <a:noFill/>
          <a:ln/>
        </p:spPr>
        <p:txBody>
          <a:bodyPr wrap="square" lIns="0" tIns="0" rIns="0" bIns="0" rtlCol="0" anchor="ctr"/>
          <a:lstStyle/>
          <a:p>
            <a:pPr algn="l" indent="0" marL="0">
              <a:lnSpc>
                <a:spcPts val="3000"/>
              </a:lnSpc>
              <a:buNone/>
            </a:pPr>
            <a:r>
              <a:rPr lang="en-US" sz="2300" b="1" dirty="0">
                <a:solidFill>
                  <a:srgbClr val="111412"/>
                </a:solidFill>
                <a:latin typeface="Onest" pitchFamily="34" charset="0"/>
                <a:ea typeface="Onest" pitchFamily="34" charset="-122"/>
                <a:cs typeface="Onest" pitchFamily="34" charset="-120"/>
              </a:rPr>
              <a:t>Llevas años creyendo que tu contenido no engancha. Engancha el doble de lo que te dice el informe.</a:t>
            </a:r>
            <a:endParaRPr lang="en-US" sz="2300" dirty="0"/>
          </a:p>
        </p:txBody>
      </p:sp>
      <p:sp>
        <p:nvSpPr>
          <p:cNvPr id="22" name="Text 20"/>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Al mismo cliente le faltaban 29 de cada 100 visitas, pero 45 de cada 100 paginas vistas.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22225">
            <a:solidFill>
              <a:srgbClr val="111412"/>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DE LA MEDICIÓN A LA DECISIÓN</a:t>
            </a:r>
            <a:endParaRPr lang="en-US" sz="1100" dirty="0"/>
          </a:p>
        </p:txBody>
      </p:sp>
      <p:sp>
        <p:nvSpPr>
          <p:cNvPr id="11" name="Text 9"/>
          <p:cNvSpPr txBox="1"/>
          <p:nvPr/>
        </p:nvSpPr>
        <p:spPr>
          <a:xfrm>
            <a:off x="685800" y="868680"/>
            <a:ext cx="9194749" cy="731520"/>
          </a:xfrm>
          <a:prstGeom prst="rect">
            <a:avLst/>
          </a:prstGeom>
          <a:noFill/>
          <a:ln/>
        </p:spPr>
        <p:txBody>
          <a:bodyPr wrap="square" lIns="0" tIns="0" rIns="0" bIns="0" rtlCol="0" anchor="ctr"/>
          <a:lstStyle/>
          <a:p>
            <a:pPr algn="l" indent="0" marL="0">
              <a:buNone/>
            </a:pPr>
            <a:r>
              <a:rPr lang="en-US" sz="3600" b="1" dirty="0">
                <a:solidFill>
                  <a:srgbClr val="111412"/>
                </a:solidFill>
                <a:latin typeface="Onest" pitchFamily="34" charset="0"/>
                <a:ea typeface="Onest" pitchFamily="34" charset="-122"/>
                <a:cs typeface="Onest" pitchFamily="34" charset="-120"/>
              </a:rPr>
              <a:t>El caso del canal que no cuadraba</a:t>
            </a:r>
            <a:endParaRPr lang="en-US" sz="3600" dirty="0"/>
          </a:p>
        </p:txBody>
      </p:sp>
      <p:sp>
        <p:nvSpPr>
          <p:cNvPr id="12" name="Text 10"/>
          <p:cNvSpPr txBox="1"/>
          <p:nvPr/>
        </p:nvSpPr>
        <p:spPr>
          <a:xfrm>
            <a:off x="685800" y="1645920"/>
            <a:ext cx="9194749" cy="457200"/>
          </a:xfrm>
          <a:prstGeom prst="rect">
            <a:avLst/>
          </a:prstGeom>
          <a:noFill/>
          <a:ln/>
        </p:spPr>
        <p:txBody>
          <a:bodyPr wrap="square" lIns="0" tIns="0" rIns="0" bIns="0" rtlCol="0" anchor="ctr"/>
          <a:lstStyle/>
          <a:p>
            <a:pPr algn="l" indent="0" marL="0">
              <a:buNone/>
            </a:pPr>
            <a:r>
              <a:rPr lang="en-US" sz="1900" dirty="0">
                <a:solidFill>
                  <a:srgbClr val="6B6B5E"/>
                </a:solidFill>
                <a:latin typeface="Onest" pitchFamily="34" charset="0"/>
                <a:ea typeface="Onest" pitchFamily="34" charset="-122"/>
                <a:cs typeface="Onest" pitchFamily="34" charset="-120"/>
              </a:rPr>
              <a:t>Qué pasa cuando la decisión se toma sobre el informe y no sobre la realidad.</a:t>
            </a:r>
            <a:endParaRPr lang="en-US" sz="1900" dirty="0"/>
          </a:p>
        </p:txBody>
      </p:sp>
      <p:sp>
        <p:nvSpPr>
          <p:cNvPr id="13" name="Text 11"/>
          <p:cNvSpPr txBox="1"/>
          <p:nvPr/>
        </p:nvSpPr>
        <p:spPr>
          <a:xfrm>
            <a:off x="685800" y="2423160"/>
            <a:ext cx="2103120" cy="685800"/>
          </a:xfrm>
          <a:prstGeom prst="rect">
            <a:avLst/>
          </a:prstGeom>
          <a:noFill/>
          <a:ln/>
        </p:spPr>
        <p:txBody>
          <a:bodyPr wrap="square" lIns="0" tIns="0" rIns="0" bIns="0" rtlCol="0" anchor="ctr"/>
          <a:lstStyle/>
          <a:p>
            <a:pPr algn="l" indent="0" marL="0">
              <a:buNone/>
            </a:pPr>
            <a:r>
              <a:rPr lang="en-US" sz="1050" b="1" spc="120" kern="0" dirty="0">
                <a:solidFill>
                  <a:srgbClr val="6B6B5E"/>
                </a:solidFill>
                <a:latin typeface="JetBrains Mono" pitchFamily="34" charset="0"/>
                <a:ea typeface="JetBrains Mono" pitchFamily="34" charset="-122"/>
                <a:cs typeface="JetBrains Mono" pitchFamily="34" charset="-120"/>
              </a:rPr>
              <a:t>LA ESCENA</a:t>
            </a:r>
            <a:endParaRPr lang="en-US" sz="1050" dirty="0"/>
          </a:p>
        </p:txBody>
      </p:sp>
      <p:sp>
        <p:nvSpPr>
          <p:cNvPr id="14" name="Text 12"/>
          <p:cNvSpPr txBox="1"/>
          <p:nvPr/>
        </p:nvSpPr>
        <p:spPr>
          <a:xfrm>
            <a:off x="3017520" y="2423160"/>
            <a:ext cx="8348472" cy="685800"/>
          </a:xfrm>
          <a:prstGeom prst="rect">
            <a:avLst/>
          </a:prstGeom>
          <a:noFill/>
          <a:ln/>
        </p:spPr>
        <p:txBody>
          <a:bodyPr wrap="square" lIns="0" tIns="0" rIns="0" bIns="0" rtlCol="0" anchor="ctr"/>
          <a:lstStyle/>
          <a:p>
            <a:pPr algn="l" indent="0" marL="0">
              <a:lnSpc>
                <a:spcPts val="2100"/>
              </a:lnSpc>
              <a:buNone/>
            </a:pPr>
            <a:r>
              <a:rPr lang="en-US" sz="1600" dirty="0">
                <a:solidFill>
                  <a:srgbClr val="111412"/>
                </a:solidFill>
                <a:latin typeface="Onest" pitchFamily="34" charset="0"/>
                <a:ea typeface="Onest" pitchFamily="34" charset="-122"/>
                <a:cs typeface="Onest" pitchFamily="34" charset="-120"/>
              </a:rPr>
              <a:t>TikTok aparece en el informe con cuatro ventas y un coste que no se justifica. Se corta. Decisión obvia y defendible en comité.</a:t>
            </a:r>
            <a:endParaRPr lang="en-US" sz="1600" dirty="0"/>
          </a:p>
        </p:txBody>
      </p:sp>
      <p:sp>
        <p:nvSpPr>
          <p:cNvPr id="15" name="Text 13"/>
          <p:cNvSpPr txBox="1"/>
          <p:nvPr/>
        </p:nvSpPr>
        <p:spPr>
          <a:xfrm>
            <a:off x="685800" y="3337560"/>
            <a:ext cx="2103120" cy="685800"/>
          </a:xfrm>
          <a:prstGeom prst="rect">
            <a:avLst/>
          </a:prstGeom>
          <a:noFill/>
          <a:ln/>
        </p:spPr>
        <p:txBody>
          <a:bodyPr wrap="square" lIns="0" tIns="0" rIns="0" bIns="0" rtlCol="0" anchor="ctr"/>
          <a:lstStyle/>
          <a:p>
            <a:pPr algn="l" indent="0" marL="0">
              <a:buNone/>
            </a:pPr>
            <a:r>
              <a:rPr lang="en-US" sz="1050" b="1" spc="120" kern="0" dirty="0">
                <a:solidFill>
                  <a:srgbClr val="B5423B"/>
                </a:solidFill>
                <a:latin typeface="JetBrains Mono" pitchFamily="34" charset="0"/>
                <a:ea typeface="JetBrains Mono" pitchFamily="34" charset="-122"/>
                <a:cs typeface="JetBrains Mono" pitchFamily="34" charset="-120"/>
              </a:rPr>
              <a:t>LO QUE PASABA</a:t>
            </a:r>
            <a:endParaRPr lang="en-US" sz="1050" dirty="0"/>
          </a:p>
        </p:txBody>
      </p:sp>
      <p:sp>
        <p:nvSpPr>
          <p:cNvPr id="16" name="Text 14"/>
          <p:cNvSpPr txBox="1"/>
          <p:nvPr/>
        </p:nvSpPr>
        <p:spPr>
          <a:xfrm>
            <a:off x="3017520" y="3337560"/>
            <a:ext cx="8348472" cy="685800"/>
          </a:xfrm>
          <a:prstGeom prst="rect">
            <a:avLst/>
          </a:prstGeom>
          <a:noFill/>
          <a:ln/>
        </p:spPr>
        <p:txBody>
          <a:bodyPr wrap="square" lIns="0" tIns="0" rIns="0" bIns="0" rtlCol="0" anchor="ctr"/>
          <a:lstStyle/>
          <a:p>
            <a:pPr algn="l" indent="0" marL="0">
              <a:lnSpc>
                <a:spcPts val="2100"/>
              </a:lnSpc>
              <a:buNone/>
            </a:pPr>
            <a:r>
              <a:rPr lang="en-US" sz="1600" dirty="0">
                <a:solidFill>
                  <a:srgbClr val="111412"/>
                </a:solidFill>
                <a:latin typeface="Onest" pitchFamily="34" charset="0"/>
                <a:ea typeface="Onest" pitchFamily="34" charset="-122"/>
                <a:cs typeface="Onest" pitchFamily="34" charset="-120"/>
              </a:rPr>
              <a:t>TikTok es descubrimiento puro: primer toque por definición. Es exactamente el canal que la fuga anterior borra.</a:t>
            </a:r>
            <a:endParaRPr lang="en-US" sz="1600" dirty="0"/>
          </a:p>
        </p:txBody>
      </p:sp>
      <p:sp>
        <p:nvSpPr>
          <p:cNvPr id="17" name="Text 15"/>
          <p:cNvSpPr txBox="1"/>
          <p:nvPr/>
        </p:nvSpPr>
        <p:spPr>
          <a:xfrm>
            <a:off x="685800" y="4251960"/>
            <a:ext cx="2103120" cy="685800"/>
          </a:xfrm>
          <a:prstGeom prst="rect">
            <a:avLst/>
          </a:prstGeom>
          <a:noFill/>
          <a:ln/>
        </p:spPr>
        <p:txBody>
          <a:bodyPr wrap="square" lIns="0" tIns="0" rIns="0" bIns="0" rtlCol="0" anchor="ctr"/>
          <a:lstStyle/>
          <a:p>
            <a:pPr algn="l" indent="0" marL="0">
              <a:buNone/>
            </a:pPr>
            <a:r>
              <a:rPr lang="en-US" sz="1050" b="1" spc="120" kern="0" dirty="0">
                <a:solidFill>
                  <a:srgbClr val="2D8B6D"/>
                </a:solidFill>
                <a:latin typeface="JetBrains Mono" pitchFamily="34" charset="0"/>
                <a:ea typeface="JetBrains Mono" pitchFamily="34" charset="-122"/>
                <a:cs typeface="JetBrains Mono" pitchFamily="34" charset="-120"/>
              </a:rPr>
              <a:t>LA DECISIÓN REAL</a:t>
            </a:r>
            <a:endParaRPr lang="en-US" sz="1050" dirty="0"/>
          </a:p>
        </p:txBody>
      </p:sp>
      <p:sp>
        <p:nvSpPr>
          <p:cNvPr id="18" name="Text 16"/>
          <p:cNvSpPr txBox="1"/>
          <p:nvPr/>
        </p:nvSpPr>
        <p:spPr>
          <a:xfrm>
            <a:off x="3017520" y="4251960"/>
            <a:ext cx="8348472" cy="685800"/>
          </a:xfrm>
          <a:prstGeom prst="rect">
            <a:avLst/>
          </a:prstGeom>
          <a:noFill/>
          <a:ln/>
        </p:spPr>
        <p:txBody>
          <a:bodyPr wrap="square" lIns="0" tIns="0" rIns="0" bIns="0" rtlCol="0" anchor="ctr"/>
          <a:lstStyle/>
          <a:p>
            <a:pPr algn="l" indent="0" marL="0">
              <a:lnSpc>
                <a:spcPts val="2100"/>
              </a:lnSpc>
              <a:buNone/>
            </a:pPr>
            <a:r>
              <a:rPr lang="en-US" sz="1600" dirty="0">
                <a:solidFill>
                  <a:srgbClr val="111412"/>
                </a:solidFill>
                <a:latin typeface="Onest" pitchFamily="34" charset="0"/>
                <a:ea typeface="Onest" pitchFamily="34" charset="-122"/>
                <a:cs typeface="Onest" pitchFamily="34" charset="-120"/>
              </a:rPr>
              <a:t>Un eCommerce de descanso, cliente nuestro, SUBIÓ su inversión en TikTok tras medir bien. Social dejó de ser canal de imagen y pasó a ser canal de venta.</a:t>
            </a:r>
            <a:endParaRPr lang="en-US" sz="1600" dirty="0"/>
          </a:p>
        </p:txBody>
      </p:sp>
      <p:sp>
        <p:nvSpPr>
          <p:cNvPr id="19" name="Text 17"/>
          <p:cNvSpPr txBox="1"/>
          <p:nvPr/>
        </p:nvSpPr>
        <p:spPr>
          <a:xfrm>
            <a:off x="685800" y="5212080"/>
            <a:ext cx="9735617" cy="548640"/>
          </a:xfrm>
          <a:prstGeom prst="rect">
            <a:avLst/>
          </a:prstGeom>
          <a:noFill/>
          <a:ln/>
        </p:spPr>
        <p:txBody>
          <a:bodyPr wrap="square" lIns="0" tIns="0" rIns="0" bIns="0" rtlCol="0" anchor="ctr"/>
          <a:lstStyle/>
          <a:p>
            <a:pPr algn="l" indent="0" marL="0">
              <a:buNone/>
            </a:pPr>
            <a:r>
              <a:rPr lang="en-US" sz="2600" b="1" dirty="0">
                <a:solidFill>
                  <a:srgbClr val="B5423B"/>
                </a:solidFill>
                <a:latin typeface="Onest" pitchFamily="34" charset="0"/>
                <a:ea typeface="Onest" pitchFamily="34" charset="-122"/>
                <a:cs typeface="Onest" pitchFamily="34" charset="-120"/>
              </a:rPr>
              <a:t>El canal que ibas a recortar era el que estaba vendiendo.</a:t>
            </a:r>
            <a:endParaRPr lang="en-US" sz="2600" dirty="0"/>
          </a:p>
        </p:txBody>
      </p:sp>
      <p:sp>
        <p:nvSpPr>
          <p:cNvPr id="20" name="Text 18"/>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3  ·  Que porcentaje de tus ventas esta en «Directo»? Si pasa del 20%, no tienes marca: tienes un agujero.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22225">
            <a:solidFill>
              <a:srgbClr val="111412"/>
            </a:solidFill>
            <a:prstDash val="solid"/>
          </a:ln>
        </p:spPr>
      </p:sp>
      <p:sp>
        <p:nvSpPr>
          <p:cNvPr id="5" name="Shape 3"/>
          <p:cNvSpPr/>
          <p:nvPr/>
        </p:nvSpPr>
        <p:spPr>
          <a:xfrm>
            <a:off x="10634472" y="402336"/>
            <a:ext cx="137160" cy="137160"/>
          </a:xfrm>
          <a:prstGeom prst="rect">
            <a:avLst/>
          </a:prstGeom>
          <a:solidFill>
            <a:srgbClr val="F4F1E8"/>
          </a:solidFill>
          <a:ln w="12700">
            <a:solidFill>
              <a:srgbClr val="D4D4C8"/>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CASO PUBLICADO · PALLADIUM HOTEL GROUP</a:t>
            </a:r>
            <a:endParaRPr lang="en-US" sz="1100" dirty="0"/>
          </a:p>
        </p:txBody>
      </p:sp>
      <p:sp>
        <p:nvSpPr>
          <p:cNvPr id="11" name="Text 9"/>
          <p:cNvSpPr txBox="1"/>
          <p:nvPr/>
        </p:nvSpPr>
        <p:spPr>
          <a:xfrm>
            <a:off x="685800" y="1371600"/>
            <a:ext cx="3240024" cy="1371600"/>
          </a:xfrm>
          <a:prstGeom prst="rect">
            <a:avLst/>
          </a:prstGeom>
          <a:noFill/>
          <a:ln/>
        </p:spPr>
        <p:txBody>
          <a:bodyPr wrap="square" lIns="0" tIns="0" rIns="0" bIns="0" rtlCol="0" anchor="ctr"/>
          <a:lstStyle/>
          <a:p>
            <a:pPr algn="l" indent="0" marL="0">
              <a:buNone/>
            </a:pPr>
            <a:r>
              <a:rPr lang="en-US" sz="6600" b="1" dirty="0">
                <a:solidFill>
                  <a:srgbClr val="111412"/>
                </a:solidFill>
                <a:latin typeface="Onest" pitchFamily="34" charset="0"/>
                <a:ea typeface="Onest" pitchFamily="34" charset="-122"/>
                <a:cs typeface="Onest" pitchFamily="34" charset="-120"/>
              </a:rPr>
              <a:t>40%</a:t>
            </a:r>
            <a:endParaRPr lang="en-US" sz="6600" dirty="0"/>
          </a:p>
        </p:txBody>
      </p:sp>
      <p:sp>
        <p:nvSpPr>
          <p:cNvPr id="12" name="Text 10"/>
          <p:cNvSpPr txBox="1"/>
          <p:nvPr/>
        </p:nvSpPr>
        <p:spPr>
          <a:xfrm>
            <a:off x="685800" y="2788920"/>
            <a:ext cx="3148584" cy="914400"/>
          </a:xfrm>
          <a:prstGeom prst="rect">
            <a:avLst/>
          </a:prstGeom>
          <a:noFill/>
          <a:ln/>
        </p:spPr>
        <p:txBody>
          <a:bodyPr wrap="square" lIns="0" tIns="0" rIns="0" bIns="0" rtlCol="0" anchor="t"/>
          <a:lstStyle/>
          <a:p>
            <a:pPr algn="l" indent="0" marL="0">
              <a:lnSpc>
                <a:spcPts val="2000"/>
              </a:lnSpc>
              <a:buNone/>
            </a:pPr>
            <a:r>
              <a:rPr lang="en-US" sz="1500" dirty="0">
                <a:solidFill>
                  <a:srgbClr val="6B6B5E"/>
                </a:solidFill>
                <a:latin typeface="Onest" pitchFamily="34" charset="0"/>
                <a:ea typeface="Onest" pitchFamily="34" charset="-122"/>
                <a:cs typeface="Onest" pitchFamily="34" charset="-120"/>
              </a:rPr>
              <a:t>del tráfico entrante sin source ni medium</a:t>
            </a:r>
            <a:endParaRPr lang="en-US" sz="1500" dirty="0"/>
          </a:p>
        </p:txBody>
      </p:sp>
      <p:sp>
        <p:nvSpPr>
          <p:cNvPr id="13" name="Text 11"/>
          <p:cNvSpPr txBox="1"/>
          <p:nvPr/>
        </p:nvSpPr>
        <p:spPr>
          <a:xfrm>
            <a:off x="4291584" y="1371600"/>
            <a:ext cx="3240024" cy="1371600"/>
          </a:xfrm>
          <a:prstGeom prst="rect">
            <a:avLst/>
          </a:prstGeom>
          <a:noFill/>
          <a:ln/>
        </p:spPr>
        <p:txBody>
          <a:bodyPr wrap="square" lIns="0" tIns="0" rIns="0" bIns="0" rtlCol="0" anchor="ctr"/>
          <a:lstStyle/>
          <a:p>
            <a:pPr algn="l" indent="0" marL="0">
              <a:buNone/>
            </a:pPr>
            <a:r>
              <a:rPr lang="en-US" sz="6600" b="1" dirty="0">
                <a:solidFill>
                  <a:srgbClr val="111412"/>
                </a:solidFill>
                <a:latin typeface="Onest" pitchFamily="34" charset="0"/>
                <a:ea typeface="Onest" pitchFamily="34" charset="-122"/>
                <a:cs typeface="Onest" pitchFamily="34" charset="-120"/>
              </a:rPr>
              <a:t>35%</a:t>
            </a:r>
            <a:endParaRPr lang="en-US" sz="6600" dirty="0"/>
          </a:p>
        </p:txBody>
      </p:sp>
      <p:sp>
        <p:nvSpPr>
          <p:cNvPr id="14" name="Text 12"/>
          <p:cNvSpPr txBox="1"/>
          <p:nvPr/>
        </p:nvSpPr>
        <p:spPr>
          <a:xfrm>
            <a:off x="4291584" y="2788920"/>
            <a:ext cx="3148584" cy="914400"/>
          </a:xfrm>
          <a:prstGeom prst="rect">
            <a:avLst/>
          </a:prstGeom>
          <a:noFill/>
          <a:ln/>
        </p:spPr>
        <p:txBody>
          <a:bodyPr wrap="square" lIns="0" tIns="0" rIns="0" bIns="0" rtlCol="0" anchor="t"/>
          <a:lstStyle/>
          <a:p>
            <a:pPr algn="l" indent="0" marL="0">
              <a:lnSpc>
                <a:spcPts val="2000"/>
              </a:lnSpc>
              <a:buNone/>
            </a:pPr>
            <a:r>
              <a:rPr lang="en-US" sz="1500" dirty="0">
                <a:solidFill>
                  <a:srgbClr val="6B6B5E"/>
                </a:solidFill>
                <a:latin typeface="Onest" pitchFamily="34" charset="0"/>
                <a:ea typeface="Onest" pitchFamily="34" charset="-122"/>
                <a:cs typeface="Onest" pitchFamily="34" charset="-120"/>
              </a:rPr>
              <a:t>de las reservas de GA4 sin canal asignado</a:t>
            </a:r>
            <a:endParaRPr lang="en-US" sz="1500" dirty="0"/>
          </a:p>
        </p:txBody>
      </p:sp>
      <p:sp>
        <p:nvSpPr>
          <p:cNvPr id="15" name="Text 13"/>
          <p:cNvSpPr txBox="1"/>
          <p:nvPr/>
        </p:nvSpPr>
        <p:spPr>
          <a:xfrm>
            <a:off x="7897368" y="1371600"/>
            <a:ext cx="3240024" cy="1371600"/>
          </a:xfrm>
          <a:prstGeom prst="rect">
            <a:avLst/>
          </a:prstGeom>
          <a:noFill/>
          <a:ln/>
        </p:spPr>
        <p:txBody>
          <a:bodyPr wrap="square" lIns="0" tIns="0" rIns="0" bIns="0" rtlCol="0" anchor="ctr"/>
          <a:lstStyle/>
          <a:p>
            <a:pPr algn="l" indent="0" marL="0">
              <a:buNone/>
            </a:pPr>
            <a:r>
              <a:rPr lang="en-US" sz="6600" b="1" dirty="0">
                <a:solidFill>
                  <a:srgbClr val="2D8B6D"/>
                </a:solidFill>
                <a:latin typeface="Onest" pitchFamily="34" charset="0"/>
                <a:ea typeface="Onest" pitchFamily="34" charset="-122"/>
                <a:cs typeface="Onest" pitchFamily="34" charset="-120"/>
              </a:rPr>
              <a:t>+165%</a:t>
            </a:r>
            <a:endParaRPr lang="en-US" sz="6600" dirty="0"/>
          </a:p>
        </p:txBody>
      </p:sp>
      <p:sp>
        <p:nvSpPr>
          <p:cNvPr id="16" name="Text 14"/>
          <p:cNvSpPr txBox="1"/>
          <p:nvPr/>
        </p:nvSpPr>
        <p:spPr>
          <a:xfrm>
            <a:off x="7897368" y="2788920"/>
            <a:ext cx="3148584" cy="914400"/>
          </a:xfrm>
          <a:prstGeom prst="rect">
            <a:avLst/>
          </a:prstGeom>
          <a:noFill/>
          <a:ln/>
        </p:spPr>
        <p:txBody>
          <a:bodyPr wrap="square" lIns="0" tIns="0" rIns="0" bIns="0" rtlCol="0" anchor="t"/>
          <a:lstStyle/>
          <a:p>
            <a:pPr algn="l" indent="0" marL="0">
              <a:lnSpc>
                <a:spcPts val="2000"/>
              </a:lnSpc>
              <a:buNone/>
            </a:pPr>
            <a:r>
              <a:rPr lang="en-US" sz="1500" dirty="0">
                <a:solidFill>
                  <a:srgbClr val="6B6B5E"/>
                </a:solidFill>
                <a:latin typeface="Onest" pitchFamily="34" charset="0"/>
                <a:ea typeface="Onest" pitchFamily="34" charset="-122"/>
                <a:cs typeface="Onest" pitchFamily="34" charset="-120"/>
              </a:rPr>
              <a:t>mejora del Coste por Búsqueda en Display</a:t>
            </a:r>
            <a:endParaRPr lang="en-US" sz="1500" dirty="0"/>
          </a:p>
        </p:txBody>
      </p:sp>
      <p:sp>
        <p:nvSpPr>
          <p:cNvPr id="17" name="Text 15"/>
          <p:cNvSpPr txBox="1"/>
          <p:nvPr/>
        </p:nvSpPr>
        <p:spPr>
          <a:xfrm>
            <a:off x="685800" y="4023360"/>
            <a:ext cx="9519270" cy="1005840"/>
          </a:xfrm>
          <a:prstGeom prst="rect">
            <a:avLst/>
          </a:prstGeom>
          <a:noFill/>
          <a:ln/>
        </p:spPr>
        <p:txBody>
          <a:bodyPr wrap="square" lIns="0" tIns="0" rIns="0" bIns="0" rtlCol="0" anchor="ctr"/>
          <a:lstStyle/>
          <a:p>
            <a:pPr algn="l" indent="0" marL="0">
              <a:lnSpc>
                <a:spcPts val="3000"/>
              </a:lnSpc>
              <a:buNone/>
            </a:pPr>
            <a:r>
              <a:rPr lang="en-US" sz="2300" i="1" dirty="0">
                <a:solidFill>
                  <a:srgbClr val="111412"/>
                </a:solidFill>
                <a:latin typeface="Onest" pitchFamily="34" charset="0"/>
                <a:ea typeface="Onest" pitchFamily="34" charset="-122"/>
                <a:cs typeface="Onest" pitchFamily="34" charset="-120"/>
              </a:rPr>
              <a:t>«Los datos que da SealMetrics son agnósticos, no están sesgados y son neutrales. No hay caja negra.»</a:t>
            </a:r>
            <a:endParaRPr lang="en-US" sz="2300" dirty="0"/>
          </a:p>
        </p:txBody>
      </p:sp>
      <p:sp>
        <p:nvSpPr>
          <p:cNvPr id="18" name="Text 16"/>
          <p:cNvSpPr txBox="1"/>
          <p:nvPr/>
        </p:nvSpPr>
        <p:spPr>
          <a:xfrm>
            <a:off x="685800" y="5029200"/>
            <a:ext cx="10817352" cy="320040"/>
          </a:xfrm>
          <a:prstGeom prst="rect">
            <a:avLst/>
          </a:prstGeom>
          <a:noFill/>
          <a:ln/>
        </p:spPr>
        <p:txBody>
          <a:bodyPr wrap="square" lIns="0" tIns="0" rIns="0" bIns="0" rtlCol="0" anchor="ctr"/>
          <a:lstStyle/>
          <a:p>
            <a:pPr algn="l" indent="0" marL="0">
              <a:buNone/>
            </a:pPr>
            <a:r>
              <a:rPr lang="en-US" sz="1100" dirty="0">
                <a:solidFill>
                  <a:srgbClr val="A3A396"/>
                </a:solidFill>
                <a:latin typeface="JetBrains Mono" pitchFamily="34" charset="0"/>
                <a:ea typeface="JetBrains Mono" pitchFamily="34" charset="-122"/>
                <a:cs typeface="JetBrains Mono" pitchFamily="34" charset="-120"/>
              </a:rPr>
              <a:t>Toni Andújar · Director Digital y Venta Directa, Palladium Hotel Group</a:t>
            </a:r>
            <a:endParaRPr lang="en-US" sz="1100" dirty="0"/>
          </a:p>
        </p:txBody>
      </p:sp>
      <p:sp>
        <p:nvSpPr>
          <p:cNvPr id="19" name="Text 17"/>
          <p:cNvSpPr txBox="1"/>
          <p:nvPr/>
        </p:nvSpPr>
        <p:spPr>
          <a:xfrm>
            <a:off x="685800" y="5413248"/>
            <a:ext cx="10817352" cy="365760"/>
          </a:xfrm>
          <a:prstGeom prst="rect">
            <a:avLst/>
          </a:prstGeom>
          <a:noFill/>
          <a:ln/>
        </p:spPr>
        <p:txBody>
          <a:bodyPr wrap="square" lIns="0" tIns="0" rIns="0" bIns="0" rtlCol="0" anchor="ctr"/>
          <a:lstStyle/>
          <a:p>
            <a:pPr algn="l" indent="0" marL="0">
              <a:buNone/>
            </a:pPr>
            <a:r>
              <a:rPr lang="en-US" sz="1050" dirty="0">
                <a:solidFill>
                  <a:srgbClr val="4F6900"/>
                </a:solidFill>
                <a:latin typeface="JetBrains Mono" pitchFamily="34" charset="0"/>
                <a:ea typeface="JetBrains Mono" pitchFamily="34" charset="-122"/>
                <a:cs typeface="JetBrains Mono" pitchFamily="34" charset="-120"/>
              </a:rPr>
              <a:t>Su método:  01 atribuir la visita  ·  02 definir Coste por Búsqueda  ·  03 comparar el inventario  ·  04 reequilibrar presupuesto</a:t>
            </a:r>
            <a:endParaRPr lang="en-US" sz="1050" dirty="0"/>
          </a:p>
        </p:txBody>
      </p:sp>
      <p:sp>
        <p:nvSpPr>
          <p:cNvPr id="20" name="Text 18"/>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Mismo presupuesto, otra decision: el mejor ROI del año no esta en gastar mas.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22225">
            <a:solidFill>
              <a:srgbClr val="111412"/>
            </a:solidFill>
            <a:prstDash val="solid"/>
          </a:ln>
        </p:spPr>
      </p:sp>
      <p:sp>
        <p:nvSpPr>
          <p:cNvPr id="6" name="Shape 4"/>
          <p:cNvSpPr/>
          <p:nvPr/>
        </p:nvSpPr>
        <p:spPr>
          <a:xfrm>
            <a:off x="10840212" y="402336"/>
            <a:ext cx="137160" cy="137160"/>
          </a:xfrm>
          <a:prstGeom prst="rect">
            <a:avLst/>
          </a:prstGeom>
          <a:solidFill>
            <a:srgbClr val="F4F1E8"/>
          </a:solidFill>
          <a:ln w="12700">
            <a:solidFill>
              <a:srgbClr val="D4D4C8"/>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FUGA 4 · EL DATO INVENTADO</a:t>
            </a:r>
            <a:endParaRPr lang="en-US" sz="1100" dirty="0"/>
          </a:p>
        </p:txBody>
      </p:sp>
      <p:sp>
        <p:nvSpPr>
          <p:cNvPr id="11" name="Text 9"/>
          <p:cNvSpPr txBox="1"/>
          <p:nvPr/>
        </p:nvSpPr>
        <p:spPr>
          <a:xfrm>
            <a:off x="685800" y="868680"/>
            <a:ext cx="8437535" cy="640080"/>
          </a:xfrm>
          <a:prstGeom prst="rect">
            <a:avLst/>
          </a:prstGeom>
          <a:noFill/>
          <a:ln/>
        </p:spPr>
        <p:txBody>
          <a:bodyPr wrap="square" lIns="0" tIns="0" rIns="0" bIns="0" rtlCol="0" anchor="ctr"/>
          <a:lstStyle/>
          <a:p>
            <a:pPr algn="l" indent="0" marL="0">
              <a:buNone/>
            </a:pPr>
            <a:r>
              <a:rPr lang="en-US" sz="3200" b="1" dirty="0">
                <a:solidFill>
                  <a:srgbClr val="111412"/>
                </a:solidFill>
                <a:latin typeface="Onest" pitchFamily="34" charset="0"/>
                <a:ea typeface="Onest" pitchFamily="34" charset="-122"/>
                <a:cs typeface="Onest" pitchFamily="34" charset="-120"/>
              </a:rPr>
              <a:t>Tu informe no te dice «no lo sé». Rellena el hueco.</a:t>
            </a:r>
            <a:endParaRPr lang="en-US" sz="3200" dirty="0"/>
          </a:p>
        </p:txBody>
      </p:sp>
      <p:sp>
        <p:nvSpPr>
          <p:cNvPr id="12" name="Text 10"/>
          <p:cNvSpPr txBox="1"/>
          <p:nvPr/>
        </p:nvSpPr>
        <p:spPr>
          <a:xfrm>
            <a:off x="685800" y="1783080"/>
            <a:ext cx="2468880" cy="731520"/>
          </a:xfrm>
          <a:prstGeom prst="rect">
            <a:avLst/>
          </a:prstGeom>
          <a:noFill/>
          <a:ln/>
        </p:spPr>
        <p:txBody>
          <a:bodyPr wrap="square" lIns="0" tIns="0" rIns="0" bIns="0" rtlCol="0" anchor="ctr"/>
          <a:lstStyle/>
          <a:p>
            <a:pPr algn="r" indent="0" marL="0">
              <a:buNone/>
            </a:pPr>
            <a:r>
              <a:rPr lang="en-US" sz="1600" dirty="0">
                <a:solidFill>
                  <a:srgbClr val="6B6B5E"/>
                </a:solidFill>
                <a:latin typeface="Onest" pitchFamily="34" charset="0"/>
                <a:ea typeface="Onest" pitchFamily="34" charset="-122"/>
                <a:cs typeface="Onest" pitchFamily="34" charset="-120"/>
              </a:rPr>
              <a:t>Lo que contó</a:t>
            </a:r>
            <a:endParaRPr lang="en-US" sz="1600" dirty="0"/>
          </a:p>
        </p:txBody>
      </p:sp>
      <p:sp>
        <p:nvSpPr>
          <p:cNvPr id="13" name="Shape 11"/>
          <p:cNvSpPr/>
          <p:nvPr/>
        </p:nvSpPr>
        <p:spPr>
          <a:xfrm>
            <a:off x="3429000" y="1783080"/>
            <a:ext cx="8074152" cy="731520"/>
          </a:xfrm>
          <a:prstGeom prst="rect">
            <a:avLst/>
          </a:prstGeom>
          <a:solidFill>
            <a:srgbClr val="E4E0D1"/>
          </a:solidFill>
          <a:ln/>
        </p:spPr>
      </p:sp>
      <p:sp>
        <p:nvSpPr>
          <p:cNvPr id="14" name="Shape 12"/>
          <p:cNvSpPr/>
          <p:nvPr/>
        </p:nvSpPr>
        <p:spPr>
          <a:xfrm>
            <a:off x="3429000" y="1783080"/>
            <a:ext cx="1614830" cy="731520"/>
          </a:xfrm>
          <a:prstGeom prst="rect">
            <a:avLst/>
          </a:prstGeom>
          <a:solidFill>
            <a:srgbClr val="2D8B6D"/>
          </a:solidFill>
          <a:ln/>
        </p:spPr>
      </p:sp>
      <p:sp>
        <p:nvSpPr>
          <p:cNvPr id="15" name="Text 13"/>
          <p:cNvSpPr txBox="1"/>
          <p:nvPr/>
        </p:nvSpPr>
        <p:spPr>
          <a:xfrm>
            <a:off x="3566160" y="1783080"/>
            <a:ext cx="1280160" cy="731520"/>
          </a:xfrm>
          <a:prstGeom prst="rect">
            <a:avLst/>
          </a:prstGeom>
          <a:noFill/>
          <a:ln/>
        </p:spPr>
        <p:txBody>
          <a:bodyPr wrap="square" lIns="0" tIns="0" rIns="0" bIns="0" rtlCol="0" anchor="ctr"/>
          <a:lstStyle/>
          <a:p>
            <a:pPr algn="l" indent="0" marL="0">
              <a:buNone/>
            </a:pPr>
            <a:r>
              <a:rPr lang="en-US" sz="2200" b="1" dirty="0">
                <a:solidFill>
                  <a:srgbClr val="FFFDF7"/>
                </a:solidFill>
                <a:latin typeface="Onest" pitchFamily="34" charset="0"/>
                <a:ea typeface="Onest" pitchFamily="34" charset="-122"/>
                <a:cs typeface="Onest" pitchFamily="34" charset="-120"/>
              </a:rPr>
              <a:t>20</a:t>
            </a:r>
            <a:endParaRPr lang="en-US" sz="2200" dirty="0"/>
          </a:p>
        </p:txBody>
      </p:sp>
      <p:sp>
        <p:nvSpPr>
          <p:cNvPr id="16" name="Text 14"/>
          <p:cNvSpPr txBox="1"/>
          <p:nvPr/>
        </p:nvSpPr>
        <p:spPr>
          <a:xfrm>
            <a:off x="5366796" y="1783080"/>
            <a:ext cx="3657600" cy="731520"/>
          </a:xfrm>
          <a:prstGeom prst="rect">
            <a:avLst/>
          </a:prstGeom>
          <a:noFill/>
          <a:ln/>
        </p:spPr>
        <p:txBody>
          <a:bodyPr wrap="square" lIns="0" tIns="0" rIns="0" bIns="0" rtlCol="0" anchor="ctr"/>
          <a:lstStyle/>
          <a:p>
            <a:pPr algn="l" indent="0" marL="0">
              <a:buNone/>
            </a:pPr>
            <a:r>
              <a:rPr lang="en-US" sz="1300" dirty="0">
                <a:solidFill>
                  <a:srgbClr val="6B6B5E"/>
                </a:solidFill>
                <a:latin typeface="JetBrains Mono" pitchFamily="34" charset="0"/>
                <a:ea typeface="JetBrains Mono" pitchFamily="34" charset="-122"/>
                <a:cs typeface="JetBrains Mono" pitchFamily="34" charset="-120"/>
              </a:rPr>
              <a:t>80 que nunca vio</a:t>
            </a:r>
            <a:endParaRPr lang="en-US" sz="1300" dirty="0"/>
          </a:p>
        </p:txBody>
      </p:sp>
      <p:sp>
        <p:nvSpPr>
          <p:cNvPr id="17" name="Text 15"/>
          <p:cNvSpPr txBox="1"/>
          <p:nvPr/>
        </p:nvSpPr>
        <p:spPr>
          <a:xfrm>
            <a:off x="685800" y="2743200"/>
            <a:ext cx="2468880" cy="731520"/>
          </a:xfrm>
          <a:prstGeom prst="rect">
            <a:avLst/>
          </a:prstGeom>
          <a:noFill/>
          <a:ln/>
        </p:spPr>
        <p:txBody>
          <a:bodyPr wrap="square" lIns="0" tIns="0" rIns="0" bIns="0" rtlCol="0" anchor="ctr"/>
          <a:lstStyle/>
          <a:p>
            <a:pPr algn="r" indent="0" marL="0">
              <a:buNone/>
            </a:pPr>
            <a:r>
              <a:rPr lang="en-US" sz="1600" b="1" dirty="0">
                <a:solidFill>
                  <a:srgbClr val="111412"/>
                </a:solidFill>
                <a:latin typeface="Onest" pitchFamily="34" charset="0"/>
                <a:ea typeface="Onest" pitchFamily="34" charset="-122"/>
                <a:cs typeface="Onest" pitchFamily="34" charset="-120"/>
              </a:rPr>
              <a:t>Lo que publica</a:t>
            </a:r>
            <a:endParaRPr lang="en-US" sz="1600" dirty="0"/>
          </a:p>
        </p:txBody>
      </p:sp>
      <p:sp>
        <p:nvSpPr>
          <p:cNvPr id="18" name="Shape 16"/>
          <p:cNvSpPr/>
          <p:nvPr/>
        </p:nvSpPr>
        <p:spPr>
          <a:xfrm>
            <a:off x="3429000" y="2743200"/>
            <a:ext cx="1614830" cy="731520"/>
          </a:xfrm>
          <a:prstGeom prst="rect">
            <a:avLst/>
          </a:prstGeom>
          <a:solidFill>
            <a:srgbClr val="2D8B6D"/>
          </a:solidFill>
          <a:ln/>
        </p:spPr>
      </p:sp>
      <p:sp>
        <p:nvSpPr>
          <p:cNvPr id="19" name="Shape 17"/>
          <p:cNvSpPr/>
          <p:nvPr/>
        </p:nvSpPr>
        <p:spPr>
          <a:xfrm>
            <a:off x="5043830" y="2743200"/>
            <a:ext cx="6459322" cy="731520"/>
          </a:xfrm>
          <a:prstGeom prst="rect">
            <a:avLst/>
          </a:prstGeom>
          <a:solidFill>
            <a:srgbClr val="E8B84B"/>
          </a:solidFill>
          <a:ln/>
        </p:spPr>
      </p:sp>
      <p:sp>
        <p:nvSpPr>
          <p:cNvPr id="20" name="Text 18"/>
          <p:cNvSpPr txBox="1"/>
          <p:nvPr/>
        </p:nvSpPr>
        <p:spPr>
          <a:xfrm>
            <a:off x="3566160" y="2743200"/>
            <a:ext cx="1280160" cy="731520"/>
          </a:xfrm>
          <a:prstGeom prst="rect">
            <a:avLst/>
          </a:prstGeom>
          <a:noFill/>
          <a:ln/>
        </p:spPr>
        <p:txBody>
          <a:bodyPr wrap="square" lIns="0" tIns="0" rIns="0" bIns="0" rtlCol="0" anchor="ctr"/>
          <a:lstStyle/>
          <a:p>
            <a:pPr algn="l" indent="0" marL="0">
              <a:buNone/>
            </a:pPr>
            <a:r>
              <a:rPr lang="en-US" sz="2200" b="1" dirty="0">
                <a:solidFill>
                  <a:srgbClr val="FFFDF7"/>
                </a:solidFill>
                <a:latin typeface="Onest" pitchFamily="34" charset="0"/>
                <a:ea typeface="Onest" pitchFamily="34" charset="-122"/>
                <a:cs typeface="Onest" pitchFamily="34" charset="-120"/>
              </a:rPr>
              <a:t>20</a:t>
            </a:r>
            <a:endParaRPr lang="en-US" sz="2200" dirty="0"/>
          </a:p>
        </p:txBody>
      </p:sp>
      <p:sp>
        <p:nvSpPr>
          <p:cNvPr id="21" name="Text 19"/>
          <p:cNvSpPr txBox="1"/>
          <p:nvPr/>
        </p:nvSpPr>
        <p:spPr>
          <a:xfrm>
            <a:off x="5272430" y="2743200"/>
            <a:ext cx="5943600" cy="731520"/>
          </a:xfrm>
          <a:prstGeom prst="rect">
            <a:avLst/>
          </a:prstGeom>
          <a:noFill/>
          <a:ln/>
        </p:spPr>
        <p:txBody>
          <a:bodyPr wrap="square" lIns="0" tIns="0" rIns="0" bIns="0" rtlCol="0" anchor="ctr"/>
          <a:lstStyle/>
          <a:p>
            <a:pPr algn="l" indent="0" marL="0">
              <a:buNone/>
            </a:pPr>
            <a:r>
              <a:rPr lang="en-US" sz="1300" b="1" dirty="0">
                <a:solidFill>
                  <a:srgbClr val="3D2E08"/>
                </a:solidFill>
                <a:latin typeface="JetBrains Mono" pitchFamily="34" charset="0"/>
                <a:ea typeface="JetBrains Mono" pitchFamily="34" charset="-122"/>
                <a:cs typeface="JetBrains Mono" pitchFamily="34" charset="-120"/>
              </a:rPr>
              <a:t>80 CALCULADAS POR UN MODELO</a:t>
            </a:r>
            <a:endParaRPr lang="en-US" sz="1300" dirty="0"/>
          </a:p>
        </p:txBody>
      </p:sp>
      <p:sp>
        <p:nvSpPr>
          <p:cNvPr id="22" name="Text 20"/>
          <p:cNvSpPr txBox="1"/>
          <p:nvPr/>
        </p:nvSpPr>
        <p:spPr>
          <a:xfrm>
            <a:off x="3429000" y="3538728"/>
            <a:ext cx="8074152" cy="320040"/>
          </a:xfrm>
          <a:prstGeom prst="rect">
            <a:avLst/>
          </a:prstGeom>
          <a:noFill/>
          <a:ln/>
        </p:spPr>
        <p:txBody>
          <a:bodyPr wrap="square" lIns="0" tIns="0" rIns="0" bIns="0" rtlCol="0" anchor="ctr"/>
          <a:lstStyle/>
          <a:p>
            <a:pPr algn="l" indent="0" marL="0">
              <a:buNone/>
            </a:pPr>
            <a:r>
              <a:rPr lang="en-US" sz="1050" dirty="0">
                <a:solidFill>
                  <a:srgbClr val="A3A396"/>
                </a:solidFill>
                <a:latin typeface="JetBrains Mono" pitchFamily="34" charset="0"/>
                <a:ea typeface="JetBrains Mono" pitchFamily="34" charset="-122"/>
                <a:cs typeface="JetBrains Mono" pitchFamily="34" charset="-120"/>
              </a:rPr>
              <a:t>contadas   ·   estimadas   ·   y en el informe van sumadas en la misma cifra</a:t>
            </a:r>
            <a:endParaRPr lang="en-US" sz="1050" dirty="0"/>
          </a:p>
        </p:txBody>
      </p:sp>
      <p:sp>
        <p:nvSpPr>
          <p:cNvPr id="23" name="Text 21"/>
          <p:cNvSpPr txBox="1"/>
          <p:nvPr/>
        </p:nvSpPr>
        <p:spPr>
          <a:xfrm>
            <a:off x="685800" y="4114800"/>
            <a:ext cx="3200400" cy="502920"/>
          </a:xfrm>
          <a:prstGeom prst="rect">
            <a:avLst/>
          </a:prstGeom>
          <a:noFill/>
          <a:ln/>
        </p:spPr>
        <p:txBody>
          <a:bodyPr wrap="square" lIns="0" tIns="0" rIns="0" bIns="0" rtlCol="0" anchor="ctr"/>
          <a:lstStyle/>
          <a:p>
            <a:pPr algn="r" indent="0" marL="0">
              <a:buNone/>
            </a:pPr>
            <a:r>
              <a:rPr lang="en-US" sz="1500" b="1" dirty="0">
                <a:solidFill>
                  <a:srgbClr val="111412"/>
                </a:solidFill>
                <a:latin typeface="Onest" pitchFamily="34" charset="0"/>
                <a:ea typeface="Onest" pitchFamily="34" charset="-122"/>
                <a:cs typeface="Onest" pitchFamily="34" charset="-120"/>
              </a:rPr>
              <a:t>¿De dónde salen las 80?</a:t>
            </a:r>
            <a:endParaRPr lang="en-US" sz="1500" dirty="0"/>
          </a:p>
        </p:txBody>
      </p:sp>
      <p:sp>
        <p:nvSpPr>
          <p:cNvPr id="24" name="Text 22"/>
          <p:cNvSpPr txBox="1"/>
          <p:nvPr/>
        </p:nvSpPr>
        <p:spPr>
          <a:xfrm>
            <a:off x="4114800" y="4114800"/>
            <a:ext cx="7388352" cy="502920"/>
          </a:xfrm>
          <a:prstGeom prst="rect">
            <a:avLst/>
          </a:prstGeom>
          <a:noFill/>
          <a:ln/>
        </p:spPr>
        <p:txBody>
          <a:bodyPr wrap="square" lIns="0" tIns="0" rIns="0" bIns="0" rtlCol="0" anchor="ctr"/>
          <a:lstStyle/>
          <a:p>
            <a:pPr algn="l" indent="0" marL="0">
              <a:buNone/>
            </a:pPr>
            <a:r>
              <a:rPr lang="en-US" sz="1500" dirty="0">
                <a:solidFill>
                  <a:srgbClr val="6B6B5E"/>
                </a:solidFill>
                <a:latin typeface="Onest" pitchFamily="34" charset="0"/>
                <a:ea typeface="Onest" pitchFamily="34" charset="-122"/>
                <a:cs typeface="Onest" pitchFamily="34" charset="-120"/>
              </a:rPr>
              <a:t>De cómo se comportan las 20 que sí aceptaron cookies.</a:t>
            </a:r>
            <a:endParaRPr lang="en-US" sz="1500" dirty="0"/>
          </a:p>
        </p:txBody>
      </p:sp>
      <p:sp>
        <p:nvSpPr>
          <p:cNvPr id="25" name="Text 23"/>
          <p:cNvSpPr txBox="1"/>
          <p:nvPr/>
        </p:nvSpPr>
        <p:spPr>
          <a:xfrm>
            <a:off x="685800" y="4681728"/>
            <a:ext cx="3200400" cy="502920"/>
          </a:xfrm>
          <a:prstGeom prst="rect">
            <a:avLst/>
          </a:prstGeom>
          <a:noFill/>
          <a:ln/>
        </p:spPr>
        <p:txBody>
          <a:bodyPr wrap="square" lIns="0" tIns="0" rIns="0" bIns="0" rtlCol="0" anchor="ctr"/>
          <a:lstStyle/>
          <a:p>
            <a:pPr algn="r" indent="0" marL="0">
              <a:buNone/>
            </a:pPr>
            <a:r>
              <a:rPr lang="en-US" sz="1500" b="1" dirty="0">
                <a:solidFill>
                  <a:srgbClr val="111412"/>
                </a:solidFill>
                <a:latin typeface="Onest" pitchFamily="34" charset="0"/>
                <a:ea typeface="Onest" pitchFamily="34" charset="-122"/>
                <a:cs typeface="Onest" pitchFamily="34" charset="-120"/>
              </a:rPr>
              <a:t>¿Y cuál es el problema?</a:t>
            </a:r>
            <a:endParaRPr lang="en-US" sz="1500" dirty="0"/>
          </a:p>
        </p:txBody>
      </p:sp>
      <p:sp>
        <p:nvSpPr>
          <p:cNvPr id="26" name="Text 24"/>
          <p:cNvSpPr txBox="1"/>
          <p:nvPr/>
        </p:nvSpPr>
        <p:spPr>
          <a:xfrm>
            <a:off x="4114800" y="4681728"/>
            <a:ext cx="7388352" cy="502920"/>
          </a:xfrm>
          <a:prstGeom prst="rect">
            <a:avLst/>
          </a:prstGeom>
          <a:noFill/>
          <a:ln/>
        </p:spPr>
        <p:txBody>
          <a:bodyPr wrap="square" lIns="0" tIns="0" rIns="0" bIns="0" rtlCol="0" anchor="ctr"/>
          <a:lstStyle/>
          <a:p>
            <a:pPr algn="l" indent="0" marL="0">
              <a:buNone/>
            </a:pPr>
            <a:r>
              <a:rPr lang="en-US" sz="1500" dirty="0">
                <a:solidFill>
                  <a:srgbClr val="6B6B5E"/>
                </a:solidFill>
                <a:latin typeface="Onest" pitchFamily="34" charset="0"/>
                <a:ea typeface="Onest" pitchFamily="34" charset="-122"/>
                <a:cs typeface="Onest" pitchFamily="34" charset="-120"/>
              </a:rPr>
              <a:t>Que los que aceptan no compran igual que los que no.</a:t>
            </a:r>
            <a:endParaRPr lang="en-US" sz="1500" dirty="0"/>
          </a:p>
        </p:txBody>
      </p:sp>
      <p:sp>
        <p:nvSpPr>
          <p:cNvPr id="27" name="Text 25"/>
          <p:cNvSpPr txBox="1"/>
          <p:nvPr/>
        </p:nvSpPr>
        <p:spPr>
          <a:xfrm>
            <a:off x="685800" y="5248656"/>
            <a:ext cx="3200400" cy="502920"/>
          </a:xfrm>
          <a:prstGeom prst="rect">
            <a:avLst/>
          </a:prstGeom>
          <a:noFill/>
          <a:ln/>
        </p:spPr>
        <p:txBody>
          <a:bodyPr wrap="square" lIns="0" tIns="0" rIns="0" bIns="0" rtlCol="0" anchor="ctr"/>
          <a:lstStyle/>
          <a:p>
            <a:pPr algn="r" indent="0" marL="0">
              <a:buNone/>
            </a:pPr>
            <a:r>
              <a:rPr lang="en-US" sz="1500" b="1" dirty="0">
                <a:solidFill>
                  <a:srgbClr val="111412"/>
                </a:solidFill>
                <a:latin typeface="Onest" pitchFamily="34" charset="0"/>
                <a:ea typeface="Onest" pitchFamily="34" charset="-122"/>
                <a:cs typeface="Onest" pitchFamily="34" charset="-120"/>
              </a:rPr>
              <a:t>¿Puedes comprobarlo?</a:t>
            </a:r>
            <a:endParaRPr lang="en-US" sz="1500" dirty="0"/>
          </a:p>
        </p:txBody>
      </p:sp>
      <p:sp>
        <p:nvSpPr>
          <p:cNvPr id="28" name="Text 26"/>
          <p:cNvSpPr txBox="1"/>
          <p:nvPr/>
        </p:nvSpPr>
        <p:spPr>
          <a:xfrm>
            <a:off x="4114800" y="5248656"/>
            <a:ext cx="7388352" cy="502920"/>
          </a:xfrm>
          <a:prstGeom prst="rect">
            <a:avLst/>
          </a:prstGeom>
          <a:noFill/>
          <a:ln/>
        </p:spPr>
        <p:txBody>
          <a:bodyPr wrap="square" lIns="0" tIns="0" rIns="0" bIns="0" rtlCol="0" anchor="ctr"/>
          <a:lstStyle/>
          <a:p>
            <a:pPr algn="l" indent="0" marL="0">
              <a:buNone/>
            </a:pPr>
            <a:r>
              <a:rPr lang="en-US" sz="1500" dirty="0">
                <a:solidFill>
                  <a:srgbClr val="6B6B5E"/>
                </a:solidFill>
                <a:latin typeface="Onest" pitchFamily="34" charset="0"/>
                <a:ea typeface="Onest" pitchFamily="34" charset="-122"/>
                <a:cs typeface="Onest" pitchFamily="34" charset="-120"/>
              </a:rPr>
              <a:t>No. No puedes ver el margen de error ni separar las 20 de las 80.</a:t>
            </a:r>
            <a:endParaRPr lang="en-US" sz="1500" dirty="0"/>
          </a:p>
        </p:txBody>
      </p:sp>
      <p:sp>
        <p:nvSpPr>
          <p:cNvPr id="29" name="Text 27"/>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4  ·  Que porcentaje de tu trafico aparece como «unassigned» o «(not set)» en tu informe.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12700">
            <a:solidFill>
              <a:srgbClr val="CBFF3D"/>
            </a:solidFill>
            <a:prstDash val="solid"/>
          </a:ln>
        </p:spPr>
      </p:sp>
      <p:sp>
        <p:nvSpPr>
          <p:cNvPr id="4" name="Shape 2"/>
          <p:cNvSpPr/>
          <p:nvPr/>
        </p:nvSpPr>
        <p:spPr>
          <a:xfrm>
            <a:off x="10428732" y="402336"/>
            <a:ext cx="137160" cy="137160"/>
          </a:xfrm>
          <a:prstGeom prst="rect">
            <a:avLst/>
          </a:prstGeom>
          <a:solidFill>
            <a:srgbClr val="CBFF3D"/>
          </a:solidFill>
          <a:ln w="12700">
            <a:solidFill>
              <a:srgbClr val="CBFF3D"/>
            </a:solidFill>
            <a:prstDash val="solid"/>
          </a:ln>
        </p:spPr>
      </p:sp>
      <p:sp>
        <p:nvSpPr>
          <p:cNvPr id="5" name="Shape 3"/>
          <p:cNvSpPr/>
          <p:nvPr/>
        </p:nvSpPr>
        <p:spPr>
          <a:xfrm>
            <a:off x="10634472" y="402336"/>
            <a:ext cx="137160" cy="137160"/>
          </a:xfrm>
          <a:prstGeom prst="rect">
            <a:avLst/>
          </a:prstGeom>
          <a:solidFill>
            <a:srgbClr val="CBFF3D"/>
          </a:solidFill>
          <a:ln w="12700">
            <a:solidFill>
              <a:srgbClr val="CBFF3D"/>
            </a:solidFill>
            <a:prstDash val="solid"/>
          </a:ln>
        </p:spPr>
      </p:sp>
      <p:sp>
        <p:nvSpPr>
          <p:cNvPr id="6" name="Shape 4"/>
          <p:cNvSpPr/>
          <p:nvPr/>
        </p:nvSpPr>
        <p:spPr>
          <a:xfrm>
            <a:off x="10840212" y="402336"/>
            <a:ext cx="137160" cy="137160"/>
          </a:xfrm>
          <a:prstGeom prst="rect">
            <a:avLst/>
          </a:prstGeom>
          <a:solidFill>
            <a:srgbClr val="CBFF3D"/>
          </a:solidFill>
          <a:ln w="22225">
            <a:solidFill>
              <a:srgbClr val="CBFF3D"/>
            </a:solidFill>
            <a:prstDash val="solid"/>
          </a:ln>
        </p:spPr>
      </p:sp>
      <p:sp>
        <p:nvSpPr>
          <p:cNvPr id="7" name="Shape 5"/>
          <p:cNvSpPr/>
          <p:nvPr/>
        </p:nvSpPr>
        <p:spPr>
          <a:xfrm>
            <a:off x="11228832" y="402336"/>
            <a:ext cx="137160" cy="137160"/>
          </a:xfrm>
          <a:prstGeom prst="rect">
            <a:avLst/>
          </a:prstGeom>
          <a:solidFill>
            <a:srgbClr val="111412"/>
          </a:solidFill>
          <a:ln w="12700">
            <a:solidFill>
              <a:srgbClr val="2B2A28"/>
            </a:solidFill>
            <a:prstDash val="solid"/>
          </a:ln>
        </p:spPr>
      </p:sp>
      <p:sp>
        <p:nvSpPr>
          <p:cNvPr id="8" name="Shape 6"/>
          <p:cNvSpPr/>
          <p:nvPr/>
        </p:nvSpPr>
        <p:spPr>
          <a:xfrm>
            <a:off x="11434572" y="402336"/>
            <a:ext cx="137160" cy="137160"/>
          </a:xfrm>
          <a:prstGeom prst="rect">
            <a:avLst/>
          </a:prstGeom>
          <a:solidFill>
            <a:srgbClr val="111412"/>
          </a:solidFill>
          <a:ln w="12700">
            <a:solidFill>
              <a:srgbClr val="2B2A2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FUGA 5 · LOS QUE NUNCA VAN A ACEPTAR</a:t>
            </a:r>
            <a:endParaRPr lang="en-US" sz="1100" dirty="0"/>
          </a:p>
        </p:txBody>
      </p:sp>
      <p:sp>
        <p:nvSpPr>
          <p:cNvPr id="11" name="Text 9"/>
          <p:cNvSpPr txBox="1"/>
          <p:nvPr/>
        </p:nvSpPr>
        <p:spPr>
          <a:xfrm>
            <a:off x="685800" y="1051560"/>
            <a:ext cx="3108960" cy="2194560"/>
          </a:xfrm>
          <a:prstGeom prst="rect">
            <a:avLst/>
          </a:prstGeom>
          <a:noFill/>
          <a:ln/>
        </p:spPr>
        <p:txBody>
          <a:bodyPr wrap="square" lIns="0" tIns="0" rIns="0" bIns="0" rtlCol="0" anchor="ctr"/>
          <a:lstStyle/>
          <a:p>
            <a:pPr algn="l" indent="0" marL="0">
              <a:buNone/>
            </a:pPr>
            <a:r>
              <a:rPr lang="en-US" sz="15000" b="1" dirty="0">
                <a:solidFill>
                  <a:srgbClr val="CBFF3D"/>
                </a:solidFill>
                <a:latin typeface="Onest" pitchFamily="34" charset="0"/>
                <a:ea typeface="Onest" pitchFamily="34" charset="-122"/>
                <a:cs typeface="Onest" pitchFamily="34" charset="-120"/>
              </a:rPr>
              <a:t>0%</a:t>
            </a:r>
            <a:endParaRPr lang="en-US" sz="15000" dirty="0"/>
          </a:p>
        </p:txBody>
      </p:sp>
      <p:sp>
        <p:nvSpPr>
          <p:cNvPr id="12" name="Text 10"/>
          <p:cNvSpPr txBox="1"/>
          <p:nvPr/>
        </p:nvSpPr>
        <p:spPr>
          <a:xfrm>
            <a:off x="685800" y="3200400"/>
            <a:ext cx="3291840" cy="1005840"/>
          </a:xfrm>
          <a:prstGeom prst="rect">
            <a:avLst/>
          </a:prstGeom>
          <a:noFill/>
          <a:ln/>
        </p:spPr>
        <p:txBody>
          <a:bodyPr wrap="square" lIns="0" tIns="0" rIns="0" bIns="0" rtlCol="0" anchor="t"/>
          <a:lstStyle/>
          <a:p>
            <a:pPr algn="l" indent="0" marL="0">
              <a:lnSpc>
                <a:spcPts val="2400"/>
              </a:lnSpc>
              <a:buNone/>
            </a:pPr>
            <a:r>
              <a:rPr lang="en-US" sz="1700" dirty="0">
                <a:solidFill>
                  <a:srgbClr val="A3A396"/>
                </a:solidFill>
                <a:latin typeface="Onest" pitchFamily="34" charset="0"/>
                <a:ea typeface="Onest" pitchFamily="34" charset="-122"/>
                <a:cs typeface="Onest" pitchFamily="34" charset="-120"/>
              </a:rPr>
              <a:t>es su tasa de consentimiento.</a:t>
            </a:r>
            <a:endParaRPr lang="en-US" sz="1700" dirty="0"/>
          </a:p>
          <a:p>
            <a:pPr algn="l" indent="0" marL="0">
              <a:lnSpc>
                <a:spcPts val="2400"/>
              </a:lnSpc>
              <a:buNone/>
            </a:pPr>
            <a:r>
              <a:rPr lang="en-US" sz="1700" dirty="0">
                <a:solidFill>
                  <a:srgbClr val="A3A396"/>
                </a:solidFill>
                <a:latin typeface="Onest" pitchFamily="34" charset="0"/>
                <a:ea typeface="Onest" pitchFamily="34" charset="-122"/>
                <a:cs typeface="Onest" pitchFamily="34" charset="-120"/>
              </a:rPr>
              <a:t>Por diseño, y para siempre.</a:t>
            </a:r>
            <a:endParaRPr lang="en-US" sz="1700" dirty="0"/>
          </a:p>
        </p:txBody>
      </p:sp>
      <p:sp>
        <p:nvSpPr>
          <p:cNvPr id="13" name="Text 11"/>
          <p:cNvSpPr txBox="1"/>
          <p:nvPr/>
        </p:nvSpPr>
        <p:spPr>
          <a:xfrm>
            <a:off x="4526280" y="1143000"/>
            <a:ext cx="6976872" cy="365760"/>
          </a:xfrm>
          <a:prstGeom prst="rect">
            <a:avLst/>
          </a:prstGeom>
          <a:noFill/>
          <a:ln/>
        </p:spPr>
        <p:txBody>
          <a:bodyPr wrap="square" lIns="0" tIns="0" rIns="0" bIns="0" rtlCol="0" anchor="ctr"/>
          <a:lstStyle/>
          <a:p>
            <a:pPr algn="l" indent="0" marL="0">
              <a:buNone/>
            </a:pPr>
            <a:r>
              <a:rPr lang="en-US" sz="2100" b="1" dirty="0">
                <a:solidFill>
                  <a:srgbClr val="F4F1E8"/>
                </a:solidFill>
                <a:latin typeface="Onest" pitchFamily="34" charset="0"/>
                <a:ea typeface="Onest" pitchFamily="34" charset="-122"/>
                <a:cs typeface="Onest" pitchFamily="34" charset="-120"/>
              </a:rPr>
              <a:t>Agentes de IA</a:t>
            </a:r>
            <a:endParaRPr lang="en-US" sz="2100" dirty="0"/>
          </a:p>
        </p:txBody>
      </p:sp>
      <p:sp>
        <p:nvSpPr>
          <p:cNvPr id="14" name="Text 12"/>
          <p:cNvSpPr txBox="1"/>
          <p:nvPr/>
        </p:nvSpPr>
        <p:spPr>
          <a:xfrm>
            <a:off x="4526280" y="1554480"/>
            <a:ext cx="6976872" cy="868680"/>
          </a:xfrm>
          <a:prstGeom prst="rect">
            <a:avLst/>
          </a:prstGeom>
          <a:noFill/>
          <a:ln/>
        </p:spPr>
        <p:txBody>
          <a:bodyPr wrap="square" lIns="0" tIns="0" rIns="0" bIns="0" rtlCol="0" anchor="t"/>
          <a:lstStyle/>
          <a:p>
            <a:pPr algn="l" indent="0" marL="0">
              <a:lnSpc>
                <a:spcPts val="2000"/>
              </a:lnSpc>
              <a:buNone/>
            </a:pPr>
            <a:r>
              <a:rPr lang="en-US" sz="1450" dirty="0">
                <a:solidFill>
                  <a:srgbClr val="A3A396"/>
                </a:solidFill>
                <a:latin typeface="Onest" pitchFamily="34" charset="0"/>
                <a:ea typeface="Onest" pitchFamily="34" charset="-122"/>
                <a:cs typeface="Onest" pitchFamily="34" charset="-120"/>
              </a:rPr>
              <a:t>ChatGPT, Claude, Perplexity, AI Overviews. Un agente no hace clic en «Aceptar»: no puede y no lo va a hacer nunca. Ya son el 7–22% de las sesiones.</a:t>
            </a:r>
            <a:endParaRPr lang="en-US" sz="1450" dirty="0"/>
          </a:p>
        </p:txBody>
      </p:sp>
      <p:sp>
        <p:nvSpPr>
          <p:cNvPr id="15" name="Text 13"/>
          <p:cNvSpPr txBox="1"/>
          <p:nvPr/>
        </p:nvSpPr>
        <p:spPr>
          <a:xfrm>
            <a:off x="4526280" y="2560320"/>
            <a:ext cx="6976872" cy="365760"/>
          </a:xfrm>
          <a:prstGeom prst="rect">
            <a:avLst/>
          </a:prstGeom>
          <a:noFill/>
          <a:ln/>
        </p:spPr>
        <p:txBody>
          <a:bodyPr wrap="square" lIns="0" tIns="0" rIns="0" bIns="0" rtlCol="0" anchor="ctr"/>
          <a:lstStyle/>
          <a:p>
            <a:pPr algn="l" indent="0" marL="0">
              <a:buNone/>
            </a:pPr>
            <a:r>
              <a:rPr lang="en-US" sz="2100" b="1" dirty="0">
                <a:solidFill>
                  <a:srgbClr val="F4F1E8"/>
                </a:solidFill>
                <a:latin typeface="Onest" pitchFamily="34" charset="0"/>
                <a:ea typeface="Onest" pitchFamily="34" charset="-122"/>
                <a:cs typeface="Onest" pitchFamily="34" charset="-120"/>
              </a:rPr>
              <a:t>Click fraud</a:t>
            </a:r>
            <a:endParaRPr lang="en-US" sz="2100" dirty="0"/>
          </a:p>
        </p:txBody>
      </p:sp>
      <p:sp>
        <p:nvSpPr>
          <p:cNvPr id="16" name="Text 14"/>
          <p:cNvSpPr txBox="1"/>
          <p:nvPr/>
        </p:nvSpPr>
        <p:spPr>
          <a:xfrm>
            <a:off x="4526280" y="2971800"/>
            <a:ext cx="6976872" cy="868680"/>
          </a:xfrm>
          <a:prstGeom prst="rect">
            <a:avLst/>
          </a:prstGeom>
          <a:noFill/>
          <a:ln/>
        </p:spPr>
        <p:txBody>
          <a:bodyPr wrap="square" lIns="0" tIns="0" rIns="0" bIns="0" rtlCol="0" anchor="t"/>
          <a:lstStyle/>
          <a:p>
            <a:pPr algn="l" indent="0" marL="0">
              <a:lnSpc>
                <a:spcPts val="2000"/>
              </a:lnSpc>
              <a:buNone/>
            </a:pPr>
            <a:r>
              <a:rPr lang="en-US" sz="1450" dirty="0">
                <a:solidFill>
                  <a:srgbClr val="A3A396"/>
                </a:solidFill>
                <a:latin typeface="Onest" pitchFamily="34" charset="0"/>
                <a:ea typeface="Onest" pitchFamily="34" charset="-122"/>
                <a:cs typeface="Onest" pitchFamily="34" charset="-120"/>
              </a:rPr>
              <a:t>Bots y granjas de clic. Un clic fraudulento se paga igual que uno real: la plataforma te lo factura y entra en tu web.</a:t>
            </a:r>
            <a:endParaRPr lang="en-US" sz="1450" dirty="0"/>
          </a:p>
        </p:txBody>
      </p:sp>
      <p:sp>
        <p:nvSpPr>
          <p:cNvPr id="17" name="Text 15"/>
          <p:cNvSpPr txBox="1"/>
          <p:nvPr/>
        </p:nvSpPr>
        <p:spPr>
          <a:xfrm>
            <a:off x="4526280" y="3977640"/>
            <a:ext cx="6976872" cy="365760"/>
          </a:xfrm>
          <a:prstGeom prst="rect">
            <a:avLst/>
          </a:prstGeom>
          <a:noFill/>
          <a:ln/>
        </p:spPr>
        <p:txBody>
          <a:bodyPr wrap="square" lIns="0" tIns="0" rIns="0" bIns="0" rtlCol="0" anchor="ctr"/>
          <a:lstStyle/>
          <a:p>
            <a:pPr algn="l" indent="0" marL="0">
              <a:buNone/>
            </a:pPr>
            <a:r>
              <a:rPr lang="en-US" sz="2100" b="1" dirty="0">
                <a:solidFill>
                  <a:srgbClr val="F4F1E8"/>
                </a:solidFill>
                <a:latin typeface="Onest" pitchFamily="34" charset="0"/>
                <a:ea typeface="Onest" pitchFamily="34" charset="-122"/>
                <a:cs typeface="Onest" pitchFamily="34" charset="-120"/>
              </a:rPr>
              <a:t>Tráfico de baja calidad</a:t>
            </a:r>
            <a:endParaRPr lang="en-US" sz="2100" dirty="0"/>
          </a:p>
        </p:txBody>
      </p:sp>
      <p:sp>
        <p:nvSpPr>
          <p:cNvPr id="18" name="Text 16"/>
          <p:cNvSpPr txBox="1"/>
          <p:nvPr/>
        </p:nvSpPr>
        <p:spPr>
          <a:xfrm>
            <a:off x="4526280" y="4389120"/>
            <a:ext cx="6976872" cy="868680"/>
          </a:xfrm>
          <a:prstGeom prst="rect">
            <a:avLst/>
          </a:prstGeom>
          <a:noFill/>
          <a:ln/>
        </p:spPr>
        <p:txBody>
          <a:bodyPr wrap="square" lIns="0" tIns="0" rIns="0" bIns="0" rtlCol="0" anchor="t"/>
          <a:lstStyle/>
          <a:p>
            <a:pPr algn="l" indent="0" marL="0">
              <a:lnSpc>
                <a:spcPts val="2000"/>
              </a:lnSpc>
              <a:buNone/>
            </a:pPr>
            <a:r>
              <a:rPr lang="en-US" sz="1450" dirty="0">
                <a:solidFill>
                  <a:srgbClr val="A3A396"/>
                </a:solidFill>
                <a:latin typeface="Onest" pitchFamily="34" charset="0"/>
                <a:ea typeface="Onest" pitchFamily="34" charset="-122"/>
                <a:cs typeface="Onest" pitchFamily="34" charset="-120"/>
              </a:rPr>
              <a:t>Humano y legítimo, pero que nunca iba a comprar. Colocaciones en apps de juegos, clics accidentales, audiencias mal segmentadas.</a:t>
            </a:r>
            <a:endParaRPr lang="en-US" sz="1450" dirty="0"/>
          </a:p>
        </p:txBody>
      </p:sp>
      <p:sp>
        <p:nvSpPr>
          <p:cNvPr id="19" name="Text 17"/>
          <p:cNvSpPr txBox="1"/>
          <p:nvPr/>
        </p:nvSpPr>
        <p:spPr>
          <a:xfrm>
            <a:off x="685800" y="5532120"/>
            <a:ext cx="9951964" cy="548640"/>
          </a:xfrm>
          <a:prstGeom prst="rect">
            <a:avLst/>
          </a:prstGeom>
          <a:noFill/>
          <a:ln/>
        </p:spPr>
        <p:txBody>
          <a:bodyPr wrap="square" lIns="0" tIns="0" rIns="0" bIns="0" rtlCol="0" anchor="ctr"/>
          <a:lstStyle/>
          <a:p>
            <a:pPr algn="l" indent="0" marL="0">
              <a:buNone/>
            </a:pPr>
            <a:r>
              <a:rPr lang="en-US" sz="2200" b="1" dirty="0">
                <a:solidFill>
                  <a:srgbClr val="CBFF3D"/>
                </a:solidFill>
                <a:latin typeface="Onest" pitchFamily="34" charset="0"/>
                <a:ea typeface="Onest" pitchFamily="34" charset="-122"/>
                <a:cs typeface="Onest" pitchFamily="34" charset="-120"/>
              </a:rPr>
              <a:t>Tu gap de medición no se está estabilizando. Se está ensanchando.</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22225">
            <a:solidFill>
              <a:srgbClr val="111412"/>
            </a:solidFill>
            <a:prstDash val="solid"/>
          </a:ln>
        </p:spPr>
      </p:sp>
      <p:sp>
        <p:nvSpPr>
          <p:cNvPr id="7" name="Shape 5"/>
          <p:cNvSpPr/>
          <p:nvPr/>
        </p:nvSpPr>
        <p:spPr>
          <a:xfrm>
            <a:off x="11228832" y="402336"/>
            <a:ext cx="137160" cy="137160"/>
          </a:xfrm>
          <a:prstGeom prst="rect">
            <a:avLst/>
          </a:prstGeom>
          <a:solidFill>
            <a:srgbClr val="F4F1E8"/>
          </a:solidFill>
          <a:ln w="12700">
            <a:solidFill>
              <a:srgbClr val="D4D4C8"/>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Y NO SOLO NO LOS MIDES: LOS PAGAS</a:t>
            </a:r>
            <a:endParaRPr lang="en-US" sz="1100" dirty="0"/>
          </a:p>
        </p:txBody>
      </p:sp>
      <p:sp>
        <p:nvSpPr>
          <p:cNvPr id="11" name="Text 9"/>
          <p:cNvSpPr txBox="1"/>
          <p:nvPr/>
        </p:nvSpPr>
        <p:spPr>
          <a:xfrm>
            <a:off x="685800" y="914400"/>
            <a:ext cx="9735617" cy="1280160"/>
          </a:xfrm>
          <a:prstGeom prst="rect">
            <a:avLst/>
          </a:prstGeom>
          <a:noFill/>
          <a:ln/>
        </p:spPr>
        <p:txBody>
          <a:bodyPr wrap="square" lIns="0" tIns="0" rIns="0" bIns="0" rtlCol="0" anchor="ctr"/>
          <a:lstStyle/>
          <a:p>
            <a:pPr algn="l" indent="0" marL="0">
              <a:lnSpc>
                <a:spcPts val="4600"/>
              </a:lnSpc>
              <a:buNone/>
            </a:pPr>
            <a:r>
              <a:rPr lang="en-US" sz="3800" b="1" dirty="0">
                <a:solidFill>
                  <a:srgbClr val="111412"/>
                </a:solidFill>
                <a:latin typeface="Onest" pitchFamily="34" charset="0"/>
                <a:ea typeface="Onest" pitchFamily="34" charset="-122"/>
                <a:cs typeface="Onest" pitchFamily="34" charset="-120"/>
              </a:rPr>
              <a:t>Pagas dos veces por el tráfico que no es una persona.</a:t>
            </a:r>
            <a:endParaRPr lang="en-US" sz="3800" dirty="0"/>
          </a:p>
        </p:txBody>
      </p:sp>
      <p:sp>
        <p:nvSpPr>
          <p:cNvPr id="12" name="Shape 10"/>
          <p:cNvSpPr/>
          <p:nvPr/>
        </p:nvSpPr>
        <p:spPr>
          <a:xfrm>
            <a:off x="685800" y="2514600"/>
            <a:ext cx="5271516" cy="1371600"/>
          </a:xfrm>
          <a:prstGeom prst="rect">
            <a:avLst/>
          </a:prstGeom>
          <a:solidFill>
            <a:srgbClr val="FFFDF7"/>
          </a:solidFill>
          <a:ln w="12700">
            <a:solidFill>
              <a:srgbClr val="D4D4C8"/>
            </a:solidFill>
            <a:prstDash val="solid"/>
          </a:ln>
        </p:spPr>
      </p:sp>
      <p:sp>
        <p:nvSpPr>
          <p:cNvPr id="13" name="Text 11"/>
          <p:cNvSpPr txBox="1"/>
          <p:nvPr/>
        </p:nvSpPr>
        <p:spPr>
          <a:xfrm>
            <a:off x="1005840" y="2697480"/>
            <a:ext cx="548640" cy="365760"/>
          </a:xfrm>
          <a:prstGeom prst="rect">
            <a:avLst/>
          </a:prstGeom>
          <a:noFill/>
          <a:ln/>
        </p:spPr>
        <p:txBody>
          <a:bodyPr wrap="square" lIns="0" tIns="0" rIns="0" bIns="0" rtlCol="0" anchor="ctr"/>
          <a:lstStyle/>
          <a:p>
            <a:pPr algn="l" indent="0" marL="0">
              <a:buNone/>
            </a:pPr>
            <a:r>
              <a:rPr lang="en-US" sz="1300" b="1" dirty="0">
                <a:solidFill>
                  <a:srgbClr val="B5423B"/>
                </a:solidFill>
                <a:latin typeface="JetBrains Mono" pitchFamily="34" charset="0"/>
                <a:ea typeface="JetBrains Mono" pitchFamily="34" charset="-122"/>
                <a:cs typeface="JetBrains Mono" pitchFamily="34" charset="-120"/>
              </a:rPr>
              <a:t>1</a:t>
            </a:r>
            <a:endParaRPr lang="en-US" sz="1300" dirty="0"/>
          </a:p>
        </p:txBody>
      </p:sp>
      <p:sp>
        <p:nvSpPr>
          <p:cNvPr id="14" name="Text 12"/>
          <p:cNvSpPr txBox="1"/>
          <p:nvPr/>
        </p:nvSpPr>
        <p:spPr>
          <a:xfrm>
            <a:off x="1005840" y="3017520"/>
            <a:ext cx="4631436" cy="365760"/>
          </a:xfrm>
          <a:prstGeom prst="rect">
            <a:avLst/>
          </a:prstGeom>
          <a:noFill/>
          <a:ln/>
        </p:spPr>
        <p:txBody>
          <a:bodyPr wrap="square" lIns="0" tIns="0" rIns="0" bIns="0" rtlCol="0" anchor="ctr"/>
          <a:lstStyle/>
          <a:p>
            <a:pPr algn="l" indent="0" marL="0">
              <a:buNone/>
            </a:pPr>
            <a:r>
              <a:rPr lang="en-US" sz="2000" b="1" dirty="0">
                <a:solidFill>
                  <a:srgbClr val="111412"/>
                </a:solidFill>
                <a:latin typeface="Onest" pitchFamily="34" charset="0"/>
                <a:ea typeface="Onest" pitchFamily="34" charset="-122"/>
                <a:cs typeface="Onest" pitchFamily="34" charset="-120"/>
              </a:rPr>
              <a:t>A la plataforma</a:t>
            </a:r>
            <a:endParaRPr lang="en-US" sz="2000" dirty="0"/>
          </a:p>
        </p:txBody>
      </p:sp>
      <p:sp>
        <p:nvSpPr>
          <p:cNvPr id="15" name="Text 13"/>
          <p:cNvSpPr txBox="1"/>
          <p:nvPr/>
        </p:nvSpPr>
        <p:spPr>
          <a:xfrm>
            <a:off x="1005840" y="3401568"/>
            <a:ext cx="4631436" cy="411480"/>
          </a:xfrm>
          <a:prstGeom prst="rect">
            <a:avLst/>
          </a:prstGeom>
          <a:noFill/>
          <a:ln/>
        </p:spPr>
        <p:txBody>
          <a:bodyPr wrap="square" lIns="0" tIns="0" rIns="0" bIns="0" rtlCol="0" anchor="t"/>
          <a:lstStyle/>
          <a:p>
            <a:pPr algn="l" indent="0" marL="0">
              <a:buNone/>
            </a:pPr>
            <a:r>
              <a:rPr lang="en-US" sz="1400" dirty="0">
                <a:solidFill>
                  <a:srgbClr val="6B6B5E"/>
                </a:solidFill>
                <a:latin typeface="Onest" pitchFamily="34" charset="0"/>
                <a:ea typeface="Onest" pitchFamily="34" charset="-122"/>
                <a:cs typeface="Onest" pitchFamily="34" charset="-120"/>
              </a:rPr>
              <a:t>por el clic que ningún humano hizo</a:t>
            </a:r>
            <a:endParaRPr lang="en-US" sz="1400" dirty="0"/>
          </a:p>
        </p:txBody>
      </p:sp>
      <p:sp>
        <p:nvSpPr>
          <p:cNvPr id="16" name="Shape 14"/>
          <p:cNvSpPr/>
          <p:nvPr/>
        </p:nvSpPr>
        <p:spPr>
          <a:xfrm>
            <a:off x="6231636" y="2514600"/>
            <a:ext cx="5271516" cy="1371600"/>
          </a:xfrm>
          <a:prstGeom prst="rect">
            <a:avLst/>
          </a:prstGeom>
          <a:solidFill>
            <a:srgbClr val="FFFDF7"/>
          </a:solidFill>
          <a:ln w="12700">
            <a:solidFill>
              <a:srgbClr val="D4D4C8"/>
            </a:solidFill>
            <a:prstDash val="solid"/>
          </a:ln>
        </p:spPr>
      </p:sp>
      <p:sp>
        <p:nvSpPr>
          <p:cNvPr id="17" name="Text 15"/>
          <p:cNvSpPr txBox="1"/>
          <p:nvPr/>
        </p:nvSpPr>
        <p:spPr>
          <a:xfrm>
            <a:off x="6551676" y="2697480"/>
            <a:ext cx="548640" cy="365760"/>
          </a:xfrm>
          <a:prstGeom prst="rect">
            <a:avLst/>
          </a:prstGeom>
          <a:noFill/>
          <a:ln/>
        </p:spPr>
        <p:txBody>
          <a:bodyPr wrap="square" lIns="0" tIns="0" rIns="0" bIns="0" rtlCol="0" anchor="ctr"/>
          <a:lstStyle/>
          <a:p>
            <a:pPr algn="l" indent="0" marL="0">
              <a:buNone/>
            </a:pPr>
            <a:r>
              <a:rPr lang="en-US" sz="1300" b="1" dirty="0">
                <a:solidFill>
                  <a:srgbClr val="B5423B"/>
                </a:solidFill>
                <a:latin typeface="JetBrains Mono" pitchFamily="34" charset="0"/>
                <a:ea typeface="JetBrains Mono" pitchFamily="34" charset="-122"/>
                <a:cs typeface="JetBrains Mono" pitchFamily="34" charset="-120"/>
              </a:rPr>
              <a:t>2</a:t>
            </a:r>
            <a:endParaRPr lang="en-US" sz="1300" dirty="0"/>
          </a:p>
        </p:txBody>
      </p:sp>
      <p:sp>
        <p:nvSpPr>
          <p:cNvPr id="18" name="Text 16"/>
          <p:cNvSpPr txBox="1"/>
          <p:nvPr/>
        </p:nvSpPr>
        <p:spPr>
          <a:xfrm>
            <a:off x="6551676" y="3017520"/>
            <a:ext cx="4631436" cy="365760"/>
          </a:xfrm>
          <a:prstGeom prst="rect">
            <a:avLst/>
          </a:prstGeom>
          <a:noFill/>
          <a:ln/>
        </p:spPr>
        <p:txBody>
          <a:bodyPr wrap="square" lIns="0" tIns="0" rIns="0" bIns="0" rtlCol="0" anchor="ctr"/>
          <a:lstStyle/>
          <a:p>
            <a:pPr algn="l" indent="0" marL="0">
              <a:buNone/>
            </a:pPr>
            <a:r>
              <a:rPr lang="en-US" sz="2000" b="1" dirty="0">
                <a:solidFill>
                  <a:srgbClr val="111412"/>
                </a:solidFill>
                <a:latin typeface="Onest" pitchFamily="34" charset="0"/>
                <a:ea typeface="Onest" pitchFamily="34" charset="-122"/>
                <a:cs typeface="Onest" pitchFamily="34" charset="-120"/>
              </a:rPr>
              <a:t>A tu herramienta de analítica</a:t>
            </a:r>
            <a:endParaRPr lang="en-US" sz="2000" dirty="0"/>
          </a:p>
        </p:txBody>
      </p:sp>
      <p:sp>
        <p:nvSpPr>
          <p:cNvPr id="19" name="Text 17"/>
          <p:cNvSpPr txBox="1"/>
          <p:nvPr/>
        </p:nvSpPr>
        <p:spPr>
          <a:xfrm>
            <a:off x="6551676" y="3401568"/>
            <a:ext cx="4631436" cy="411480"/>
          </a:xfrm>
          <a:prstGeom prst="rect">
            <a:avLst/>
          </a:prstGeom>
          <a:noFill/>
          <a:ln/>
        </p:spPr>
        <p:txBody>
          <a:bodyPr wrap="square" lIns="0" tIns="0" rIns="0" bIns="0" rtlCol="0" anchor="t"/>
          <a:lstStyle/>
          <a:p>
            <a:pPr algn="l" indent="0" marL="0">
              <a:buNone/>
            </a:pPr>
            <a:r>
              <a:rPr lang="en-US" sz="1400" dirty="0">
                <a:solidFill>
                  <a:srgbClr val="6B6B5E"/>
                </a:solidFill>
                <a:latin typeface="Onest" pitchFamily="34" charset="0"/>
                <a:ea typeface="Onest" pitchFamily="34" charset="-122"/>
                <a:cs typeface="Onest" pitchFamily="34" charset="-120"/>
              </a:rPr>
              <a:t>que te factura por eventos que no son personas</a:t>
            </a:r>
            <a:endParaRPr lang="en-US" sz="1400" dirty="0"/>
          </a:p>
        </p:txBody>
      </p:sp>
      <p:sp>
        <p:nvSpPr>
          <p:cNvPr id="20" name="Text 18"/>
          <p:cNvSpPr txBox="1"/>
          <p:nvPr/>
        </p:nvSpPr>
        <p:spPr>
          <a:xfrm>
            <a:off x="685800" y="4160520"/>
            <a:ext cx="9951964" cy="914400"/>
          </a:xfrm>
          <a:prstGeom prst="rect">
            <a:avLst/>
          </a:prstGeom>
          <a:noFill/>
          <a:ln/>
        </p:spPr>
        <p:txBody>
          <a:bodyPr wrap="square" lIns="0" tIns="0" rIns="0" bIns="0" rtlCol="0" anchor="ctr"/>
          <a:lstStyle/>
          <a:p>
            <a:pPr algn="l" indent="0" marL="0">
              <a:lnSpc>
                <a:spcPts val="2900"/>
              </a:lnSpc>
              <a:buNone/>
            </a:pPr>
            <a:r>
              <a:rPr lang="en-US" sz="2200" b="1" dirty="0">
                <a:solidFill>
                  <a:srgbClr val="111412"/>
                </a:solidFill>
                <a:latin typeface="Onest" pitchFamily="34" charset="0"/>
                <a:ea typeface="Onest" pitchFamily="34" charset="-122"/>
                <a:cs typeface="Onest" pitchFamily="34" charset="-120"/>
              </a:rPr>
              <a:t>Y encima inflan el denominador: suben tus sesiones, hunden tu conversión, y te convencen de que tienes un problema de CRO.</a:t>
            </a:r>
            <a:endParaRPr lang="en-US" sz="2200" dirty="0"/>
          </a:p>
        </p:txBody>
      </p:sp>
      <p:sp>
        <p:nvSpPr>
          <p:cNvPr id="21" name="Text 19"/>
          <p:cNvSpPr txBox="1"/>
          <p:nvPr/>
        </p:nvSpPr>
        <p:spPr>
          <a:xfrm>
            <a:off x="685800" y="5120640"/>
            <a:ext cx="9735617" cy="457200"/>
          </a:xfrm>
          <a:prstGeom prst="rect">
            <a:avLst/>
          </a:prstGeom>
          <a:noFill/>
          <a:ln/>
        </p:spPr>
        <p:txBody>
          <a:bodyPr wrap="square" lIns="0" tIns="0" rIns="0" bIns="0" rtlCol="0" anchor="ctr"/>
          <a:lstStyle/>
          <a:p>
            <a:pPr algn="l" indent="0" marL="0">
              <a:buNone/>
            </a:pPr>
            <a:r>
              <a:rPr lang="en-US" sz="1900" i="1" dirty="0">
                <a:solidFill>
                  <a:srgbClr val="B5423B"/>
                </a:solidFill>
                <a:latin typeface="Onest" pitchFamily="34" charset="0"/>
                <a:ea typeface="Onest" pitchFamily="34" charset="-122"/>
                <a:cs typeface="Onest" pitchFamily="34" charset="-120"/>
              </a:rPr>
              <a:t>Vas a pagar una consultoría para arreglar la página equivocada.</a:t>
            </a:r>
            <a:endParaRPr lang="en-US" sz="1900" dirty="0"/>
          </a:p>
        </p:txBody>
      </p:sp>
      <p:sp>
        <p:nvSpPr>
          <p:cNvPr id="22" name="Text 20"/>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5  ·  Tasa de conversion por fuente. Si una trae mucho volumen y convierte 10x peor, no es un problema de CRO.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12700">
            <a:solidFill>
              <a:srgbClr val="CBFF3D"/>
            </a:solidFill>
            <a:prstDash val="solid"/>
          </a:ln>
        </p:spPr>
      </p:sp>
      <p:sp>
        <p:nvSpPr>
          <p:cNvPr id="4" name="Shape 2"/>
          <p:cNvSpPr/>
          <p:nvPr/>
        </p:nvSpPr>
        <p:spPr>
          <a:xfrm>
            <a:off x="10428732" y="402336"/>
            <a:ext cx="137160" cy="137160"/>
          </a:xfrm>
          <a:prstGeom prst="rect">
            <a:avLst/>
          </a:prstGeom>
          <a:solidFill>
            <a:srgbClr val="CBFF3D"/>
          </a:solidFill>
          <a:ln w="12700">
            <a:solidFill>
              <a:srgbClr val="CBFF3D"/>
            </a:solidFill>
            <a:prstDash val="solid"/>
          </a:ln>
        </p:spPr>
      </p:sp>
      <p:sp>
        <p:nvSpPr>
          <p:cNvPr id="5" name="Shape 3"/>
          <p:cNvSpPr/>
          <p:nvPr/>
        </p:nvSpPr>
        <p:spPr>
          <a:xfrm>
            <a:off x="10634472" y="402336"/>
            <a:ext cx="137160" cy="137160"/>
          </a:xfrm>
          <a:prstGeom prst="rect">
            <a:avLst/>
          </a:prstGeom>
          <a:solidFill>
            <a:srgbClr val="CBFF3D"/>
          </a:solidFill>
          <a:ln w="12700">
            <a:solidFill>
              <a:srgbClr val="CBFF3D"/>
            </a:solidFill>
            <a:prstDash val="solid"/>
          </a:ln>
        </p:spPr>
      </p:sp>
      <p:sp>
        <p:nvSpPr>
          <p:cNvPr id="6" name="Shape 4"/>
          <p:cNvSpPr/>
          <p:nvPr/>
        </p:nvSpPr>
        <p:spPr>
          <a:xfrm>
            <a:off x="10840212" y="402336"/>
            <a:ext cx="137160" cy="137160"/>
          </a:xfrm>
          <a:prstGeom prst="rect">
            <a:avLst/>
          </a:prstGeom>
          <a:solidFill>
            <a:srgbClr val="CBFF3D"/>
          </a:solidFill>
          <a:ln w="12700">
            <a:solidFill>
              <a:srgbClr val="CBFF3D"/>
            </a:solidFill>
            <a:prstDash val="solid"/>
          </a:ln>
        </p:spPr>
      </p:sp>
      <p:sp>
        <p:nvSpPr>
          <p:cNvPr id="7" name="Shape 5"/>
          <p:cNvSpPr/>
          <p:nvPr/>
        </p:nvSpPr>
        <p:spPr>
          <a:xfrm>
            <a:off x="11228832" y="402336"/>
            <a:ext cx="137160" cy="137160"/>
          </a:xfrm>
          <a:prstGeom prst="rect">
            <a:avLst/>
          </a:prstGeom>
          <a:solidFill>
            <a:srgbClr val="CBFF3D"/>
          </a:solidFill>
          <a:ln w="22225">
            <a:solidFill>
              <a:srgbClr val="CBFF3D"/>
            </a:solidFill>
            <a:prstDash val="solid"/>
          </a:ln>
        </p:spPr>
      </p:sp>
      <p:sp>
        <p:nvSpPr>
          <p:cNvPr id="8" name="Shape 6"/>
          <p:cNvSpPr/>
          <p:nvPr/>
        </p:nvSpPr>
        <p:spPr>
          <a:xfrm>
            <a:off x="11434572" y="402336"/>
            <a:ext cx="137160" cy="137160"/>
          </a:xfrm>
          <a:prstGeom prst="rect">
            <a:avLst/>
          </a:prstGeom>
          <a:solidFill>
            <a:srgbClr val="111412"/>
          </a:solidFill>
          <a:ln w="12700">
            <a:solidFill>
              <a:srgbClr val="2B2A2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EXTRA 1 · LA FUGA QUE NI SABES QUE TIENES</a:t>
            </a:r>
            <a:endParaRPr lang="en-US" sz="1100" dirty="0"/>
          </a:p>
        </p:txBody>
      </p:sp>
      <p:sp>
        <p:nvSpPr>
          <p:cNvPr id="11" name="Text 9"/>
          <p:cNvSpPr txBox="1"/>
          <p:nvPr/>
        </p:nvSpPr>
        <p:spPr>
          <a:xfrm>
            <a:off x="685800" y="1554480"/>
            <a:ext cx="9951964" cy="3566160"/>
          </a:xfrm>
          <a:prstGeom prst="rect">
            <a:avLst/>
          </a:prstGeom>
          <a:noFill/>
          <a:ln/>
        </p:spPr>
        <p:txBody>
          <a:bodyPr wrap="square" lIns="0" tIns="0" rIns="0" bIns="0" rtlCol="0" anchor="t"/>
          <a:lstStyle/>
          <a:p>
            <a:pPr algn="l" indent="0" marL="0">
              <a:lnSpc>
                <a:spcPts val="5152"/>
              </a:lnSpc>
              <a:buNone/>
            </a:pPr>
            <a:r>
              <a:rPr lang="en-US" sz="4600" b="1" dirty="0">
                <a:solidFill>
                  <a:srgbClr val="F4F1E8"/>
                </a:solidFill>
                <a:latin typeface="Onest" pitchFamily="34" charset="0"/>
                <a:ea typeface="Onest" pitchFamily="34" charset="-122"/>
                <a:cs typeface="Onest" pitchFamily="34" charset="-120"/>
              </a:rPr>
              <a:t>Deja de medir personas.</a:t>
            </a:r>
            <a:endParaRPr lang="en-US" sz="4600" dirty="0"/>
          </a:p>
          <a:p>
            <a:pPr algn="l" indent="0" marL="0">
              <a:lnSpc>
                <a:spcPts val="5152"/>
              </a:lnSpc>
              <a:buNone/>
            </a:pPr>
            <a:r>
              <a:rPr lang="en-US" sz="4600" b="1" dirty="0">
                <a:solidFill>
                  <a:srgbClr val="F4F1E8"/>
                </a:solidFill>
                <a:latin typeface="Onest" pitchFamily="34" charset="0"/>
                <a:ea typeface="Onest" pitchFamily="34" charset="-122"/>
                <a:cs typeface="Onest" pitchFamily="34" charset="-120"/>
              </a:rPr>
              <a:t>Empieza a medir lo que pasa en tu web.</a:t>
            </a:r>
            <a:endParaRPr lang="en-US" sz="4600" dirty="0"/>
          </a:p>
        </p:txBody>
      </p:sp>
      <p:sp>
        <p:nvSpPr>
          <p:cNvPr id="12" name="Text 10"/>
          <p:cNvSpPr txBox="1"/>
          <p:nvPr/>
        </p:nvSpPr>
        <p:spPr>
          <a:xfrm>
            <a:off x="685800" y="4206240"/>
            <a:ext cx="9519270" cy="1097280"/>
          </a:xfrm>
          <a:prstGeom prst="rect">
            <a:avLst/>
          </a:prstGeom>
          <a:noFill/>
          <a:ln/>
        </p:spPr>
        <p:txBody>
          <a:bodyPr wrap="square" lIns="0" tIns="0" rIns="0" bIns="0" rtlCol="0" anchor="ctr"/>
          <a:lstStyle/>
          <a:p>
            <a:pPr algn="l" indent="0" marL="0">
              <a:lnSpc>
                <a:spcPts val="2900"/>
              </a:lnSpc>
              <a:buNone/>
            </a:pPr>
            <a:r>
              <a:rPr lang="en-US" sz="2100" dirty="0">
                <a:solidFill>
                  <a:srgbClr val="CBFF3D"/>
                </a:solidFill>
                <a:latin typeface="Onest" pitchFamily="34" charset="0"/>
                <a:ea typeface="Onest" pitchFamily="34" charset="-122"/>
                <a:cs typeface="Onest" pitchFamily="34" charset="-120"/>
              </a:rPr>
              <a:t>Mides visitas y mides ventas. Lo de en medio —dónde se cae cada canal— no lo mide casi nadie. Y ahí es donde está el dinero.</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22225">
            <a:solidFill>
              <a:srgbClr val="111412"/>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EXTRA 1 · EL FUNNEL, CANAL POR CANAL</a:t>
            </a:r>
            <a:endParaRPr lang="en-US" sz="1100" dirty="0"/>
          </a:p>
        </p:txBody>
      </p:sp>
      <p:sp>
        <p:nvSpPr>
          <p:cNvPr id="11" name="Text 9"/>
          <p:cNvSpPr txBox="1"/>
          <p:nvPr/>
        </p:nvSpPr>
        <p:spPr>
          <a:xfrm>
            <a:off x="685800" y="841248"/>
            <a:ext cx="10817352" cy="548640"/>
          </a:xfrm>
          <a:prstGeom prst="rect">
            <a:avLst/>
          </a:prstGeom>
          <a:noFill/>
          <a:ln/>
        </p:spPr>
        <p:txBody>
          <a:bodyPr wrap="square" lIns="0" tIns="0" rIns="0" bIns="0" rtlCol="0" anchor="ctr"/>
          <a:lstStyle/>
          <a:p>
            <a:pPr algn="l" indent="0" marL="0">
              <a:buNone/>
            </a:pPr>
            <a:r>
              <a:rPr lang="en-US" sz="3000" b="1" dirty="0">
                <a:solidFill>
                  <a:srgbClr val="111412"/>
                </a:solidFill>
                <a:latin typeface="Onest" pitchFamily="34" charset="0"/>
                <a:ea typeface="Onest" pitchFamily="34" charset="-122"/>
                <a:cs typeface="Onest" pitchFamily="34" charset="-120"/>
              </a:rPr>
              <a:t>Aquí se ve dónde se cae cada euro.</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481328"/>
          <a:ext cx="10817352" cy="914400"/>
        </p:xfrm>
        <a:graphic>
          <a:graphicData uri="http://schemas.openxmlformats.org/drawingml/2006/table">
            <a:tbl>
              <a:tblPr/>
              <a:tblGrid>
                <a:gridCol w="2606040"/>
                <a:gridCol w="1600200"/>
                <a:gridCol w="1737360"/>
                <a:gridCol w="1874520"/>
                <a:gridCol w="1828800"/>
                <a:gridCol w="1170432"/>
              </a:tblGrid>
              <a:tr h="475488">
                <a:tc>
                  <a:txBody>
                    <a:bodyPr/>
                    <a:lstStyle/>
                    <a:p>
                      <a:pPr algn="l" indent="0" marL="0">
                        <a:buNone/>
                      </a:pPr>
                      <a:r>
                        <a:rPr lang="en-US" sz="1150" b="1" dirty="0">
                          <a:solidFill>
                            <a:srgbClr val="CBFF3D"/>
                          </a:solidFill>
                          <a:latin typeface="JetBrains Mono" pitchFamily="34" charset="0"/>
                          <a:ea typeface="JetBrains Mono" pitchFamily="34" charset="-122"/>
                          <a:cs typeface="JetBrains Mono" pitchFamily="34" charset="-120"/>
                        </a:rPr>
                        <a:t>Fuente</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Visitas</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Ver producto</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Añadir al carrito</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Begin checkout</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Compra</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r>
              <a:tr h="475488">
                <a:tc>
                  <a:txBody>
                    <a:bodyPr/>
                    <a:lstStyle/>
                    <a:p>
                      <a:pPr indent="0" marL="0">
                        <a:buNone/>
                      </a:pPr>
                      <a:r>
                        <a:rPr lang="en-US" sz="1600" dirty="0">
                          <a:solidFill>
                            <a:srgbClr val="111412"/>
                          </a:solidFill>
                          <a:latin typeface="Onest" pitchFamily="34" charset="0"/>
                          <a:ea typeface="Onest" pitchFamily="34" charset="-122"/>
                          <a:cs typeface="Onest" pitchFamily="34" charset="-120"/>
                        </a:rPr>
                        <a:t>Google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48.200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52%</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11,4%</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6,1%</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b="1" dirty="0">
                          <a:solidFill>
                            <a:srgbClr val="6B6B5E"/>
                          </a:solidFill>
                          <a:latin typeface="JetBrains Mono" pitchFamily="34" charset="0"/>
                          <a:ea typeface="JetBrains Mono" pitchFamily="34" charset="-122"/>
                          <a:cs typeface="JetBrains Mono" pitchFamily="34" charset="-120"/>
                        </a:rPr>
                        <a:t>3,8%</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475488">
                <a:tc>
                  <a:txBody>
                    <a:bodyPr/>
                    <a:lstStyle/>
                    <a:p>
                      <a:pPr indent="0" marL="0">
                        <a:buNone/>
                      </a:pPr>
                      <a:r>
                        <a:rPr lang="en-US" sz="1600" dirty="0">
                          <a:solidFill>
                            <a:srgbClr val="111412"/>
                          </a:solidFill>
                          <a:latin typeface="Onest" pitchFamily="34" charset="0"/>
                          <a:ea typeface="Onest" pitchFamily="34" charset="-122"/>
                          <a:cs typeface="Onest" pitchFamily="34" charset="-120"/>
                        </a:rPr>
                        <a:t>Meta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31.500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44%</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7,2%</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3,4%</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b="1" dirty="0">
                          <a:solidFill>
                            <a:srgbClr val="6B6B5E"/>
                          </a:solidFill>
                          <a:latin typeface="JetBrains Mono" pitchFamily="34" charset="0"/>
                          <a:ea typeface="JetBrains Mono" pitchFamily="34" charset="-122"/>
                          <a:cs typeface="JetBrains Mono" pitchFamily="34" charset="-120"/>
                        </a:rPr>
                        <a:t>1,9%</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475488">
                <a:tc>
                  <a:txBody>
                    <a:bodyPr/>
                    <a:lstStyle/>
                    <a:p>
                      <a:pPr indent="0" marL="0">
                        <a:buNone/>
                      </a:pPr>
                      <a:r>
                        <a:rPr lang="en-US" sz="1600" b="1" dirty="0">
                          <a:solidFill>
                            <a:srgbClr val="111412"/>
                          </a:solidFill>
                          <a:latin typeface="Onest" pitchFamily="34" charset="0"/>
                          <a:ea typeface="Onest" pitchFamily="34" charset="-122"/>
                          <a:cs typeface="Onest" pitchFamily="34" charset="-120"/>
                        </a:rPr>
                        <a:t>TikTok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22.800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61%</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9,8%</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5,2%</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b="1" dirty="0">
                          <a:solidFill>
                            <a:srgbClr val="111412"/>
                          </a:solidFill>
                          <a:latin typeface="JetBrains Mono" pitchFamily="34" charset="0"/>
                          <a:ea typeface="JetBrains Mono" pitchFamily="34" charset="-122"/>
                          <a:cs typeface="JetBrains Mono" pitchFamily="34" charset="-120"/>
                        </a:rPr>
                        <a:t>3,1%</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r>
              <a:tr h="475488">
                <a:tc>
                  <a:txBody>
                    <a:bodyPr/>
                    <a:lstStyle/>
                    <a:p>
                      <a:pPr indent="0" marL="0">
                        <a:buNone/>
                      </a:pPr>
                      <a:r>
                        <a:rPr lang="en-US" sz="1600" dirty="0">
                          <a:solidFill>
                            <a:srgbClr val="111412"/>
                          </a:solidFill>
                          <a:latin typeface="Onest" pitchFamily="34" charset="0"/>
                          <a:ea typeface="Onest" pitchFamily="34" charset="-122"/>
                          <a:cs typeface="Onest" pitchFamily="34" charset="-120"/>
                        </a:rPr>
                        <a:t>Buscador orgánico</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38.400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39%</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8,1%</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4,6%</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b="1" dirty="0">
                          <a:solidFill>
                            <a:srgbClr val="6B6B5E"/>
                          </a:solidFill>
                          <a:latin typeface="JetBrains Mono" pitchFamily="34" charset="0"/>
                          <a:ea typeface="JetBrains Mono" pitchFamily="34" charset="-122"/>
                          <a:cs typeface="JetBrains Mono" pitchFamily="34" charset="-120"/>
                        </a:rPr>
                        <a:t>2,9%</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475488">
                <a:tc>
                  <a:txBody>
                    <a:bodyPr/>
                    <a:lstStyle/>
                    <a:p>
                      <a:pPr indent="0" marL="0">
                        <a:buNone/>
                      </a:pPr>
                      <a:r>
                        <a:rPr lang="en-US" sz="1600" b="1" dirty="0">
                          <a:solidFill>
                            <a:srgbClr val="111412"/>
                          </a:solidFill>
                          <a:latin typeface="Onest" pitchFamily="34" charset="0"/>
                          <a:ea typeface="Onest" pitchFamily="34" charset="-122"/>
                          <a:cs typeface="Onest" pitchFamily="34" charset="-120"/>
                        </a:rPr>
                        <a:t>Email</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12.100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68%</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19,3%</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12,7%</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b="1" dirty="0">
                          <a:solidFill>
                            <a:srgbClr val="111412"/>
                          </a:solidFill>
                          <a:latin typeface="JetBrains Mono" pitchFamily="34" charset="0"/>
                          <a:ea typeface="JetBrains Mono" pitchFamily="34" charset="-122"/>
                          <a:cs typeface="JetBrains Mono" pitchFamily="34" charset="-120"/>
                        </a:rPr>
                        <a:t>9,4%</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r>
              <a:tr h="475488">
                <a:tc>
                  <a:txBody>
                    <a:bodyPr/>
                    <a:lstStyle/>
                    <a:p>
                      <a:pPr indent="0" marL="0">
                        <a:buNone/>
                      </a:pPr>
                      <a:r>
                        <a:rPr lang="en-US" sz="1600" dirty="0">
                          <a:solidFill>
                            <a:srgbClr val="111412"/>
                          </a:solidFill>
                          <a:latin typeface="Onest" pitchFamily="34" charset="0"/>
                          <a:ea typeface="Onest" pitchFamily="34" charset="-122"/>
                          <a:cs typeface="Onest" pitchFamily="34" charset="-120"/>
                        </a:rPr>
                        <a:t>Afiliación</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9.700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57%</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14,2%</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8,8%</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b="1" dirty="0">
                          <a:solidFill>
                            <a:srgbClr val="6B6B5E"/>
                          </a:solidFill>
                          <a:latin typeface="JetBrains Mono" pitchFamily="34" charset="0"/>
                          <a:ea typeface="JetBrains Mono" pitchFamily="34" charset="-122"/>
                          <a:cs typeface="JetBrains Mono" pitchFamily="34" charset="-120"/>
                        </a:rPr>
                        <a:t>6,2%</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475488">
                <a:tc>
                  <a:txBody>
                    <a:bodyPr/>
                    <a:lstStyle/>
                    <a:p>
                      <a:pPr indent="0" marL="0">
                        <a:buNone/>
                      </a:pPr>
                      <a:r>
                        <a:rPr lang="en-US" sz="1600" dirty="0">
                          <a:solidFill>
                            <a:srgbClr val="111412"/>
                          </a:solidFill>
                          <a:latin typeface="Onest" pitchFamily="34" charset="0"/>
                          <a:ea typeface="Onest" pitchFamily="34" charset="-122"/>
                          <a:cs typeface="Onest" pitchFamily="34" charset="-120"/>
                        </a:rPr>
                        <a:t>Directo</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24.900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35%</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6,4%</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3,1%</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b="1" dirty="0">
                          <a:solidFill>
                            <a:srgbClr val="6B6B5E"/>
                          </a:solidFill>
                          <a:latin typeface="JetBrains Mono" pitchFamily="34" charset="0"/>
                          <a:ea typeface="JetBrains Mono" pitchFamily="34" charset="-122"/>
                          <a:cs typeface="JetBrains Mono" pitchFamily="34" charset="-120"/>
                        </a:rPr>
                        <a:t>2,0%</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bl>
          </a:graphicData>
        </a:graphic>
      </p:graphicFrame>
      <p:sp>
        <p:nvSpPr>
          <p:cNvPr id="13" name="Text 10"/>
          <p:cNvSpPr txBox="1"/>
          <p:nvPr/>
        </p:nvSpPr>
        <p:spPr>
          <a:xfrm>
            <a:off x="685800" y="5074920"/>
            <a:ext cx="10168311" cy="731520"/>
          </a:xfrm>
          <a:prstGeom prst="rect">
            <a:avLst/>
          </a:prstGeom>
          <a:noFill/>
          <a:ln/>
        </p:spPr>
        <p:txBody>
          <a:bodyPr wrap="square" lIns="0" tIns="0" rIns="0" bIns="0" rtlCol="0" anchor="ctr"/>
          <a:lstStyle/>
          <a:p>
            <a:pPr algn="l" indent="0" marL="0">
              <a:lnSpc>
                <a:spcPts val="2300"/>
              </a:lnSpc>
              <a:buNone/>
            </a:pPr>
            <a:r>
              <a:rPr lang="en-US" sz="1700" b="1" dirty="0">
                <a:solidFill>
                  <a:srgbClr val="111412"/>
                </a:solidFill>
                <a:latin typeface="Onest" pitchFamily="34" charset="0"/>
                <a:ea typeface="Onest" pitchFamily="34" charset="-122"/>
                <a:cs typeface="Onest" pitchFamily="34" charset="-120"/>
              </a:rPr>
              <a:t>Cada porcentaje es sobre las visitas de esa fuente. Mira la fila de TikTok: es la que más gente lleva a ver producto. Y era la que ibas a recortar.</a:t>
            </a:r>
            <a:endParaRPr lang="en-US" sz="1700" dirty="0"/>
          </a:p>
        </p:txBody>
      </p:sp>
      <p:sp>
        <p:nvSpPr>
          <p:cNvPr id="14" name="Text 11"/>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6  ·  Puedes construir esta tabla con tu analitica actual? Ejemplo ilustrativo.</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22225">
            <a:solidFill>
              <a:srgbClr val="111412"/>
            </a:solidFill>
            <a:prstDash val="solid"/>
          </a:ln>
        </p:spPr>
      </p:sp>
      <p:sp>
        <p:nvSpPr>
          <p:cNvPr id="8" name="Shape 6"/>
          <p:cNvSpPr/>
          <p:nvPr/>
        </p:nvSpPr>
        <p:spPr>
          <a:xfrm>
            <a:off x="11434572" y="402336"/>
            <a:ext cx="137160" cy="137160"/>
          </a:xfrm>
          <a:prstGeom prst="rect">
            <a:avLst/>
          </a:prstGeom>
          <a:solidFill>
            <a:srgbClr val="F4F1E8"/>
          </a:solidFill>
          <a:ln w="12700">
            <a:solidFill>
              <a:srgbClr val="D4D4C8"/>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EXTRA 1 · LA MISMA TABLA, PERO EN EUROS</a:t>
            </a:r>
            <a:endParaRPr lang="en-US" sz="1100" dirty="0"/>
          </a:p>
        </p:txBody>
      </p:sp>
      <p:sp>
        <p:nvSpPr>
          <p:cNvPr id="11" name="Text 9"/>
          <p:cNvSpPr txBox="1"/>
          <p:nvPr/>
        </p:nvSpPr>
        <p:spPr>
          <a:xfrm>
            <a:off x="685800" y="841248"/>
            <a:ext cx="10817352" cy="548640"/>
          </a:xfrm>
          <a:prstGeom prst="rect">
            <a:avLst/>
          </a:prstGeom>
          <a:noFill/>
          <a:ln/>
        </p:spPr>
        <p:txBody>
          <a:bodyPr wrap="square" lIns="0" tIns="0" rIns="0" bIns="0" rtlCol="0" anchor="ctr"/>
          <a:lstStyle/>
          <a:p>
            <a:pPr algn="l" indent="0" marL="0">
              <a:buNone/>
            </a:pPr>
            <a:r>
              <a:rPr lang="en-US" sz="3000" b="1" dirty="0">
                <a:solidFill>
                  <a:srgbClr val="111412"/>
                </a:solidFill>
                <a:latin typeface="Onest" pitchFamily="34" charset="0"/>
                <a:ea typeface="Onest" pitchFamily="34" charset="-122"/>
                <a:cs typeface="Onest" pitchFamily="34" charset="-120"/>
              </a:rPr>
              <a:t>Y ahora ponle precio a cada escalón.</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1481328"/>
          <a:ext cx="10817352" cy="914400"/>
        </p:xfrm>
        <a:graphic>
          <a:graphicData uri="http://schemas.openxmlformats.org/drawingml/2006/table">
            <a:tbl>
              <a:tblPr/>
              <a:tblGrid>
                <a:gridCol w="2331720"/>
                <a:gridCol w="1417320"/>
                <a:gridCol w="1764792"/>
                <a:gridCol w="1764792"/>
                <a:gridCol w="1764792"/>
                <a:gridCol w="1773936"/>
              </a:tblGrid>
              <a:tr h="749808">
                <a:tc>
                  <a:txBody>
                    <a:bodyPr/>
                    <a:lstStyle/>
                    <a:p>
                      <a:pPr algn="l" indent="0" marL="0">
                        <a:buNone/>
                      </a:pPr>
                      <a:r>
                        <a:rPr lang="en-US" sz="1150" b="1" dirty="0">
                          <a:solidFill>
                            <a:srgbClr val="CBFF3D"/>
                          </a:solidFill>
                          <a:latin typeface="JetBrains Mono" pitchFamily="34" charset="0"/>
                          <a:ea typeface="JetBrains Mono" pitchFamily="34" charset="-122"/>
                          <a:cs typeface="JetBrains Mono" pitchFamily="34" charset="-120"/>
                        </a:rPr>
                        <a:t>Fuente</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Inversión</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Coste por</a:t>
                      </a:r>
                      <a:endParaRPr lang="en-US" sz="1150" dirty="0">
                        <a:latin typeface="JetBrains Mono" charset="0"/>
                        <a:ea typeface="JetBrains Mono" charset="0"/>
                        <a:cs typeface="JetBrains Mono" charset="0"/>
                      </a:endParaRPr>
                    </a:p>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ver producto</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Coste por</a:t>
                      </a:r>
                      <a:endParaRPr lang="en-US" sz="1150" dirty="0">
                        <a:latin typeface="JetBrains Mono" charset="0"/>
                        <a:ea typeface="JetBrains Mono" charset="0"/>
                        <a:cs typeface="JetBrains Mono" charset="0"/>
                      </a:endParaRPr>
                    </a:p>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añadir al carrito</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Coste por</a:t>
                      </a:r>
                      <a:endParaRPr lang="en-US" sz="1150" dirty="0">
                        <a:latin typeface="JetBrains Mono" charset="0"/>
                        <a:ea typeface="JetBrains Mono" charset="0"/>
                        <a:cs typeface="JetBrains Mono" charset="0"/>
                      </a:endParaRPr>
                    </a:p>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begin checkout</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c>
                  <a:txBody>
                    <a:bodyPr/>
                    <a:lstStyle/>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Coste por</a:t>
                      </a:r>
                      <a:endParaRPr lang="en-US" sz="1150" dirty="0">
                        <a:latin typeface="JetBrains Mono" charset="0"/>
                        <a:ea typeface="JetBrains Mono" charset="0"/>
                        <a:cs typeface="JetBrains Mono" charset="0"/>
                      </a:endParaRPr>
                    </a:p>
                    <a:p>
                      <a:pPr algn="ctr" indent="0" marL="0">
                        <a:buNone/>
                      </a:pPr>
                      <a:r>
                        <a:rPr lang="en-US" sz="1150" b="1" dirty="0">
                          <a:solidFill>
                            <a:srgbClr val="CBFF3D"/>
                          </a:solidFill>
                          <a:latin typeface="JetBrains Mono" pitchFamily="34" charset="0"/>
                          <a:ea typeface="JetBrains Mono" pitchFamily="34" charset="-122"/>
                          <a:cs typeface="JetBrains Mono" pitchFamily="34" charset="-120"/>
                        </a:rPr>
                        <a:t>compra</a:t>
                      </a:r>
                      <a:endParaRPr lang="en-US" sz="115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111412"/>
                    </a:solidFill>
                  </a:tcPr>
                </a:tc>
              </a:tr>
              <a:tr h="566928">
                <a:tc>
                  <a:txBody>
                    <a:bodyPr/>
                    <a:lstStyle/>
                    <a:p>
                      <a:pPr indent="0" marL="0">
                        <a:buNone/>
                      </a:pPr>
                      <a:r>
                        <a:rPr lang="en-US" sz="1600" dirty="0">
                          <a:solidFill>
                            <a:srgbClr val="111412"/>
                          </a:solidFill>
                          <a:latin typeface="Onest" pitchFamily="34" charset="0"/>
                          <a:ea typeface="Onest" pitchFamily="34" charset="-122"/>
                          <a:cs typeface="Onest" pitchFamily="34" charset="-120"/>
                        </a:rPr>
                        <a:t>Google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30.000 €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1,20 €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5,46 €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10,20 €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c>
                  <a:txBody>
                    <a:bodyPr/>
                    <a:lstStyle/>
                    <a:p>
                      <a:pPr algn="ctr" indent="0" marL="0">
                        <a:buNone/>
                      </a:pPr>
                      <a:r>
                        <a:rPr lang="en-US" sz="1600" b="1" dirty="0">
                          <a:solidFill>
                            <a:srgbClr val="6B6B5E"/>
                          </a:solidFill>
                          <a:latin typeface="JetBrains Mono" pitchFamily="34" charset="0"/>
                          <a:ea typeface="JetBrains Mono" pitchFamily="34" charset="-122"/>
                          <a:cs typeface="JetBrains Mono" pitchFamily="34" charset="-120"/>
                        </a:rPr>
                        <a:t>16,38 €</a:t>
                      </a:r>
                      <a:endParaRPr lang="en-US" sz="16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FFDF7"/>
                    </a:solidFill>
                  </a:tcPr>
                </a:tc>
              </a:tr>
              <a:tr h="566928">
                <a:tc>
                  <a:txBody>
                    <a:bodyPr/>
                    <a:lstStyle/>
                    <a:p>
                      <a:pPr indent="0" marL="0">
                        <a:buNone/>
                      </a:pPr>
                      <a:r>
                        <a:rPr lang="en-US" sz="1600" b="1" dirty="0">
                          <a:solidFill>
                            <a:srgbClr val="111412"/>
                          </a:solidFill>
                          <a:latin typeface="Onest" pitchFamily="34" charset="0"/>
                          <a:ea typeface="Onest" pitchFamily="34" charset="-122"/>
                          <a:cs typeface="Onest" pitchFamily="34" charset="-120"/>
                        </a:rPr>
                        <a:t>Meta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14.000 €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1,01 €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6,17 €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13,07 €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c>
                  <a:txBody>
                    <a:bodyPr/>
                    <a:lstStyle/>
                    <a:p>
                      <a:pPr algn="ctr" indent="0" marL="0">
                        <a:buNone/>
                      </a:pPr>
                      <a:r>
                        <a:rPr lang="en-US" sz="1600" b="1" dirty="0">
                          <a:solidFill>
                            <a:srgbClr val="111412"/>
                          </a:solidFill>
                          <a:latin typeface="JetBrains Mono" pitchFamily="34" charset="0"/>
                          <a:ea typeface="JetBrains Mono" pitchFamily="34" charset="-122"/>
                          <a:cs typeface="JetBrains Mono" pitchFamily="34" charset="-120"/>
                        </a:rPr>
                        <a:t>23,39 €</a:t>
                      </a:r>
                      <a:endParaRPr lang="en-US" sz="16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F5E1DE"/>
                    </a:solidFill>
                  </a:tcPr>
                </a:tc>
              </a:tr>
              <a:tr h="566928">
                <a:tc>
                  <a:txBody>
                    <a:bodyPr/>
                    <a:lstStyle/>
                    <a:p>
                      <a:pPr indent="0" marL="0">
                        <a:buNone/>
                      </a:pPr>
                      <a:r>
                        <a:rPr lang="en-US" sz="1600" b="1" dirty="0">
                          <a:solidFill>
                            <a:srgbClr val="111412"/>
                          </a:solidFill>
                          <a:latin typeface="Onest" pitchFamily="34" charset="0"/>
                          <a:ea typeface="Onest" pitchFamily="34" charset="-122"/>
                          <a:cs typeface="Onest" pitchFamily="34" charset="-120"/>
                        </a:rPr>
                        <a:t>TikTok Ads</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6.000 €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0,43 €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2,69 €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5,06 €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c>
                  <a:txBody>
                    <a:bodyPr/>
                    <a:lstStyle/>
                    <a:p>
                      <a:pPr algn="ctr" indent="0" marL="0">
                        <a:buNone/>
                      </a:pPr>
                      <a:r>
                        <a:rPr lang="en-US" sz="1600" b="1" dirty="0">
                          <a:solidFill>
                            <a:srgbClr val="111412"/>
                          </a:solidFill>
                          <a:latin typeface="JetBrains Mono" pitchFamily="34" charset="0"/>
                          <a:ea typeface="JetBrains Mono" pitchFamily="34" charset="-122"/>
                          <a:cs typeface="JetBrains Mono" pitchFamily="34" charset="-120"/>
                        </a:rPr>
                        <a:t>8,49 €</a:t>
                      </a:r>
                      <a:endParaRPr lang="en-US" sz="16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E4F7B8"/>
                    </a:solidFill>
                  </a:tcPr>
                </a:tc>
              </a:tr>
              <a:tr h="566928">
                <a:tc>
                  <a:txBody>
                    <a:bodyPr/>
                    <a:lstStyle/>
                    <a:p>
                      <a:pPr indent="0" marL="0">
                        <a:buNone/>
                      </a:pPr>
                      <a:r>
                        <a:rPr lang="en-US" sz="1600" b="1" dirty="0">
                          <a:solidFill>
                            <a:srgbClr val="111412"/>
                          </a:solidFill>
                          <a:latin typeface="Onest" pitchFamily="34" charset="0"/>
                          <a:ea typeface="Onest" pitchFamily="34" charset="-122"/>
                          <a:cs typeface="Onest" pitchFamily="34" charset="-120"/>
                        </a:rPr>
                        <a:t>Email</a:t>
                      </a:r>
                      <a:endParaRPr lang="en-US" sz="1600" dirty="0">
                        <a:latin typeface="Onest" charset="0"/>
                        <a:ea typeface="Onest" charset="0"/>
                        <a:cs typeface="Onest"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600 €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0,07 €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0,26 €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500" dirty="0">
                          <a:solidFill>
                            <a:srgbClr val="111412"/>
                          </a:solidFill>
                          <a:latin typeface="JetBrains Mono" pitchFamily="34" charset="0"/>
                          <a:ea typeface="JetBrains Mono" pitchFamily="34" charset="-122"/>
                          <a:cs typeface="JetBrains Mono" pitchFamily="34" charset="-120"/>
                        </a:rPr>
                        <a:t>0,39 €</a:t>
                      </a:r>
                      <a:endParaRPr lang="en-US" sz="15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c>
                  <a:txBody>
                    <a:bodyPr/>
                    <a:lstStyle/>
                    <a:p>
                      <a:pPr algn="ctr" indent="0" marL="0">
                        <a:buNone/>
                      </a:pPr>
                      <a:r>
                        <a:rPr lang="en-US" sz="1600" b="1" dirty="0">
                          <a:solidFill>
                            <a:srgbClr val="111412"/>
                          </a:solidFill>
                          <a:latin typeface="JetBrains Mono" pitchFamily="34" charset="0"/>
                          <a:ea typeface="JetBrains Mono" pitchFamily="34" charset="-122"/>
                          <a:cs typeface="JetBrains Mono" pitchFamily="34" charset="-120"/>
                        </a:rPr>
                        <a:t>0,53 €</a:t>
                      </a:r>
                      <a:endParaRPr lang="en-US" sz="1600" dirty="0">
                        <a:latin typeface="JetBrains Mono" charset="0"/>
                        <a:ea typeface="JetBrains Mono" charset="0"/>
                        <a:cs typeface="JetBrains Mono" charset="0"/>
                      </a:endParaRPr>
                    </a:p>
                  </a:txBody>
                  <a:tcPr marL="73152" marR="73152" marT="73152" marB="73152" anchor="ctr">
                    <a:lnL w="6350" cap="flat" cmpd="sng" algn="ctr">
                      <a:solidFill>
                        <a:srgbClr val="D4D4C8"/>
                      </a:solidFill>
                      <a:prstDash val="solid"/>
                      <a:round/>
                      <a:headEnd type="none" w="med" len="med"/>
                      <a:tailEnd type="none" w="med" len="med"/>
                    </a:lnL>
                    <a:lnR w="6350" cap="flat" cmpd="sng" algn="ctr">
                      <a:solidFill>
                        <a:srgbClr val="D4D4C8"/>
                      </a:solidFill>
                      <a:prstDash val="solid"/>
                      <a:round/>
                      <a:headEnd type="none" w="med" len="med"/>
                      <a:tailEnd type="none" w="med" len="med"/>
                    </a:lnR>
                    <a:lnT w="6350" cap="flat" cmpd="sng" algn="ctr">
                      <a:solidFill>
                        <a:srgbClr val="D4D4C8"/>
                      </a:solidFill>
                      <a:prstDash val="solid"/>
                      <a:round/>
                      <a:headEnd type="none" w="med" len="med"/>
                      <a:tailEnd type="none" w="med" len="med"/>
                    </a:lnT>
                    <a:lnB w="6350" cap="flat" cmpd="sng" algn="ctr">
                      <a:solidFill>
                        <a:srgbClr val="D4D4C8"/>
                      </a:solidFill>
                      <a:prstDash val="solid"/>
                      <a:round/>
                      <a:headEnd type="none" w="med" len="med"/>
                      <a:tailEnd type="none" w="med" len="med"/>
                    </a:lnB>
                    <a:solidFill>
                      <a:srgbClr val="C9E3D4"/>
                    </a:solidFill>
                  </a:tcPr>
                </a:tc>
              </a:tr>
            </a:tbl>
          </a:graphicData>
        </a:graphic>
      </p:graphicFrame>
      <p:sp>
        <p:nvSpPr>
          <p:cNvPr id="13" name="Text 10"/>
          <p:cNvSpPr txBox="1"/>
          <p:nvPr/>
        </p:nvSpPr>
        <p:spPr>
          <a:xfrm>
            <a:off x="685800" y="4700016"/>
            <a:ext cx="10168311" cy="566928"/>
          </a:xfrm>
          <a:prstGeom prst="rect">
            <a:avLst/>
          </a:prstGeom>
          <a:noFill/>
          <a:ln/>
        </p:spPr>
        <p:txBody>
          <a:bodyPr wrap="square" lIns="0" tIns="0" rIns="0" bIns="0" rtlCol="0" anchor="t"/>
          <a:lstStyle/>
          <a:p>
            <a:pPr algn="l" indent="0" marL="0">
              <a:lnSpc>
                <a:spcPts val="2500"/>
              </a:lnSpc>
              <a:buNone/>
            </a:pPr>
            <a:r>
              <a:rPr lang="en-US" sz="1900" b="1" dirty="0">
                <a:solidFill>
                  <a:srgbClr val="111412"/>
                </a:solidFill>
                <a:latin typeface="Onest" pitchFamily="34" charset="0"/>
                <a:ea typeface="Onest" pitchFamily="34" charset="-122"/>
                <a:cs typeface="Onest" pitchFamily="34" charset="-120"/>
              </a:rPr>
              <a:t>Meta se gasta 14.000 € para traer 598 ventas. TikTok se gasta 6.000 € y trae 707. Menos de la mitad de presupuesto y más ventas.</a:t>
            </a:r>
            <a:endParaRPr lang="en-US" sz="1900" dirty="0"/>
          </a:p>
        </p:txBody>
      </p:sp>
      <p:sp>
        <p:nvSpPr>
          <p:cNvPr id="14" name="Text 11"/>
          <p:cNvSpPr txBox="1"/>
          <p:nvPr/>
        </p:nvSpPr>
        <p:spPr>
          <a:xfrm>
            <a:off x="685800" y="5340096"/>
            <a:ext cx="10168311" cy="402336"/>
          </a:xfrm>
          <a:prstGeom prst="rect">
            <a:avLst/>
          </a:prstGeom>
          <a:noFill/>
          <a:ln/>
        </p:spPr>
        <p:txBody>
          <a:bodyPr wrap="square" lIns="0" tIns="0" rIns="0" bIns="0" rtlCol="0" anchor="t"/>
          <a:lstStyle/>
          <a:p>
            <a:pPr algn="l" indent="0" marL="0">
              <a:lnSpc>
                <a:spcPts val="2200"/>
              </a:lnSpc>
              <a:buNone/>
            </a:pPr>
            <a:r>
              <a:rPr lang="en-US" sz="1600" dirty="0">
                <a:solidFill>
                  <a:srgbClr val="6B6B5E"/>
                </a:solidFill>
                <a:latin typeface="Onest" pitchFamily="34" charset="0"/>
                <a:ea typeface="Onest" pitchFamily="34" charset="-122"/>
                <a:cs typeface="Onest" pitchFamily="34" charset="-120"/>
              </a:rPr>
              <a:t>Esto no lo ves en el CPA global. Lo ves midiendo cada escalón, para el 100% del tráfico.</a:t>
            </a:r>
            <a:endParaRPr lang="en-US" sz="1600" dirty="0"/>
          </a:p>
        </p:txBody>
      </p:sp>
      <p:sp>
        <p:nvSpPr>
          <p:cNvPr id="15" name="Text 12"/>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6 bis  ·  Sabes cuanto te cuesta cada paso del embudo, canal a canal? Ejemplo ilustrativo, mismas visitas que la tabla anterior.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12700">
            <a:solidFill>
              <a:srgbClr val="111412"/>
            </a:solidFill>
            <a:prstDash val="solid"/>
          </a:ln>
        </p:spPr>
      </p:sp>
      <p:sp>
        <p:nvSpPr>
          <p:cNvPr id="8" name="Shape 6"/>
          <p:cNvSpPr/>
          <p:nvPr/>
        </p:nvSpPr>
        <p:spPr>
          <a:xfrm>
            <a:off x="11434572" y="402336"/>
            <a:ext cx="137160" cy="137160"/>
          </a:xfrm>
          <a:prstGeom prst="rect">
            <a:avLst/>
          </a:prstGeom>
          <a:solidFill>
            <a:srgbClr val="111412"/>
          </a:solidFill>
          <a:ln w="22225">
            <a:solidFill>
              <a:srgbClr val="111412"/>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EXTRA 2 · LA OTRA FUGA QUE NI SABES QUE TIENES</a:t>
            </a:r>
            <a:endParaRPr lang="en-US" sz="1100" dirty="0"/>
          </a:p>
        </p:txBody>
      </p:sp>
      <p:sp>
        <p:nvSpPr>
          <p:cNvPr id="11" name="Text 9"/>
          <p:cNvSpPr txBox="1"/>
          <p:nvPr/>
        </p:nvSpPr>
        <p:spPr>
          <a:xfrm>
            <a:off x="685800" y="868680"/>
            <a:ext cx="10817352" cy="640080"/>
          </a:xfrm>
          <a:prstGeom prst="rect">
            <a:avLst/>
          </a:prstGeom>
          <a:noFill/>
          <a:ln/>
        </p:spPr>
        <p:txBody>
          <a:bodyPr wrap="square" lIns="0" tIns="0" rIns="0" bIns="0" rtlCol="0" anchor="ctr"/>
          <a:lstStyle/>
          <a:p>
            <a:pPr algn="l" indent="0" marL="0">
              <a:buNone/>
            </a:pPr>
            <a:r>
              <a:rPr lang="en-US" sz="3400" b="1" dirty="0">
                <a:solidFill>
                  <a:srgbClr val="111412"/>
                </a:solidFill>
                <a:latin typeface="Onest" pitchFamily="34" charset="0"/>
                <a:ea typeface="Onest" pitchFamily="34" charset="-122"/>
                <a:cs typeface="Onest" pitchFamily="34" charset="-120"/>
              </a:rPr>
              <a:t>¿Qué producto vende cada canal?</a:t>
            </a:r>
            <a:endParaRPr lang="en-US" sz="3400" dirty="0"/>
          </a:p>
        </p:txBody>
      </p:sp>
      <p:sp>
        <p:nvSpPr>
          <p:cNvPr id="12" name="Shape 10"/>
          <p:cNvSpPr/>
          <p:nvPr/>
        </p:nvSpPr>
        <p:spPr>
          <a:xfrm>
            <a:off x="685800" y="1691640"/>
            <a:ext cx="5271516" cy="1600200"/>
          </a:xfrm>
          <a:prstGeom prst="rect">
            <a:avLst/>
          </a:prstGeom>
          <a:solidFill>
            <a:srgbClr val="FFFDF7"/>
          </a:solidFill>
          <a:ln w="25400">
            <a:solidFill>
              <a:srgbClr val="B5423B"/>
            </a:solidFill>
            <a:prstDash val="solid"/>
          </a:ln>
        </p:spPr>
      </p:sp>
      <p:sp>
        <p:nvSpPr>
          <p:cNvPr id="13" name="Text 11"/>
          <p:cNvSpPr txBox="1"/>
          <p:nvPr/>
        </p:nvSpPr>
        <p:spPr>
          <a:xfrm>
            <a:off x="1005840" y="1920240"/>
            <a:ext cx="4631436" cy="320040"/>
          </a:xfrm>
          <a:prstGeom prst="rect">
            <a:avLst/>
          </a:prstGeom>
          <a:noFill/>
          <a:ln/>
        </p:spPr>
        <p:txBody>
          <a:bodyPr wrap="square" lIns="0" tIns="0" rIns="0" bIns="0" rtlCol="0" anchor="ctr"/>
          <a:lstStyle/>
          <a:p>
            <a:pPr algn="l" indent="0" marL="0">
              <a:buNone/>
            </a:pPr>
            <a:r>
              <a:rPr lang="en-US" sz="1100" b="1" spc="150" kern="0" dirty="0">
                <a:solidFill>
                  <a:srgbClr val="B5423B"/>
                </a:solidFill>
                <a:latin typeface="JetBrains Mono" pitchFamily="34" charset="0"/>
                <a:ea typeface="JetBrains Mono" pitchFamily="34" charset="-122"/>
                <a:cs typeface="JetBrains Mono" pitchFamily="34" charset="-120"/>
              </a:rPr>
              <a:t>TIKTOK ADS</a:t>
            </a:r>
            <a:endParaRPr lang="en-US" sz="1100" dirty="0"/>
          </a:p>
        </p:txBody>
      </p:sp>
      <p:sp>
        <p:nvSpPr>
          <p:cNvPr id="14" name="Text 12"/>
          <p:cNvSpPr txBox="1"/>
          <p:nvPr/>
        </p:nvSpPr>
        <p:spPr>
          <a:xfrm>
            <a:off x="1005840" y="2240280"/>
            <a:ext cx="4631436" cy="274320"/>
          </a:xfrm>
          <a:prstGeom prst="rect">
            <a:avLst/>
          </a:prstGeom>
          <a:noFill/>
          <a:ln/>
        </p:spPr>
        <p:txBody>
          <a:bodyPr wrap="square" lIns="0" tIns="0" rIns="0" bIns="0" rtlCol="0" anchor="ctr"/>
          <a:lstStyle/>
          <a:p>
            <a:pPr algn="l" indent="0" marL="0">
              <a:buNone/>
            </a:pPr>
            <a:r>
              <a:rPr lang="en-US" sz="1300" dirty="0">
                <a:solidFill>
                  <a:srgbClr val="6B6B5E"/>
                </a:solidFill>
                <a:latin typeface="Onest" pitchFamily="34" charset="0"/>
                <a:ea typeface="Onest" pitchFamily="34" charset="-122"/>
                <a:cs typeface="Onest" pitchFamily="34" charset="-120"/>
              </a:rPr>
              <a:t>lo que más vende</a:t>
            </a:r>
            <a:endParaRPr lang="en-US" sz="1300" dirty="0"/>
          </a:p>
        </p:txBody>
      </p:sp>
      <p:sp>
        <p:nvSpPr>
          <p:cNvPr id="15" name="Text 13"/>
          <p:cNvSpPr txBox="1"/>
          <p:nvPr/>
        </p:nvSpPr>
        <p:spPr>
          <a:xfrm>
            <a:off x="1005840" y="2560320"/>
            <a:ext cx="4631436" cy="548640"/>
          </a:xfrm>
          <a:prstGeom prst="rect">
            <a:avLst/>
          </a:prstGeom>
          <a:noFill/>
          <a:ln/>
        </p:spPr>
        <p:txBody>
          <a:bodyPr wrap="square" lIns="0" tIns="0" rIns="0" bIns="0" rtlCol="0" anchor="ctr"/>
          <a:lstStyle/>
          <a:p>
            <a:pPr algn="l" indent="0" marL="0">
              <a:buNone/>
            </a:pPr>
            <a:r>
              <a:rPr lang="en-US" sz="2400" b="1" dirty="0">
                <a:solidFill>
                  <a:srgbClr val="111412"/>
                </a:solidFill>
                <a:latin typeface="Onest" pitchFamily="34" charset="0"/>
                <a:ea typeface="Onest" pitchFamily="34" charset="-122"/>
                <a:cs typeface="Onest" pitchFamily="34" charset="-120"/>
              </a:rPr>
              <a:t>Rosa · piel · talla M</a:t>
            </a:r>
            <a:endParaRPr lang="en-US" sz="2400" dirty="0"/>
          </a:p>
        </p:txBody>
      </p:sp>
      <p:sp>
        <p:nvSpPr>
          <p:cNvPr id="16" name="Shape 14"/>
          <p:cNvSpPr/>
          <p:nvPr/>
        </p:nvSpPr>
        <p:spPr>
          <a:xfrm>
            <a:off x="6231636" y="1691640"/>
            <a:ext cx="5271516" cy="1600200"/>
          </a:xfrm>
          <a:prstGeom prst="rect">
            <a:avLst/>
          </a:prstGeom>
          <a:solidFill>
            <a:srgbClr val="FFFDF7"/>
          </a:solidFill>
          <a:ln w="25400">
            <a:solidFill>
              <a:srgbClr val="2D8B6D"/>
            </a:solidFill>
            <a:prstDash val="solid"/>
          </a:ln>
        </p:spPr>
      </p:sp>
      <p:sp>
        <p:nvSpPr>
          <p:cNvPr id="17" name="Text 15"/>
          <p:cNvSpPr txBox="1"/>
          <p:nvPr/>
        </p:nvSpPr>
        <p:spPr>
          <a:xfrm>
            <a:off x="6551676" y="1920240"/>
            <a:ext cx="4631436" cy="320040"/>
          </a:xfrm>
          <a:prstGeom prst="rect">
            <a:avLst/>
          </a:prstGeom>
          <a:noFill/>
          <a:ln/>
        </p:spPr>
        <p:txBody>
          <a:bodyPr wrap="square" lIns="0" tIns="0" rIns="0" bIns="0" rtlCol="0" anchor="ctr"/>
          <a:lstStyle/>
          <a:p>
            <a:pPr algn="l" indent="0" marL="0">
              <a:buNone/>
            </a:pPr>
            <a:r>
              <a:rPr lang="en-US" sz="1100" b="1" spc="150" kern="0" dirty="0">
                <a:solidFill>
                  <a:srgbClr val="2D8B6D"/>
                </a:solidFill>
                <a:latin typeface="JetBrains Mono" pitchFamily="34" charset="0"/>
                <a:ea typeface="JetBrains Mono" pitchFamily="34" charset="-122"/>
                <a:cs typeface="JetBrains Mono" pitchFamily="34" charset="-120"/>
              </a:rPr>
              <a:t>GOOGLE ADS</a:t>
            </a:r>
            <a:endParaRPr lang="en-US" sz="1100" dirty="0"/>
          </a:p>
        </p:txBody>
      </p:sp>
      <p:sp>
        <p:nvSpPr>
          <p:cNvPr id="18" name="Text 16"/>
          <p:cNvSpPr txBox="1"/>
          <p:nvPr/>
        </p:nvSpPr>
        <p:spPr>
          <a:xfrm>
            <a:off x="6551676" y="2240280"/>
            <a:ext cx="4631436" cy="274320"/>
          </a:xfrm>
          <a:prstGeom prst="rect">
            <a:avLst/>
          </a:prstGeom>
          <a:noFill/>
          <a:ln/>
        </p:spPr>
        <p:txBody>
          <a:bodyPr wrap="square" lIns="0" tIns="0" rIns="0" bIns="0" rtlCol="0" anchor="ctr"/>
          <a:lstStyle/>
          <a:p>
            <a:pPr algn="l" indent="0" marL="0">
              <a:buNone/>
            </a:pPr>
            <a:r>
              <a:rPr lang="en-US" sz="1300" dirty="0">
                <a:solidFill>
                  <a:srgbClr val="6B6B5E"/>
                </a:solidFill>
                <a:latin typeface="Onest" pitchFamily="34" charset="0"/>
                <a:ea typeface="Onest" pitchFamily="34" charset="-122"/>
                <a:cs typeface="Onest" pitchFamily="34" charset="-120"/>
              </a:rPr>
              <a:t>lo que más vende</a:t>
            </a:r>
            <a:endParaRPr lang="en-US" sz="1300" dirty="0"/>
          </a:p>
        </p:txBody>
      </p:sp>
      <p:sp>
        <p:nvSpPr>
          <p:cNvPr id="19" name="Text 17"/>
          <p:cNvSpPr txBox="1"/>
          <p:nvPr/>
        </p:nvSpPr>
        <p:spPr>
          <a:xfrm>
            <a:off x="6551676" y="2560320"/>
            <a:ext cx="4631436" cy="548640"/>
          </a:xfrm>
          <a:prstGeom prst="rect">
            <a:avLst/>
          </a:prstGeom>
          <a:noFill/>
          <a:ln/>
        </p:spPr>
        <p:txBody>
          <a:bodyPr wrap="square" lIns="0" tIns="0" rIns="0" bIns="0" rtlCol="0" anchor="ctr"/>
          <a:lstStyle/>
          <a:p>
            <a:pPr algn="l" indent="0" marL="0">
              <a:buNone/>
            </a:pPr>
            <a:r>
              <a:rPr lang="en-US" sz="2400" b="1" dirty="0">
                <a:solidFill>
                  <a:srgbClr val="111412"/>
                </a:solidFill>
                <a:latin typeface="Onest" pitchFamily="34" charset="0"/>
                <a:ea typeface="Onest" pitchFamily="34" charset="-122"/>
                <a:cs typeface="Onest" pitchFamily="34" charset="-120"/>
              </a:rPr>
              <a:t>Negro · lentejuelas · talla S</a:t>
            </a:r>
            <a:endParaRPr lang="en-US" sz="2400" dirty="0"/>
          </a:p>
        </p:txBody>
      </p:sp>
      <p:sp>
        <p:nvSpPr>
          <p:cNvPr id="20" name="Text 18"/>
          <p:cNvSpPr txBox="1"/>
          <p:nvPr/>
        </p:nvSpPr>
        <p:spPr>
          <a:xfrm>
            <a:off x="685800" y="3566160"/>
            <a:ext cx="9951964" cy="822960"/>
          </a:xfrm>
          <a:prstGeom prst="rect">
            <a:avLst/>
          </a:prstGeom>
          <a:noFill/>
          <a:ln/>
        </p:spPr>
        <p:txBody>
          <a:bodyPr wrap="square" lIns="0" tIns="0" rIns="0" bIns="0" rtlCol="0" anchor="ctr"/>
          <a:lstStyle/>
          <a:p>
            <a:pPr algn="l" indent="0" marL="0">
              <a:lnSpc>
                <a:spcPts val="3000"/>
              </a:lnSpc>
              <a:buNone/>
            </a:pPr>
            <a:r>
              <a:rPr lang="en-US" sz="2300" b="1" dirty="0">
                <a:solidFill>
                  <a:srgbClr val="111412"/>
                </a:solidFill>
                <a:latin typeface="Onest" pitchFamily="34" charset="0"/>
                <a:ea typeface="Onest" pitchFamily="34" charset="-122"/>
                <a:cs typeface="Onest" pitchFamily="34" charset="-120"/>
              </a:rPr>
              <a:t>No es el mismo cliente. No compra lo mismo. Y le estás enseñando la misma creatividad y la misma landing.</a:t>
            </a:r>
            <a:endParaRPr lang="en-US" sz="2300" dirty="0"/>
          </a:p>
        </p:txBody>
      </p:sp>
      <p:sp>
        <p:nvSpPr>
          <p:cNvPr id="21" name="Text 19"/>
          <p:cNvSpPr txBox="1"/>
          <p:nvPr/>
        </p:nvSpPr>
        <p:spPr>
          <a:xfrm>
            <a:off x="685800" y="4526280"/>
            <a:ext cx="9951964" cy="1097280"/>
          </a:xfrm>
          <a:prstGeom prst="rect">
            <a:avLst/>
          </a:prstGeom>
          <a:noFill/>
          <a:ln/>
        </p:spPr>
        <p:txBody>
          <a:bodyPr wrap="square" lIns="0" tIns="0" rIns="0" bIns="0" rtlCol="0" anchor="ctr"/>
          <a:lstStyle/>
          <a:p>
            <a:pPr algn="l" indent="0" marL="0">
              <a:lnSpc>
                <a:spcPts val="2400"/>
              </a:lnSpc>
              <a:buNone/>
            </a:pPr>
            <a:r>
              <a:rPr lang="en-US" sz="1700" dirty="0">
                <a:solidFill>
                  <a:srgbClr val="6B6B5E"/>
                </a:solidFill>
                <a:latin typeface="Onest" pitchFamily="34" charset="0"/>
                <a:ea typeface="Onest" pitchFamily="34" charset="-122"/>
                <a:cs typeface="Onest" pitchFamily="34" charset="-120"/>
              </a:rPr>
              <a:t>Y a partir de ahí decides de verdad:  </a:t>
            </a:r>
            <a:pPr algn="l" indent="0" marL="0">
              <a:lnSpc>
                <a:spcPts val="2400"/>
              </a:lnSpc>
              <a:buNone/>
            </a:pPr>
            <a:r>
              <a:rPr lang="en-US" sz="1700" b="1" dirty="0">
                <a:solidFill>
                  <a:srgbClr val="111412"/>
                </a:solidFill>
                <a:latin typeface="Onest" pitchFamily="34" charset="0"/>
                <a:ea typeface="Onest" pitchFamily="34" charset="-122"/>
                <a:cs typeface="Onest" pitchFamily="34" charset="-120"/>
              </a:rPr>
              <a:t>qué audiencia buscas en cada plataforma  ·  qué creatividades produces  ·  qué producto pones en la landing de cada canal  ·  qué stock priorizas</a:t>
            </a:r>
            <a:endParaRPr lang="en-US" sz="1700" dirty="0"/>
          </a:p>
        </p:txBody>
      </p:sp>
      <p:sp>
        <p:nvSpPr>
          <p:cNvPr id="22" name="Text 20"/>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TEST 7  ·  Puedes decir hoy que atributo de producto vende mejor en cada canal? Ejemplo ilustrativo.</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12700">
            <a:solidFill>
              <a:srgbClr val="CBFF3D"/>
            </a:solidFill>
            <a:prstDash val="solid"/>
          </a:ln>
        </p:spPr>
      </p:sp>
      <p:sp>
        <p:nvSpPr>
          <p:cNvPr id="4" name="Shape 2"/>
          <p:cNvSpPr/>
          <p:nvPr/>
        </p:nvSpPr>
        <p:spPr>
          <a:xfrm>
            <a:off x="10428732" y="402336"/>
            <a:ext cx="137160" cy="137160"/>
          </a:xfrm>
          <a:prstGeom prst="rect">
            <a:avLst/>
          </a:prstGeom>
          <a:solidFill>
            <a:srgbClr val="CBFF3D"/>
          </a:solidFill>
          <a:ln w="12700">
            <a:solidFill>
              <a:srgbClr val="CBFF3D"/>
            </a:solidFill>
            <a:prstDash val="solid"/>
          </a:ln>
        </p:spPr>
      </p:sp>
      <p:sp>
        <p:nvSpPr>
          <p:cNvPr id="5" name="Shape 3"/>
          <p:cNvSpPr/>
          <p:nvPr/>
        </p:nvSpPr>
        <p:spPr>
          <a:xfrm>
            <a:off x="10634472" y="402336"/>
            <a:ext cx="137160" cy="137160"/>
          </a:xfrm>
          <a:prstGeom prst="rect">
            <a:avLst/>
          </a:prstGeom>
          <a:solidFill>
            <a:srgbClr val="CBFF3D"/>
          </a:solidFill>
          <a:ln w="12700">
            <a:solidFill>
              <a:srgbClr val="CBFF3D"/>
            </a:solidFill>
            <a:prstDash val="solid"/>
          </a:ln>
        </p:spPr>
      </p:sp>
      <p:sp>
        <p:nvSpPr>
          <p:cNvPr id="6" name="Shape 4"/>
          <p:cNvSpPr/>
          <p:nvPr/>
        </p:nvSpPr>
        <p:spPr>
          <a:xfrm>
            <a:off x="10840212" y="402336"/>
            <a:ext cx="137160" cy="137160"/>
          </a:xfrm>
          <a:prstGeom prst="rect">
            <a:avLst/>
          </a:prstGeom>
          <a:solidFill>
            <a:srgbClr val="CBFF3D"/>
          </a:solidFill>
          <a:ln w="12700">
            <a:solidFill>
              <a:srgbClr val="CBFF3D"/>
            </a:solidFill>
            <a:prstDash val="solid"/>
          </a:ln>
        </p:spPr>
      </p:sp>
      <p:sp>
        <p:nvSpPr>
          <p:cNvPr id="7" name="Shape 5"/>
          <p:cNvSpPr/>
          <p:nvPr/>
        </p:nvSpPr>
        <p:spPr>
          <a:xfrm>
            <a:off x="11228832" y="402336"/>
            <a:ext cx="137160" cy="137160"/>
          </a:xfrm>
          <a:prstGeom prst="rect">
            <a:avLst/>
          </a:prstGeom>
          <a:solidFill>
            <a:srgbClr val="CBFF3D"/>
          </a:solidFill>
          <a:ln w="12700">
            <a:solidFill>
              <a:srgbClr val="CBFF3D"/>
            </a:solidFill>
            <a:prstDash val="solid"/>
          </a:ln>
        </p:spPr>
      </p:sp>
      <p:sp>
        <p:nvSpPr>
          <p:cNvPr id="8" name="Shape 6"/>
          <p:cNvSpPr/>
          <p:nvPr/>
        </p:nvSpPr>
        <p:spPr>
          <a:xfrm>
            <a:off x="11434572" y="402336"/>
            <a:ext cx="137160" cy="137160"/>
          </a:xfrm>
          <a:prstGeom prst="rect">
            <a:avLst/>
          </a:prstGeom>
          <a:solidFill>
            <a:srgbClr val="CBFF3D"/>
          </a:solidFill>
          <a:ln w="22225">
            <a:solidFill>
              <a:srgbClr val="CBFF3D"/>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Y UNA PREGUNTA INCÓMODA PARA ACABAR</a:t>
            </a:r>
            <a:endParaRPr lang="en-US" sz="1100" dirty="0"/>
          </a:p>
        </p:txBody>
      </p:sp>
      <p:sp>
        <p:nvSpPr>
          <p:cNvPr id="11" name="Text 9"/>
          <p:cNvSpPr txBox="1"/>
          <p:nvPr/>
        </p:nvSpPr>
        <p:spPr>
          <a:xfrm>
            <a:off x="685800" y="1554480"/>
            <a:ext cx="9951964" cy="3566160"/>
          </a:xfrm>
          <a:prstGeom prst="rect">
            <a:avLst/>
          </a:prstGeom>
          <a:noFill/>
          <a:ln/>
        </p:spPr>
        <p:txBody>
          <a:bodyPr wrap="square" lIns="0" tIns="0" rIns="0" bIns="0" rtlCol="0" anchor="t"/>
          <a:lstStyle/>
          <a:p>
            <a:pPr algn="l" indent="0" marL="0">
              <a:lnSpc>
                <a:spcPts val="5152"/>
              </a:lnSpc>
              <a:buNone/>
            </a:pPr>
            <a:r>
              <a:rPr lang="en-US" sz="4600" b="1" dirty="0">
                <a:solidFill>
                  <a:srgbClr val="F4F1E8"/>
                </a:solidFill>
                <a:latin typeface="Onest" pitchFamily="34" charset="0"/>
                <a:ea typeface="Onest" pitchFamily="34" charset="-122"/>
                <a:cs typeface="Onest" pitchFamily="34" charset="-120"/>
              </a:rPr>
              <a:t>¿Cómo haces CRO sobre una quinta parte de tu tráfico?</a:t>
            </a:r>
            <a:endParaRPr lang="en-US" sz="4600" dirty="0"/>
          </a:p>
        </p:txBody>
      </p:sp>
      <p:sp>
        <p:nvSpPr>
          <p:cNvPr id="12" name="Text 10"/>
          <p:cNvSpPr txBox="1"/>
          <p:nvPr/>
        </p:nvSpPr>
        <p:spPr>
          <a:xfrm>
            <a:off x="685800" y="3977640"/>
            <a:ext cx="9735617" cy="1188720"/>
          </a:xfrm>
          <a:prstGeom prst="rect">
            <a:avLst/>
          </a:prstGeom>
          <a:noFill/>
          <a:ln/>
        </p:spPr>
        <p:txBody>
          <a:bodyPr wrap="square" lIns="0" tIns="0" rIns="0" bIns="0" rtlCol="0" anchor="ctr"/>
          <a:lstStyle/>
          <a:p>
            <a:pPr algn="l" indent="0" marL="0">
              <a:lnSpc>
                <a:spcPts val="3200"/>
              </a:lnSpc>
              <a:buNone/>
            </a:pPr>
            <a:r>
              <a:rPr lang="en-US" sz="2400" b="1" dirty="0">
                <a:solidFill>
                  <a:srgbClr val="CBFF3D"/>
                </a:solidFill>
                <a:latin typeface="Onest" pitchFamily="34" charset="0"/>
                <a:ea typeface="Onest" pitchFamily="34" charset="-122"/>
                <a:cs typeface="Onest" pitchFamily="34" charset="-120"/>
              </a:rPr>
              <a:t>¿Y cómo haces un A/B test si el grupo que no acepta cookies —que es la mayoría— no aparece en ninguno de los dos grupos?</a:t>
            </a:r>
            <a:endParaRPr lang="en-US" sz="2400" dirty="0"/>
          </a:p>
        </p:txBody>
      </p:sp>
      <p:sp>
        <p:nvSpPr>
          <p:cNvPr id="13" name="Text 11"/>
          <p:cNvSpPr txBox="1"/>
          <p:nvPr/>
        </p:nvSpPr>
        <p:spPr>
          <a:xfrm>
            <a:off x="685800" y="5257800"/>
            <a:ext cx="9735617" cy="822960"/>
          </a:xfrm>
          <a:prstGeom prst="rect">
            <a:avLst/>
          </a:prstGeom>
          <a:noFill/>
          <a:ln/>
        </p:spPr>
        <p:txBody>
          <a:bodyPr wrap="square" lIns="0" tIns="0" rIns="0" bIns="0" rtlCol="0" anchor="ctr"/>
          <a:lstStyle/>
          <a:p>
            <a:pPr algn="l" indent="0" marL="0">
              <a:lnSpc>
                <a:spcPts val="2400"/>
              </a:lnSpc>
              <a:buNone/>
            </a:pPr>
            <a:r>
              <a:rPr lang="en-US" sz="1700" dirty="0">
                <a:solidFill>
                  <a:srgbClr val="A3A396"/>
                </a:solidFill>
                <a:latin typeface="Onest" pitchFamily="34" charset="0"/>
                <a:ea typeface="Onest" pitchFamily="34" charset="-122"/>
                <a:cs typeface="Onest" pitchFamily="34" charset="-120"/>
              </a:rPr>
              <a:t>Toda la industria de la optimización está construida encima de la muestra que sí consiente. Y esa muestra no se comporta como el resto.</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12700">
            <a:solidFill>
              <a:srgbClr val="111412"/>
            </a:solidFill>
            <a:prstDash val="solid"/>
          </a:ln>
        </p:spPr>
      </p:sp>
      <p:sp>
        <p:nvSpPr>
          <p:cNvPr id="8" name="Shape 6"/>
          <p:cNvSpPr/>
          <p:nvPr/>
        </p:nvSpPr>
        <p:spPr>
          <a:xfrm>
            <a:off x="11434572" y="402336"/>
            <a:ext cx="137160" cy="137160"/>
          </a:xfrm>
          <a:prstGeom prst="rect">
            <a:avLst/>
          </a:prstGeom>
          <a:solidFill>
            <a:srgbClr val="111412"/>
          </a:solidFill>
          <a:ln w="22225">
            <a:solidFill>
              <a:srgbClr val="111412"/>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LA ARQUITECTURA DE LO QUE VIENE</a:t>
            </a:r>
            <a:endParaRPr lang="en-US" sz="1100" dirty="0"/>
          </a:p>
        </p:txBody>
      </p:sp>
      <p:sp>
        <p:nvSpPr>
          <p:cNvPr id="11" name="Text 9"/>
          <p:cNvSpPr txBox="1"/>
          <p:nvPr/>
        </p:nvSpPr>
        <p:spPr>
          <a:xfrm>
            <a:off x="685800" y="1554480"/>
            <a:ext cx="9951964" cy="3566160"/>
          </a:xfrm>
          <a:prstGeom prst="rect">
            <a:avLst/>
          </a:prstGeom>
          <a:noFill/>
          <a:ln/>
        </p:spPr>
        <p:txBody>
          <a:bodyPr wrap="square" lIns="0" tIns="0" rIns="0" bIns="0" rtlCol="0" anchor="t"/>
          <a:lstStyle/>
          <a:p>
            <a:pPr algn="l" indent="0" marL="0">
              <a:lnSpc>
                <a:spcPts val="4928"/>
              </a:lnSpc>
              <a:buNone/>
            </a:pPr>
            <a:r>
              <a:rPr lang="en-US" sz="4400" b="1" dirty="0">
                <a:solidFill>
                  <a:srgbClr val="111412"/>
                </a:solidFill>
                <a:latin typeface="Onest" pitchFamily="34" charset="0"/>
                <a:ea typeface="Onest" pitchFamily="34" charset="-122"/>
                <a:cs typeface="Onest" pitchFamily="34" charset="-120"/>
              </a:rPr>
              <a:t>Un dato correcto encerrado en un dashboard no sirve para nada.</a:t>
            </a:r>
            <a:endParaRPr lang="en-US" sz="4400" dirty="0"/>
          </a:p>
        </p:txBody>
      </p:sp>
      <p:sp>
        <p:nvSpPr>
          <p:cNvPr id="12" name="Text 10"/>
          <p:cNvSpPr txBox="1"/>
          <p:nvPr/>
        </p:nvSpPr>
        <p:spPr>
          <a:xfrm>
            <a:off x="685800" y="4114800"/>
            <a:ext cx="9519270" cy="1188720"/>
          </a:xfrm>
          <a:prstGeom prst="rect">
            <a:avLst/>
          </a:prstGeom>
          <a:noFill/>
          <a:ln/>
        </p:spPr>
        <p:txBody>
          <a:bodyPr wrap="square" lIns="0" tIns="0" rIns="0" bIns="0" rtlCol="0" anchor="ctr"/>
          <a:lstStyle/>
          <a:p>
            <a:pPr algn="l" indent="0" marL="0">
              <a:lnSpc>
                <a:spcPts val="2900"/>
              </a:lnSpc>
              <a:buNone/>
            </a:pPr>
            <a:r>
              <a:rPr lang="en-US" sz="2100" i="1" dirty="0">
                <a:solidFill>
                  <a:srgbClr val="B5423B"/>
                </a:solidFill>
                <a:latin typeface="Onest" pitchFamily="34" charset="0"/>
                <a:ea typeface="Onest" pitchFamily="34" charset="-122"/>
                <a:cs typeface="Onest" pitchFamily="34" charset="-120"/>
              </a:rPr>
              <a:t>«Si para que tu dato llegue a una decisión hace falta que una persona exporte un Excel, no tienes una arquitectura de datos. Tienes un becario.»</a:t>
            </a:r>
            <a:endParaRPr lang="en-US" sz="2100" dirty="0"/>
          </a:p>
        </p:txBody>
      </p:sp>
      <p:sp>
        <p:nvSpPr>
          <p:cNvPr id="13" name="Text 11"/>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Hace falta una API robusta que devuelva el dato crudo, no solo la vista que la herramienta decidio enseñarte.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12700">
            <a:solidFill>
              <a:srgbClr val="CBFF3D"/>
            </a:solidFill>
            <a:prstDash val="solid"/>
          </a:ln>
        </p:spPr>
      </p:sp>
      <p:sp>
        <p:nvSpPr>
          <p:cNvPr id="4" name="Shape 2"/>
          <p:cNvSpPr/>
          <p:nvPr/>
        </p:nvSpPr>
        <p:spPr>
          <a:xfrm>
            <a:off x="10428732" y="402336"/>
            <a:ext cx="137160" cy="137160"/>
          </a:xfrm>
          <a:prstGeom prst="rect">
            <a:avLst/>
          </a:prstGeom>
          <a:solidFill>
            <a:srgbClr val="CBFF3D"/>
          </a:solidFill>
          <a:ln w="12700">
            <a:solidFill>
              <a:srgbClr val="CBFF3D"/>
            </a:solidFill>
            <a:prstDash val="solid"/>
          </a:ln>
        </p:spPr>
      </p:sp>
      <p:sp>
        <p:nvSpPr>
          <p:cNvPr id="5" name="Shape 3"/>
          <p:cNvSpPr/>
          <p:nvPr/>
        </p:nvSpPr>
        <p:spPr>
          <a:xfrm>
            <a:off x="10634472" y="402336"/>
            <a:ext cx="137160" cy="137160"/>
          </a:xfrm>
          <a:prstGeom prst="rect">
            <a:avLst/>
          </a:prstGeom>
          <a:solidFill>
            <a:srgbClr val="CBFF3D"/>
          </a:solidFill>
          <a:ln w="12700">
            <a:solidFill>
              <a:srgbClr val="CBFF3D"/>
            </a:solidFill>
            <a:prstDash val="solid"/>
          </a:ln>
        </p:spPr>
      </p:sp>
      <p:sp>
        <p:nvSpPr>
          <p:cNvPr id="6" name="Shape 4"/>
          <p:cNvSpPr/>
          <p:nvPr/>
        </p:nvSpPr>
        <p:spPr>
          <a:xfrm>
            <a:off x="10840212" y="402336"/>
            <a:ext cx="137160" cy="137160"/>
          </a:xfrm>
          <a:prstGeom prst="rect">
            <a:avLst/>
          </a:prstGeom>
          <a:solidFill>
            <a:srgbClr val="CBFF3D"/>
          </a:solidFill>
          <a:ln w="12700">
            <a:solidFill>
              <a:srgbClr val="CBFF3D"/>
            </a:solidFill>
            <a:prstDash val="solid"/>
          </a:ln>
        </p:spPr>
      </p:sp>
      <p:sp>
        <p:nvSpPr>
          <p:cNvPr id="7" name="Shape 5"/>
          <p:cNvSpPr/>
          <p:nvPr/>
        </p:nvSpPr>
        <p:spPr>
          <a:xfrm>
            <a:off x="11228832" y="402336"/>
            <a:ext cx="137160" cy="137160"/>
          </a:xfrm>
          <a:prstGeom prst="rect">
            <a:avLst/>
          </a:prstGeom>
          <a:solidFill>
            <a:srgbClr val="CBFF3D"/>
          </a:solidFill>
          <a:ln w="12700">
            <a:solidFill>
              <a:srgbClr val="CBFF3D"/>
            </a:solidFill>
            <a:prstDash val="solid"/>
          </a:ln>
        </p:spPr>
      </p:sp>
      <p:sp>
        <p:nvSpPr>
          <p:cNvPr id="8" name="Shape 6"/>
          <p:cNvSpPr/>
          <p:nvPr/>
        </p:nvSpPr>
        <p:spPr>
          <a:xfrm>
            <a:off x="11434572" y="402336"/>
            <a:ext cx="137160" cy="137160"/>
          </a:xfrm>
          <a:prstGeom prst="rect">
            <a:avLst/>
          </a:prstGeom>
          <a:solidFill>
            <a:srgbClr val="CBFF3D"/>
          </a:solidFill>
          <a:ln w="22225">
            <a:solidFill>
              <a:srgbClr val="CBFF3D"/>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MCP · MODEL CONTEXT PROTOCOL</a:t>
            </a:r>
            <a:endParaRPr lang="en-US" sz="1100" dirty="0"/>
          </a:p>
        </p:txBody>
      </p:sp>
      <p:sp>
        <p:nvSpPr>
          <p:cNvPr id="11" name="Text 9"/>
          <p:cNvSpPr txBox="1"/>
          <p:nvPr/>
        </p:nvSpPr>
        <p:spPr>
          <a:xfrm>
            <a:off x="685800" y="1143000"/>
            <a:ext cx="9302923" cy="1554480"/>
          </a:xfrm>
          <a:prstGeom prst="rect">
            <a:avLst/>
          </a:prstGeom>
          <a:noFill/>
          <a:ln/>
        </p:spPr>
        <p:txBody>
          <a:bodyPr wrap="square" lIns="0" tIns="0" rIns="0" bIns="0" rtlCol="0" anchor="ctr"/>
          <a:lstStyle/>
          <a:p>
            <a:pPr algn="l" indent="0" marL="0">
              <a:lnSpc>
                <a:spcPts val="4000"/>
              </a:lnSpc>
              <a:buNone/>
            </a:pPr>
            <a:r>
              <a:rPr lang="en-US" sz="3200" b="1" dirty="0">
                <a:solidFill>
                  <a:srgbClr val="F4F1E8"/>
                </a:solidFill>
                <a:latin typeface="Onest" pitchFamily="34" charset="0"/>
                <a:ea typeface="Onest" pitchFamily="34" charset="-122"/>
                <a:cs typeface="Onest" pitchFamily="34" charset="-120"/>
              </a:rPr>
              <a:t>El estándar que permite que una IA consulte tus datos directamente, en el momento de la pregunta.</a:t>
            </a:r>
            <a:endParaRPr lang="en-US" sz="3200" dirty="0"/>
          </a:p>
        </p:txBody>
      </p:sp>
      <p:sp>
        <p:nvSpPr>
          <p:cNvPr id="12" name="Shape 10"/>
          <p:cNvSpPr/>
          <p:nvPr/>
        </p:nvSpPr>
        <p:spPr>
          <a:xfrm>
            <a:off x="685800" y="3063240"/>
            <a:ext cx="2029968" cy="1051560"/>
          </a:xfrm>
          <a:prstGeom prst="rect">
            <a:avLst/>
          </a:prstGeom>
          <a:solidFill>
            <a:srgbClr val="181C19"/>
          </a:solidFill>
          <a:ln w="12700">
            <a:solidFill>
              <a:srgbClr val="2B2A28"/>
            </a:solidFill>
            <a:prstDash val="solid"/>
          </a:ln>
        </p:spPr>
      </p:sp>
      <p:sp>
        <p:nvSpPr>
          <p:cNvPr id="13" name="Text 11"/>
          <p:cNvSpPr txBox="1"/>
          <p:nvPr/>
        </p:nvSpPr>
        <p:spPr>
          <a:xfrm>
            <a:off x="795528" y="3063240"/>
            <a:ext cx="1810512" cy="1051560"/>
          </a:xfrm>
          <a:prstGeom prst="rect">
            <a:avLst/>
          </a:prstGeom>
          <a:noFill/>
          <a:ln/>
        </p:spPr>
        <p:txBody>
          <a:bodyPr wrap="square" lIns="0" tIns="0" rIns="0" bIns="0" rtlCol="0" anchor="ctr"/>
          <a:lstStyle/>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100% del dato</a:t>
            </a:r>
            <a:endParaRPr lang="en-US" sz="1150" dirty="0"/>
          </a:p>
        </p:txBody>
      </p:sp>
      <p:sp>
        <p:nvSpPr>
          <p:cNvPr id="14" name="Text 12"/>
          <p:cNvSpPr txBox="1"/>
          <p:nvPr/>
        </p:nvSpPr>
        <p:spPr>
          <a:xfrm>
            <a:off x="2715768" y="3063240"/>
            <a:ext cx="256032" cy="1051560"/>
          </a:xfrm>
          <a:prstGeom prst="rect">
            <a:avLst/>
          </a:prstGeom>
          <a:noFill/>
          <a:ln/>
        </p:spPr>
        <p:txBody>
          <a:bodyPr wrap="square" lIns="0" tIns="0" rIns="0" bIns="0" rtlCol="0" anchor="ctr"/>
          <a:lstStyle/>
          <a:p>
            <a:pPr algn="ctr" indent="0" marL="0">
              <a:buNone/>
            </a:pPr>
            <a:r>
              <a:rPr lang="en-US" sz="1600" dirty="0">
                <a:solidFill>
                  <a:srgbClr val="6B6B5E"/>
                </a:solidFill>
                <a:latin typeface="Onest" pitchFamily="34" charset="0"/>
                <a:ea typeface="Onest" pitchFamily="34" charset="-122"/>
                <a:cs typeface="Onest" pitchFamily="34" charset="-120"/>
              </a:rPr>
              <a:t>→</a:t>
            </a:r>
            <a:endParaRPr lang="en-US" sz="1600" dirty="0"/>
          </a:p>
        </p:txBody>
      </p:sp>
      <p:sp>
        <p:nvSpPr>
          <p:cNvPr id="15" name="Shape 13"/>
          <p:cNvSpPr/>
          <p:nvPr/>
        </p:nvSpPr>
        <p:spPr>
          <a:xfrm>
            <a:off x="2971800" y="3063240"/>
            <a:ext cx="2029968" cy="1051560"/>
          </a:xfrm>
          <a:prstGeom prst="rect">
            <a:avLst/>
          </a:prstGeom>
          <a:solidFill>
            <a:srgbClr val="181C19"/>
          </a:solidFill>
          <a:ln w="12700">
            <a:solidFill>
              <a:srgbClr val="2B2A28"/>
            </a:solidFill>
            <a:prstDash val="solid"/>
          </a:ln>
        </p:spPr>
      </p:sp>
      <p:sp>
        <p:nvSpPr>
          <p:cNvPr id="16" name="Text 14"/>
          <p:cNvSpPr txBox="1"/>
          <p:nvPr/>
        </p:nvSpPr>
        <p:spPr>
          <a:xfrm>
            <a:off x="3081528" y="3063240"/>
            <a:ext cx="1810512" cy="1051560"/>
          </a:xfrm>
          <a:prstGeom prst="rect">
            <a:avLst/>
          </a:prstGeom>
          <a:noFill/>
          <a:ln/>
        </p:spPr>
        <p:txBody>
          <a:bodyPr wrap="square" lIns="0" tIns="0" rIns="0" bIns="0" rtlCol="0" anchor="ctr"/>
          <a:lstStyle/>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sin muestrear</a:t>
            </a:r>
            <a:endParaRPr lang="en-US" sz="1150" dirty="0"/>
          </a:p>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ni modelar</a:t>
            </a:r>
            <a:endParaRPr lang="en-US" sz="1150" dirty="0"/>
          </a:p>
        </p:txBody>
      </p:sp>
      <p:sp>
        <p:nvSpPr>
          <p:cNvPr id="17" name="Text 15"/>
          <p:cNvSpPr txBox="1"/>
          <p:nvPr/>
        </p:nvSpPr>
        <p:spPr>
          <a:xfrm>
            <a:off x="5001768" y="3063240"/>
            <a:ext cx="256032" cy="1051560"/>
          </a:xfrm>
          <a:prstGeom prst="rect">
            <a:avLst/>
          </a:prstGeom>
          <a:noFill/>
          <a:ln/>
        </p:spPr>
        <p:txBody>
          <a:bodyPr wrap="square" lIns="0" tIns="0" rIns="0" bIns="0" rtlCol="0" anchor="ctr"/>
          <a:lstStyle/>
          <a:p>
            <a:pPr algn="ctr" indent="0" marL="0">
              <a:buNone/>
            </a:pPr>
            <a:r>
              <a:rPr lang="en-US" sz="1600" dirty="0">
                <a:solidFill>
                  <a:srgbClr val="6B6B5E"/>
                </a:solidFill>
                <a:latin typeface="Onest" pitchFamily="34" charset="0"/>
                <a:ea typeface="Onest" pitchFamily="34" charset="-122"/>
                <a:cs typeface="Onest" pitchFamily="34" charset="-120"/>
              </a:rPr>
              <a:t>→</a:t>
            </a:r>
            <a:endParaRPr lang="en-US" sz="1600" dirty="0"/>
          </a:p>
        </p:txBody>
      </p:sp>
      <p:sp>
        <p:nvSpPr>
          <p:cNvPr id="18" name="Shape 16"/>
          <p:cNvSpPr/>
          <p:nvPr/>
        </p:nvSpPr>
        <p:spPr>
          <a:xfrm>
            <a:off x="5257800" y="3063240"/>
            <a:ext cx="2029968" cy="1051560"/>
          </a:xfrm>
          <a:prstGeom prst="rect">
            <a:avLst/>
          </a:prstGeom>
          <a:solidFill>
            <a:srgbClr val="181C19"/>
          </a:solidFill>
          <a:ln w="12700">
            <a:solidFill>
              <a:srgbClr val="2B2A28"/>
            </a:solidFill>
            <a:prstDash val="solid"/>
          </a:ln>
        </p:spPr>
      </p:sp>
      <p:sp>
        <p:nvSpPr>
          <p:cNvPr id="19" name="Text 17"/>
          <p:cNvSpPr txBox="1"/>
          <p:nvPr/>
        </p:nvSpPr>
        <p:spPr>
          <a:xfrm>
            <a:off x="5367528" y="3063240"/>
            <a:ext cx="1810512" cy="1051560"/>
          </a:xfrm>
          <a:prstGeom prst="rect">
            <a:avLst/>
          </a:prstGeom>
          <a:noFill/>
          <a:ln/>
        </p:spPr>
        <p:txBody>
          <a:bodyPr wrap="square" lIns="0" tIns="0" rIns="0" bIns="0" rtlCol="0" anchor="ctr"/>
          <a:lstStyle/>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medido en</a:t>
            </a:r>
            <a:endParaRPr lang="en-US" sz="1150" dirty="0"/>
          </a:p>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tu web</a:t>
            </a:r>
            <a:endParaRPr lang="en-US" sz="1150" dirty="0"/>
          </a:p>
        </p:txBody>
      </p:sp>
      <p:sp>
        <p:nvSpPr>
          <p:cNvPr id="20" name="Text 18"/>
          <p:cNvSpPr txBox="1"/>
          <p:nvPr/>
        </p:nvSpPr>
        <p:spPr>
          <a:xfrm>
            <a:off x="7287768" y="3063240"/>
            <a:ext cx="256032" cy="1051560"/>
          </a:xfrm>
          <a:prstGeom prst="rect">
            <a:avLst/>
          </a:prstGeom>
          <a:noFill/>
          <a:ln/>
        </p:spPr>
        <p:txBody>
          <a:bodyPr wrap="square" lIns="0" tIns="0" rIns="0" bIns="0" rtlCol="0" anchor="ctr"/>
          <a:lstStyle/>
          <a:p>
            <a:pPr algn="ctr" indent="0" marL="0">
              <a:buNone/>
            </a:pPr>
            <a:r>
              <a:rPr lang="en-US" sz="1600" dirty="0">
                <a:solidFill>
                  <a:srgbClr val="6B6B5E"/>
                </a:solidFill>
                <a:latin typeface="Onest" pitchFamily="34" charset="0"/>
                <a:ea typeface="Onest" pitchFamily="34" charset="-122"/>
                <a:cs typeface="Onest" pitchFamily="34" charset="-120"/>
              </a:rPr>
              <a:t>→</a:t>
            </a:r>
            <a:endParaRPr lang="en-US" sz="1600" dirty="0"/>
          </a:p>
        </p:txBody>
      </p:sp>
      <p:sp>
        <p:nvSpPr>
          <p:cNvPr id="21" name="Shape 19"/>
          <p:cNvSpPr/>
          <p:nvPr/>
        </p:nvSpPr>
        <p:spPr>
          <a:xfrm>
            <a:off x="7543800" y="3063240"/>
            <a:ext cx="2029968" cy="1051560"/>
          </a:xfrm>
          <a:prstGeom prst="rect">
            <a:avLst/>
          </a:prstGeom>
          <a:solidFill>
            <a:srgbClr val="181C19"/>
          </a:solidFill>
          <a:ln w="12700">
            <a:solidFill>
              <a:srgbClr val="2B2A28"/>
            </a:solidFill>
            <a:prstDash val="solid"/>
          </a:ln>
        </p:spPr>
      </p:sp>
      <p:sp>
        <p:nvSpPr>
          <p:cNvPr id="22" name="Text 20"/>
          <p:cNvSpPr txBox="1"/>
          <p:nvPr/>
        </p:nvSpPr>
        <p:spPr>
          <a:xfrm>
            <a:off x="7653528" y="3063240"/>
            <a:ext cx="1810512" cy="1051560"/>
          </a:xfrm>
          <a:prstGeom prst="rect">
            <a:avLst/>
          </a:prstGeom>
          <a:noFill/>
          <a:ln/>
        </p:spPr>
        <p:txBody>
          <a:bodyPr wrap="square" lIns="0" tIns="0" rIns="0" bIns="0" rtlCol="0" anchor="ctr"/>
          <a:lstStyle/>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API / MCP</a:t>
            </a:r>
            <a:endParaRPr lang="en-US" sz="1150" dirty="0"/>
          </a:p>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abierto</a:t>
            </a:r>
            <a:endParaRPr lang="en-US" sz="1150" dirty="0"/>
          </a:p>
        </p:txBody>
      </p:sp>
      <p:sp>
        <p:nvSpPr>
          <p:cNvPr id="23" name="Text 21"/>
          <p:cNvSpPr txBox="1"/>
          <p:nvPr/>
        </p:nvSpPr>
        <p:spPr>
          <a:xfrm>
            <a:off x="9573768" y="3063240"/>
            <a:ext cx="256032" cy="1051560"/>
          </a:xfrm>
          <a:prstGeom prst="rect">
            <a:avLst/>
          </a:prstGeom>
          <a:noFill/>
          <a:ln/>
        </p:spPr>
        <p:txBody>
          <a:bodyPr wrap="square" lIns="0" tIns="0" rIns="0" bIns="0" rtlCol="0" anchor="ctr"/>
          <a:lstStyle/>
          <a:p>
            <a:pPr algn="ctr" indent="0" marL="0">
              <a:buNone/>
            </a:pPr>
            <a:r>
              <a:rPr lang="en-US" sz="1600" dirty="0">
                <a:solidFill>
                  <a:srgbClr val="6B6B5E"/>
                </a:solidFill>
                <a:latin typeface="Onest" pitchFamily="34" charset="0"/>
                <a:ea typeface="Onest" pitchFamily="34" charset="-122"/>
                <a:cs typeface="Onest" pitchFamily="34" charset="-120"/>
              </a:rPr>
              <a:t>→</a:t>
            </a:r>
            <a:endParaRPr lang="en-US" sz="1600" dirty="0"/>
          </a:p>
        </p:txBody>
      </p:sp>
      <p:sp>
        <p:nvSpPr>
          <p:cNvPr id="24" name="Shape 22"/>
          <p:cNvSpPr/>
          <p:nvPr/>
        </p:nvSpPr>
        <p:spPr>
          <a:xfrm>
            <a:off x="9829800" y="3063240"/>
            <a:ext cx="2029968" cy="1051560"/>
          </a:xfrm>
          <a:prstGeom prst="rect">
            <a:avLst/>
          </a:prstGeom>
          <a:solidFill>
            <a:srgbClr val="181C19"/>
          </a:solidFill>
          <a:ln w="12700">
            <a:solidFill>
              <a:srgbClr val="2B2A28"/>
            </a:solidFill>
            <a:prstDash val="solid"/>
          </a:ln>
        </p:spPr>
      </p:sp>
      <p:sp>
        <p:nvSpPr>
          <p:cNvPr id="25" name="Text 23"/>
          <p:cNvSpPr txBox="1"/>
          <p:nvPr/>
        </p:nvSpPr>
        <p:spPr>
          <a:xfrm>
            <a:off x="9939528" y="3063240"/>
            <a:ext cx="1810512" cy="1051560"/>
          </a:xfrm>
          <a:prstGeom prst="rect">
            <a:avLst/>
          </a:prstGeom>
          <a:noFill/>
          <a:ln/>
        </p:spPr>
        <p:txBody>
          <a:bodyPr wrap="square" lIns="0" tIns="0" rIns="0" bIns="0" rtlCol="0" anchor="ctr"/>
          <a:lstStyle/>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modelo con</a:t>
            </a:r>
            <a:endParaRPr lang="en-US" sz="1150" dirty="0"/>
          </a:p>
          <a:p>
            <a:pPr algn="ctr" indent="0" marL="0">
              <a:lnSpc>
                <a:spcPts val="1500"/>
              </a:lnSpc>
              <a:buNone/>
            </a:pPr>
            <a:r>
              <a:rPr lang="en-US" sz="1150" b="1" dirty="0">
                <a:solidFill>
                  <a:srgbClr val="CBFF3D"/>
                </a:solidFill>
                <a:latin typeface="JetBrains Mono" pitchFamily="34" charset="0"/>
                <a:ea typeface="JetBrains Mono" pitchFamily="34" charset="-122"/>
                <a:cs typeface="JetBrains Mono" pitchFamily="34" charset="-120"/>
              </a:rPr>
              <a:t>grounding</a:t>
            </a:r>
            <a:endParaRPr lang="en-US" sz="1150" dirty="0"/>
          </a:p>
        </p:txBody>
      </p:sp>
      <p:sp>
        <p:nvSpPr>
          <p:cNvPr id="26" name="Text 24"/>
          <p:cNvSpPr txBox="1"/>
          <p:nvPr/>
        </p:nvSpPr>
        <p:spPr>
          <a:xfrm>
            <a:off x="685800" y="4526280"/>
            <a:ext cx="9735617" cy="1005840"/>
          </a:xfrm>
          <a:prstGeom prst="rect">
            <a:avLst/>
          </a:prstGeom>
          <a:noFill/>
          <a:ln/>
        </p:spPr>
        <p:txBody>
          <a:bodyPr wrap="square" lIns="0" tIns="0" rIns="0" bIns="0" rtlCol="0" anchor="ctr"/>
          <a:lstStyle/>
          <a:p>
            <a:pPr algn="l" indent="0" marL="0">
              <a:lnSpc>
                <a:spcPts val="2900"/>
              </a:lnSpc>
              <a:buNone/>
            </a:pPr>
            <a:r>
              <a:rPr lang="en-US" sz="2100" dirty="0">
                <a:solidFill>
                  <a:srgbClr val="F4F1E8"/>
                </a:solidFill>
                <a:latin typeface="Onest" pitchFamily="34" charset="0"/>
                <a:ea typeface="Onest" pitchFamily="34" charset="-122"/>
                <a:cs typeface="Onest" pitchFamily="34" charset="-120"/>
              </a:rPr>
              <a:t>Cada eslabón de esa cadena es una de las fugas que acabáis de ver. Si rompes cualquiera, la cadena entera no vale.</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412"/>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CBFF3D"/>
          </a:solidFill>
          <a:ln w="12700">
            <a:solidFill>
              <a:srgbClr val="CBFF3D"/>
            </a:solidFill>
            <a:prstDash val="solid"/>
          </a:ln>
        </p:spPr>
      </p:sp>
      <p:sp>
        <p:nvSpPr>
          <p:cNvPr id="3" name="Shape 1"/>
          <p:cNvSpPr/>
          <p:nvPr/>
        </p:nvSpPr>
        <p:spPr>
          <a:xfrm>
            <a:off x="10222992" y="402336"/>
            <a:ext cx="137160" cy="137160"/>
          </a:xfrm>
          <a:prstGeom prst="rect">
            <a:avLst/>
          </a:prstGeom>
          <a:solidFill>
            <a:srgbClr val="CBFF3D"/>
          </a:solidFill>
          <a:ln w="12700">
            <a:solidFill>
              <a:srgbClr val="CBFF3D"/>
            </a:solidFill>
            <a:prstDash val="solid"/>
          </a:ln>
        </p:spPr>
      </p:sp>
      <p:sp>
        <p:nvSpPr>
          <p:cNvPr id="4" name="Shape 2"/>
          <p:cNvSpPr/>
          <p:nvPr/>
        </p:nvSpPr>
        <p:spPr>
          <a:xfrm>
            <a:off x="10428732" y="402336"/>
            <a:ext cx="137160" cy="137160"/>
          </a:xfrm>
          <a:prstGeom prst="rect">
            <a:avLst/>
          </a:prstGeom>
          <a:solidFill>
            <a:srgbClr val="CBFF3D"/>
          </a:solidFill>
          <a:ln w="12700">
            <a:solidFill>
              <a:srgbClr val="CBFF3D"/>
            </a:solidFill>
            <a:prstDash val="solid"/>
          </a:ln>
        </p:spPr>
      </p:sp>
      <p:sp>
        <p:nvSpPr>
          <p:cNvPr id="5" name="Shape 3"/>
          <p:cNvSpPr/>
          <p:nvPr/>
        </p:nvSpPr>
        <p:spPr>
          <a:xfrm>
            <a:off x="10634472" y="402336"/>
            <a:ext cx="137160" cy="137160"/>
          </a:xfrm>
          <a:prstGeom prst="rect">
            <a:avLst/>
          </a:prstGeom>
          <a:solidFill>
            <a:srgbClr val="CBFF3D"/>
          </a:solidFill>
          <a:ln w="12700">
            <a:solidFill>
              <a:srgbClr val="CBFF3D"/>
            </a:solidFill>
            <a:prstDash val="solid"/>
          </a:ln>
        </p:spPr>
      </p:sp>
      <p:sp>
        <p:nvSpPr>
          <p:cNvPr id="6" name="Shape 4"/>
          <p:cNvSpPr/>
          <p:nvPr/>
        </p:nvSpPr>
        <p:spPr>
          <a:xfrm>
            <a:off x="10840212" y="402336"/>
            <a:ext cx="137160" cy="137160"/>
          </a:xfrm>
          <a:prstGeom prst="rect">
            <a:avLst/>
          </a:prstGeom>
          <a:solidFill>
            <a:srgbClr val="CBFF3D"/>
          </a:solidFill>
          <a:ln w="12700">
            <a:solidFill>
              <a:srgbClr val="CBFF3D"/>
            </a:solidFill>
            <a:prstDash val="solid"/>
          </a:ln>
        </p:spPr>
      </p:sp>
      <p:sp>
        <p:nvSpPr>
          <p:cNvPr id="7" name="Shape 5"/>
          <p:cNvSpPr/>
          <p:nvPr/>
        </p:nvSpPr>
        <p:spPr>
          <a:xfrm>
            <a:off x="11228832" y="402336"/>
            <a:ext cx="137160" cy="137160"/>
          </a:xfrm>
          <a:prstGeom prst="rect">
            <a:avLst/>
          </a:prstGeom>
          <a:solidFill>
            <a:srgbClr val="CBFF3D"/>
          </a:solidFill>
          <a:ln w="12700">
            <a:solidFill>
              <a:srgbClr val="CBFF3D"/>
            </a:solidFill>
            <a:prstDash val="solid"/>
          </a:ln>
        </p:spPr>
      </p:sp>
      <p:sp>
        <p:nvSpPr>
          <p:cNvPr id="8" name="Shape 6"/>
          <p:cNvSpPr/>
          <p:nvPr/>
        </p:nvSpPr>
        <p:spPr>
          <a:xfrm>
            <a:off x="11434572" y="402336"/>
            <a:ext cx="137160" cy="137160"/>
          </a:xfrm>
          <a:prstGeom prst="rect">
            <a:avLst/>
          </a:prstGeom>
          <a:solidFill>
            <a:srgbClr val="CBFF3D"/>
          </a:solidFill>
          <a:ln w="22225">
            <a:solidFill>
              <a:srgbClr val="CBFF3D"/>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6B6B5E"/>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CBFF3D"/>
                </a:solidFill>
                <a:latin typeface="JetBrains Mono" pitchFamily="34" charset="0"/>
                <a:ea typeface="JetBrains Mono" pitchFamily="34" charset="-122"/>
                <a:cs typeface="JetBrains Mono" pitchFamily="34" charset="-120"/>
              </a:rPr>
              <a:t>Y ENTONCES LLEGA LA IA</a:t>
            </a:r>
            <a:endParaRPr lang="en-US" sz="1100" dirty="0"/>
          </a:p>
        </p:txBody>
      </p:sp>
      <p:sp>
        <p:nvSpPr>
          <p:cNvPr id="11" name="Text 9"/>
          <p:cNvSpPr txBox="1"/>
          <p:nvPr/>
        </p:nvSpPr>
        <p:spPr>
          <a:xfrm>
            <a:off x="685800" y="1554480"/>
            <a:ext cx="9519270" cy="2743200"/>
          </a:xfrm>
          <a:prstGeom prst="rect">
            <a:avLst/>
          </a:prstGeom>
          <a:noFill/>
          <a:ln/>
        </p:spPr>
        <p:txBody>
          <a:bodyPr wrap="square" lIns="0" tIns="0" rIns="0" bIns="0" rtlCol="0" anchor="ctr"/>
          <a:lstStyle/>
          <a:p>
            <a:pPr algn="l" indent="0" marL="0">
              <a:lnSpc>
                <a:spcPts val="4800"/>
              </a:lnSpc>
              <a:buNone/>
            </a:pPr>
            <a:r>
              <a:rPr lang="en-US" sz="3800" b="1" dirty="0">
                <a:solidFill>
                  <a:srgbClr val="F4F1E8"/>
                </a:solidFill>
                <a:latin typeface="Onest" pitchFamily="34" charset="0"/>
                <a:ea typeface="Onest" pitchFamily="34" charset="-122"/>
                <a:cs typeface="Onest" pitchFamily="34" charset="-120"/>
              </a:rPr>
              <a:t>Si le das datos incompletos a una IA, no obtienes peores decisiones. Obtienes peores decisiones, más rápido, y con mucha más confianza.</a:t>
            </a:r>
            <a:endParaRPr lang="en-US" sz="3800" dirty="0"/>
          </a:p>
        </p:txBody>
      </p:sp>
      <p:sp>
        <p:nvSpPr>
          <p:cNvPr id="12" name="Text 10"/>
          <p:cNvSpPr txBox="1"/>
          <p:nvPr/>
        </p:nvSpPr>
        <p:spPr>
          <a:xfrm>
            <a:off x="685800" y="4709160"/>
            <a:ext cx="9194749" cy="1005840"/>
          </a:xfrm>
          <a:prstGeom prst="rect">
            <a:avLst/>
          </a:prstGeom>
          <a:noFill/>
          <a:ln/>
        </p:spPr>
        <p:txBody>
          <a:bodyPr wrap="square" lIns="0" tIns="0" rIns="0" bIns="0" rtlCol="0" anchor="ctr"/>
          <a:lstStyle/>
          <a:p>
            <a:pPr algn="l" indent="0" marL="0">
              <a:lnSpc>
                <a:spcPts val="2800"/>
              </a:lnSpc>
              <a:buNone/>
            </a:pPr>
            <a:r>
              <a:rPr lang="en-US" sz="2000" dirty="0">
                <a:solidFill>
                  <a:srgbClr val="CBFF3D"/>
                </a:solidFill>
                <a:latin typeface="Onest" pitchFamily="34" charset="0"/>
                <a:ea typeface="Onest" pitchFamily="34" charset="-122"/>
                <a:cs typeface="Onest" pitchFamily="34" charset="-120"/>
              </a:rPr>
              <a:t>Un informe con un hueco te hace dudar. Un asistente de IA nunca te hace dudar. La IA no tiene criterio: tiene elocuencia.</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12700">
            <a:solidFill>
              <a:srgbClr val="111412"/>
            </a:solidFill>
            <a:prstDash val="solid"/>
          </a:ln>
        </p:spPr>
      </p:sp>
      <p:sp>
        <p:nvSpPr>
          <p:cNvPr id="8" name="Shape 6"/>
          <p:cNvSpPr/>
          <p:nvPr/>
        </p:nvSpPr>
        <p:spPr>
          <a:xfrm>
            <a:off x="11434572" y="402336"/>
            <a:ext cx="137160" cy="137160"/>
          </a:xfrm>
          <a:prstGeom prst="rect">
            <a:avLst/>
          </a:prstGeom>
          <a:solidFill>
            <a:srgbClr val="111412"/>
          </a:solidFill>
          <a:ln w="22225">
            <a:solidFill>
              <a:srgbClr val="111412"/>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LOS 7 TESTS</a:t>
            </a:r>
            <a:endParaRPr lang="en-US" sz="1100" dirty="0"/>
          </a:p>
        </p:txBody>
      </p:sp>
      <p:sp>
        <p:nvSpPr>
          <p:cNvPr id="11" name="Text 9"/>
          <p:cNvSpPr txBox="1"/>
          <p:nvPr/>
        </p:nvSpPr>
        <p:spPr>
          <a:xfrm>
            <a:off x="685800" y="868680"/>
            <a:ext cx="10817352" cy="594360"/>
          </a:xfrm>
          <a:prstGeom prst="rect">
            <a:avLst/>
          </a:prstGeom>
          <a:noFill/>
          <a:ln/>
        </p:spPr>
        <p:txBody>
          <a:bodyPr wrap="square" lIns="0" tIns="0" rIns="0" bIns="0" rtlCol="0" anchor="ctr"/>
          <a:lstStyle/>
          <a:p>
            <a:pPr algn="l" indent="0" marL="0">
              <a:buNone/>
            </a:pPr>
            <a:r>
              <a:rPr lang="en-US" sz="3400" b="1" dirty="0">
                <a:solidFill>
                  <a:srgbClr val="111412"/>
                </a:solidFill>
                <a:latin typeface="Onest" pitchFamily="34" charset="0"/>
                <a:ea typeface="Onest" pitchFamily="34" charset="-122"/>
                <a:cs typeface="Onest" pitchFamily="34" charset="-120"/>
              </a:rPr>
              <a:t>Ninguno requiere comprar nada.</a:t>
            </a:r>
            <a:endParaRPr lang="en-US" sz="3400" dirty="0"/>
          </a:p>
        </p:txBody>
      </p:sp>
      <p:sp>
        <p:nvSpPr>
          <p:cNvPr id="12" name="Text 10"/>
          <p:cNvSpPr txBox="1"/>
          <p:nvPr/>
        </p:nvSpPr>
        <p:spPr>
          <a:xfrm>
            <a:off x="685800" y="1783080"/>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1</a:t>
            </a:r>
            <a:endParaRPr lang="en-US" sz="1500" dirty="0"/>
          </a:p>
        </p:txBody>
      </p:sp>
      <p:sp>
        <p:nvSpPr>
          <p:cNvPr id="13" name="Text 11"/>
          <p:cNvSpPr txBox="1"/>
          <p:nvPr/>
        </p:nvSpPr>
        <p:spPr>
          <a:xfrm>
            <a:off x="1143000" y="1764792"/>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Pedidos reales de tu eCommerce vs. los de tu analítica</a:t>
            </a:r>
            <a:endParaRPr lang="en-US" sz="1400" dirty="0"/>
          </a:p>
        </p:txBody>
      </p:sp>
      <p:sp>
        <p:nvSpPr>
          <p:cNvPr id="14" name="Text 12"/>
          <p:cNvSpPr txBox="1"/>
          <p:nvPr/>
        </p:nvSpPr>
        <p:spPr>
          <a:xfrm>
            <a:off x="685800" y="2496312"/>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2</a:t>
            </a:r>
            <a:endParaRPr lang="en-US" sz="1500" dirty="0"/>
          </a:p>
        </p:txBody>
      </p:sp>
      <p:sp>
        <p:nvSpPr>
          <p:cNvPr id="15" name="Text 13"/>
          <p:cNvSpPr txBox="1"/>
          <p:nvPr/>
        </p:nvSpPr>
        <p:spPr>
          <a:xfrm>
            <a:off x="1143000" y="2478024"/>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Cuánto tarda tu web en móvil: si pasa de 3 s, pierdes visitas antes de medirlas</a:t>
            </a:r>
            <a:endParaRPr lang="en-US" sz="1400" dirty="0"/>
          </a:p>
        </p:txBody>
      </p:sp>
      <p:sp>
        <p:nvSpPr>
          <p:cNvPr id="16" name="Text 14"/>
          <p:cNvSpPr txBox="1"/>
          <p:nvPr/>
        </p:nvSpPr>
        <p:spPr>
          <a:xfrm>
            <a:off x="685800" y="3209544"/>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3</a:t>
            </a:r>
            <a:endParaRPr lang="en-US" sz="1500" dirty="0"/>
          </a:p>
        </p:txBody>
      </p:sp>
      <p:sp>
        <p:nvSpPr>
          <p:cNvPr id="17" name="Text 15"/>
          <p:cNvSpPr txBox="1"/>
          <p:nvPr/>
        </p:nvSpPr>
        <p:spPr>
          <a:xfrm>
            <a:off x="1143000" y="3191256"/>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 de ventas en «Directo» — ¿supera el 20%?</a:t>
            </a:r>
            <a:endParaRPr lang="en-US" sz="1400" dirty="0"/>
          </a:p>
        </p:txBody>
      </p:sp>
      <p:sp>
        <p:nvSpPr>
          <p:cNvPr id="18" name="Text 16"/>
          <p:cNvSpPr txBox="1"/>
          <p:nvPr/>
        </p:nvSpPr>
        <p:spPr>
          <a:xfrm>
            <a:off x="685800" y="3922776"/>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4</a:t>
            </a:r>
            <a:endParaRPr lang="en-US" sz="1500" dirty="0"/>
          </a:p>
        </p:txBody>
      </p:sp>
      <p:sp>
        <p:nvSpPr>
          <p:cNvPr id="19" name="Text 17"/>
          <p:cNvSpPr txBox="1"/>
          <p:nvPr/>
        </p:nvSpPr>
        <p:spPr>
          <a:xfrm>
            <a:off x="1143000" y="3904488"/>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 de tu tráfico que aparece como «unassigned» o «(not set)»</a:t>
            </a:r>
            <a:endParaRPr lang="en-US" sz="1400" dirty="0"/>
          </a:p>
        </p:txBody>
      </p:sp>
      <p:sp>
        <p:nvSpPr>
          <p:cNvPr id="20" name="Text 18"/>
          <p:cNvSpPr txBox="1"/>
          <p:nvPr/>
        </p:nvSpPr>
        <p:spPr>
          <a:xfrm>
            <a:off x="6277356" y="1783080"/>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5</a:t>
            </a:r>
            <a:endParaRPr lang="en-US" sz="1500" dirty="0"/>
          </a:p>
        </p:txBody>
      </p:sp>
      <p:sp>
        <p:nvSpPr>
          <p:cNvPr id="21" name="Text 19"/>
          <p:cNvSpPr txBox="1"/>
          <p:nvPr/>
        </p:nvSpPr>
        <p:spPr>
          <a:xfrm>
            <a:off x="6734556" y="1764792"/>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Tasa de conversión por fuente: ¿alguna convierte 10× peor?</a:t>
            </a:r>
            <a:endParaRPr lang="en-US" sz="1400" dirty="0"/>
          </a:p>
        </p:txBody>
      </p:sp>
      <p:sp>
        <p:nvSpPr>
          <p:cNvPr id="22" name="Text 20"/>
          <p:cNvSpPr txBox="1"/>
          <p:nvPr/>
        </p:nvSpPr>
        <p:spPr>
          <a:xfrm>
            <a:off x="6277356" y="2496312"/>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6</a:t>
            </a:r>
            <a:endParaRPr lang="en-US" sz="1500" dirty="0"/>
          </a:p>
        </p:txBody>
      </p:sp>
      <p:sp>
        <p:nvSpPr>
          <p:cNvPr id="23" name="Text 21"/>
          <p:cNvSpPr txBox="1"/>
          <p:nvPr/>
        </p:nvSpPr>
        <p:spPr>
          <a:xfrm>
            <a:off x="6734556" y="2478024"/>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¿Puedes construir el funnel canal por canal con lo que tienes?</a:t>
            </a:r>
            <a:endParaRPr lang="en-US" sz="1400" dirty="0"/>
          </a:p>
        </p:txBody>
      </p:sp>
      <p:sp>
        <p:nvSpPr>
          <p:cNvPr id="24" name="Text 22"/>
          <p:cNvSpPr txBox="1"/>
          <p:nvPr/>
        </p:nvSpPr>
        <p:spPr>
          <a:xfrm>
            <a:off x="6277356" y="3209544"/>
            <a:ext cx="411480" cy="457200"/>
          </a:xfrm>
          <a:prstGeom prst="rect">
            <a:avLst/>
          </a:prstGeom>
          <a:noFill/>
          <a:ln/>
        </p:spPr>
        <p:txBody>
          <a:bodyPr wrap="square" lIns="0" tIns="0" rIns="0" bIns="0" rtlCol="0" anchor="t"/>
          <a:lstStyle/>
          <a:p>
            <a:pPr algn="l" indent="0" marL="0">
              <a:buNone/>
            </a:pPr>
            <a:r>
              <a:rPr lang="en-US" sz="1500" b="1" dirty="0">
                <a:solidFill>
                  <a:srgbClr val="B5423B"/>
                </a:solidFill>
                <a:latin typeface="JetBrains Mono" pitchFamily="34" charset="0"/>
                <a:ea typeface="JetBrains Mono" pitchFamily="34" charset="-122"/>
                <a:cs typeface="JetBrains Mono" pitchFamily="34" charset="-120"/>
              </a:rPr>
              <a:t>7</a:t>
            </a:r>
            <a:endParaRPr lang="en-US" sz="1500" dirty="0"/>
          </a:p>
        </p:txBody>
      </p:sp>
      <p:sp>
        <p:nvSpPr>
          <p:cNvPr id="25" name="Text 23"/>
          <p:cNvSpPr txBox="1"/>
          <p:nvPr/>
        </p:nvSpPr>
        <p:spPr>
          <a:xfrm>
            <a:off x="6734556" y="3191256"/>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¿Sabes qué atributo de producto vende mejor en cada canal?</a:t>
            </a:r>
            <a:endParaRPr lang="en-US" sz="1400" dirty="0"/>
          </a:p>
        </p:txBody>
      </p:sp>
      <p:sp>
        <p:nvSpPr>
          <p:cNvPr id="26" name="Text 24"/>
          <p:cNvSpPr txBox="1"/>
          <p:nvPr/>
        </p:nvSpPr>
        <p:spPr>
          <a:xfrm>
            <a:off x="6277356" y="3922776"/>
            <a:ext cx="411480" cy="457200"/>
          </a:xfrm>
          <a:prstGeom prst="rect">
            <a:avLst/>
          </a:prstGeom>
          <a:noFill/>
          <a:ln/>
        </p:spPr>
        <p:txBody>
          <a:bodyPr wrap="square" lIns="0" tIns="0" rIns="0" bIns="0" rtlCol="0" anchor="t"/>
          <a:lstStyle/>
          <a:p>
            <a:pPr algn="l" indent="0" marL="0">
              <a:buNone/>
            </a:pPr>
            <a:r>
              <a:rPr lang="en-US" sz="1500" b="1" dirty="0">
                <a:solidFill>
                  <a:srgbClr val="2D8B6D"/>
                </a:solidFill>
                <a:latin typeface="JetBrains Mono" pitchFamily="34" charset="0"/>
                <a:ea typeface="JetBrains Mono" pitchFamily="34" charset="-122"/>
                <a:cs typeface="JetBrains Mono" pitchFamily="34" charset="-120"/>
              </a:rPr>
              <a:t>+</a:t>
            </a:r>
            <a:endParaRPr lang="en-US" sz="1500" dirty="0"/>
          </a:p>
        </p:txBody>
      </p:sp>
      <p:sp>
        <p:nvSpPr>
          <p:cNvPr id="27" name="Text 25"/>
          <p:cNvSpPr txBox="1"/>
          <p:nvPr/>
        </p:nvSpPr>
        <p:spPr>
          <a:xfrm>
            <a:off x="6734556" y="3904488"/>
            <a:ext cx="4750308" cy="621792"/>
          </a:xfrm>
          <a:prstGeom prst="rect">
            <a:avLst/>
          </a:prstGeom>
          <a:noFill/>
          <a:ln/>
        </p:spPr>
        <p:txBody>
          <a:bodyPr wrap="square" lIns="0" tIns="0" rIns="0" bIns="0" rtlCol="0" anchor="t"/>
          <a:lstStyle/>
          <a:p>
            <a:pPr algn="l" indent="0" marL="0">
              <a:lnSpc>
                <a:spcPts val="1700"/>
              </a:lnSpc>
              <a:buNone/>
            </a:pPr>
            <a:r>
              <a:rPr lang="en-US" sz="1400" dirty="0">
                <a:solidFill>
                  <a:srgbClr val="111412"/>
                </a:solidFill>
                <a:latin typeface="Onest" pitchFamily="34" charset="0"/>
                <a:ea typeface="Onest" pitchFamily="34" charset="-122"/>
                <a:cs typeface="Onest" pitchFamily="34" charset="-120"/>
              </a:rPr>
              <a:t>Cuántas cookies se ponen antes de tocar el banner</a:t>
            </a:r>
            <a:endParaRPr lang="en-US" sz="1400" dirty="0"/>
          </a:p>
        </p:txBody>
      </p:sp>
      <p:sp>
        <p:nvSpPr>
          <p:cNvPr id="28" name="Text 26"/>
          <p:cNvSpPr txBox="1"/>
          <p:nvPr/>
        </p:nvSpPr>
        <p:spPr>
          <a:xfrm>
            <a:off x="685800" y="4709160"/>
            <a:ext cx="9735617" cy="822960"/>
          </a:xfrm>
          <a:prstGeom prst="rect">
            <a:avLst/>
          </a:prstGeom>
          <a:noFill/>
          <a:ln/>
        </p:spPr>
        <p:txBody>
          <a:bodyPr wrap="square" lIns="0" tIns="0" rIns="0" bIns="0" rtlCol="0" anchor="ctr"/>
          <a:lstStyle/>
          <a:p>
            <a:pPr algn="l" indent="0" marL="0">
              <a:lnSpc>
                <a:spcPts val="2900"/>
              </a:lnSpc>
              <a:buNone/>
            </a:pPr>
            <a:r>
              <a:rPr lang="en-US" sz="2200" b="1" dirty="0">
                <a:solidFill>
                  <a:srgbClr val="111412"/>
                </a:solidFill>
                <a:latin typeface="Onest" pitchFamily="34" charset="0"/>
                <a:ea typeface="Onest" pitchFamily="34" charset="-122"/>
                <a:cs typeface="Onest" pitchFamily="34" charset="-120"/>
              </a:rPr>
              <a:t>Los siete se hacen en una tarde. Y los siete os van a dar una conversación que tener con vuestro jefe.</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412"/>
        </a:solidFill>
      </p:bgPr>
    </p:bg>
    <p:spTree>
      <p:nvGrpSpPr>
        <p:cNvPr id="1" name=""/>
        <p:cNvGrpSpPr/>
        <p:nvPr/>
      </p:nvGrpSpPr>
      <p:grpSpPr>
        <a:xfrm>
          <a:off x="0" y="0"/>
          <a:ext cx="0" cy="0"/>
          <a:chOff x="0" y="0"/>
          <a:chExt cx="0" cy="0"/>
        </a:xfrm>
      </p:grpSpPr>
      <p:sp>
        <p:nvSpPr>
          <p:cNvPr id="2" name="Text 0"/>
          <p:cNvSpPr txBox="1"/>
          <p:nvPr/>
        </p:nvSpPr>
        <p:spPr>
          <a:xfrm>
            <a:off x="685800" y="2194560"/>
            <a:ext cx="9519270" cy="2743200"/>
          </a:xfrm>
          <a:prstGeom prst="rect">
            <a:avLst/>
          </a:prstGeom>
          <a:noFill/>
          <a:ln/>
        </p:spPr>
        <p:txBody>
          <a:bodyPr wrap="square" lIns="0" tIns="0" rIns="0" bIns="0" rtlCol="0" anchor="ctr"/>
          <a:lstStyle/>
          <a:p>
            <a:pPr algn="l" indent="0" marL="0">
              <a:lnSpc>
                <a:spcPts val="5800"/>
              </a:lnSpc>
              <a:buNone/>
            </a:pPr>
            <a:r>
              <a:rPr lang="en-US" sz="4400" b="1" dirty="0">
                <a:solidFill>
                  <a:srgbClr val="F4F1E8"/>
                </a:solidFill>
                <a:latin typeface="Onest" pitchFamily="34" charset="0"/>
                <a:ea typeface="Onest" pitchFamily="34" charset="-122"/>
                <a:cs typeface="Onest" pitchFamily="34" charset="-120"/>
              </a:rPr>
              <a:t>El problema nunca fue que faltaran datos.
</a:t>
            </a:r>
            <a:pPr algn="l" indent="0" marL="0">
              <a:lnSpc>
                <a:spcPts val="5800"/>
              </a:lnSpc>
              <a:buNone/>
            </a:pPr>
            <a:r>
              <a:rPr lang="en-US" sz="4400" b="1" dirty="0">
                <a:solidFill>
                  <a:srgbClr val="CBFF3D"/>
                </a:solidFill>
                <a:latin typeface="Onest" pitchFamily="34" charset="0"/>
                <a:ea typeface="Onest" pitchFamily="34" charset="-122"/>
                <a:cs typeface="Onest" pitchFamily="34" charset="-120"/>
              </a:rPr>
              <a:t>El problema es que las decisiones se tomaron igual.</a:t>
            </a:r>
            <a:endParaRPr lang="en-US" sz="4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1E8"/>
        </a:solidFill>
      </p:bgPr>
    </p:bg>
    <p:spTree>
      <p:nvGrpSpPr>
        <p:cNvPr id="1" name=""/>
        <p:cNvGrpSpPr/>
        <p:nvPr/>
      </p:nvGrpSpPr>
      <p:grpSpPr>
        <a:xfrm>
          <a:off x="0" y="0"/>
          <a:ext cx="0" cy="0"/>
          <a:chOff x="0" y="0"/>
          <a:chExt cx="0" cy="0"/>
        </a:xfrm>
      </p:grpSpPr>
      <p:sp>
        <p:nvSpPr>
          <p:cNvPr id="2" name="Shape 0"/>
          <p:cNvSpPr/>
          <p:nvPr/>
        </p:nvSpPr>
        <p:spPr>
          <a:xfrm>
            <a:off x="10017252" y="402336"/>
            <a:ext cx="137160" cy="137160"/>
          </a:xfrm>
          <a:prstGeom prst="rect">
            <a:avLst/>
          </a:prstGeom>
          <a:solidFill>
            <a:srgbClr val="111412"/>
          </a:solidFill>
          <a:ln w="12700">
            <a:solidFill>
              <a:srgbClr val="111412"/>
            </a:solidFill>
            <a:prstDash val="solid"/>
          </a:ln>
        </p:spPr>
      </p:sp>
      <p:sp>
        <p:nvSpPr>
          <p:cNvPr id="3" name="Shape 1"/>
          <p:cNvSpPr/>
          <p:nvPr/>
        </p:nvSpPr>
        <p:spPr>
          <a:xfrm>
            <a:off x="10222992" y="402336"/>
            <a:ext cx="137160" cy="137160"/>
          </a:xfrm>
          <a:prstGeom prst="rect">
            <a:avLst/>
          </a:prstGeom>
          <a:solidFill>
            <a:srgbClr val="111412"/>
          </a:solidFill>
          <a:ln w="12700">
            <a:solidFill>
              <a:srgbClr val="111412"/>
            </a:solidFill>
            <a:prstDash val="solid"/>
          </a:ln>
        </p:spPr>
      </p:sp>
      <p:sp>
        <p:nvSpPr>
          <p:cNvPr id="4" name="Shape 2"/>
          <p:cNvSpPr/>
          <p:nvPr/>
        </p:nvSpPr>
        <p:spPr>
          <a:xfrm>
            <a:off x="10428732" y="402336"/>
            <a:ext cx="137160" cy="137160"/>
          </a:xfrm>
          <a:prstGeom prst="rect">
            <a:avLst/>
          </a:prstGeom>
          <a:solidFill>
            <a:srgbClr val="111412"/>
          </a:solidFill>
          <a:ln w="12700">
            <a:solidFill>
              <a:srgbClr val="111412"/>
            </a:solidFill>
            <a:prstDash val="solid"/>
          </a:ln>
        </p:spPr>
      </p:sp>
      <p:sp>
        <p:nvSpPr>
          <p:cNvPr id="5" name="Shape 3"/>
          <p:cNvSpPr/>
          <p:nvPr/>
        </p:nvSpPr>
        <p:spPr>
          <a:xfrm>
            <a:off x="10634472" y="402336"/>
            <a:ext cx="137160" cy="137160"/>
          </a:xfrm>
          <a:prstGeom prst="rect">
            <a:avLst/>
          </a:prstGeom>
          <a:solidFill>
            <a:srgbClr val="111412"/>
          </a:solidFill>
          <a:ln w="12700">
            <a:solidFill>
              <a:srgbClr val="111412"/>
            </a:solidFill>
            <a:prstDash val="solid"/>
          </a:ln>
        </p:spPr>
      </p:sp>
      <p:sp>
        <p:nvSpPr>
          <p:cNvPr id="6" name="Shape 4"/>
          <p:cNvSpPr/>
          <p:nvPr/>
        </p:nvSpPr>
        <p:spPr>
          <a:xfrm>
            <a:off x="10840212" y="402336"/>
            <a:ext cx="137160" cy="137160"/>
          </a:xfrm>
          <a:prstGeom prst="rect">
            <a:avLst/>
          </a:prstGeom>
          <a:solidFill>
            <a:srgbClr val="111412"/>
          </a:solidFill>
          <a:ln w="12700">
            <a:solidFill>
              <a:srgbClr val="111412"/>
            </a:solidFill>
            <a:prstDash val="solid"/>
          </a:ln>
        </p:spPr>
      </p:sp>
      <p:sp>
        <p:nvSpPr>
          <p:cNvPr id="7" name="Shape 5"/>
          <p:cNvSpPr/>
          <p:nvPr/>
        </p:nvSpPr>
        <p:spPr>
          <a:xfrm>
            <a:off x="11228832" y="402336"/>
            <a:ext cx="137160" cy="137160"/>
          </a:xfrm>
          <a:prstGeom prst="rect">
            <a:avLst/>
          </a:prstGeom>
          <a:solidFill>
            <a:srgbClr val="111412"/>
          </a:solidFill>
          <a:ln w="12700">
            <a:solidFill>
              <a:srgbClr val="111412"/>
            </a:solidFill>
            <a:prstDash val="solid"/>
          </a:ln>
        </p:spPr>
      </p:sp>
      <p:sp>
        <p:nvSpPr>
          <p:cNvPr id="8" name="Shape 6"/>
          <p:cNvSpPr/>
          <p:nvPr/>
        </p:nvSpPr>
        <p:spPr>
          <a:xfrm>
            <a:off x="11434572" y="402336"/>
            <a:ext cx="137160" cy="137160"/>
          </a:xfrm>
          <a:prstGeom prst="rect">
            <a:avLst/>
          </a:prstGeom>
          <a:solidFill>
            <a:srgbClr val="111412"/>
          </a:solidFill>
          <a:ln w="22225">
            <a:solidFill>
              <a:srgbClr val="111412"/>
            </a:solidFill>
            <a:prstDash val="solid"/>
          </a:ln>
        </p:spPr>
      </p:sp>
      <p:sp>
        <p:nvSpPr>
          <p:cNvPr id="9" name="Text 7"/>
          <p:cNvSpPr txBox="1"/>
          <p:nvPr/>
        </p:nvSpPr>
        <p:spPr>
          <a:xfrm>
            <a:off x="10017252" y="603504"/>
            <a:ext cx="1485900" cy="201168"/>
          </a:xfrm>
          <a:prstGeom prst="rect">
            <a:avLst/>
          </a:prstGeom>
          <a:noFill/>
          <a:ln/>
        </p:spPr>
        <p:txBody>
          <a:bodyPr wrap="square" lIns="0" tIns="0" rIns="0" bIns="0" rtlCol="0" anchor="ctr"/>
          <a:lstStyle/>
          <a:p>
            <a:pPr algn="r" indent="0" marL="0">
              <a:buNone/>
            </a:pPr>
            <a:r>
              <a:rPr lang="en-US" sz="750" spc="50" kern="0" dirty="0">
                <a:solidFill>
                  <a:srgbClr val="A3A396"/>
                </a:solidFill>
                <a:latin typeface="JetBrains Mono" pitchFamily="34" charset="0"/>
                <a:ea typeface="JetBrains Mono" pitchFamily="34" charset="-122"/>
                <a:cs typeface="JetBrains Mono" pitchFamily="34" charset="-120"/>
              </a:rPr>
              <a:t>5 fugas   +2</a:t>
            </a:r>
            <a:endParaRPr lang="en-US" sz="750" dirty="0"/>
          </a:p>
        </p:txBody>
      </p:sp>
      <p:sp>
        <p:nvSpPr>
          <p:cNvPr id="10" name="Text 8"/>
          <p:cNvSpPr txBox="1"/>
          <p:nvPr/>
        </p:nvSpPr>
        <p:spPr>
          <a:xfrm>
            <a:off x="685800" y="384048"/>
            <a:ext cx="8805672" cy="274320"/>
          </a:xfrm>
          <a:prstGeom prst="rect">
            <a:avLst/>
          </a:prstGeom>
          <a:noFill/>
          <a:ln/>
        </p:spPr>
        <p:txBody>
          <a:bodyPr wrap="square" lIns="0" tIns="0" rIns="0" bIns="0" rtlCol="0" anchor="ctr"/>
          <a:lstStyle/>
          <a:p>
            <a:pPr algn="l" indent="0" marL="0">
              <a:buNone/>
            </a:pPr>
            <a:r>
              <a:rPr lang="en-US" sz="1100" b="1" spc="200" kern="0" dirty="0">
                <a:solidFill>
                  <a:srgbClr val="A3A396"/>
                </a:solidFill>
                <a:latin typeface="JetBrains Mono" pitchFamily="34" charset="0"/>
                <a:ea typeface="JetBrains Mono" pitchFamily="34" charset="-122"/>
                <a:cs typeface="JetBrains Mono" pitchFamily="34" charset="-120"/>
              </a:rPr>
              <a:t>PARA EL LUNES</a:t>
            </a:r>
            <a:endParaRPr lang="en-US" sz="1100" dirty="0"/>
          </a:p>
        </p:txBody>
      </p:sp>
      <p:sp>
        <p:nvSpPr>
          <p:cNvPr id="11" name="Text 9"/>
          <p:cNvSpPr txBox="1"/>
          <p:nvPr/>
        </p:nvSpPr>
        <p:spPr>
          <a:xfrm>
            <a:off x="685800" y="1143000"/>
            <a:ext cx="10817352" cy="731520"/>
          </a:xfrm>
          <a:prstGeom prst="rect">
            <a:avLst/>
          </a:prstGeom>
          <a:noFill/>
          <a:ln/>
        </p:spPr>
        <p:txBody>
          <a:bodyPr wrap="square" lIns="0" tIns="0" rIns="0" bIns="0" rtlCol="0" anchor="ctr"/>
          <a:lstStyle/>
          <a:p>
            <a:pPr algn="l" indent="0" marL="0">
              <a:buNone/>
            </a:pPr>
            <a:r>
              <a:rPr lang="en-US" sz="3800" b="1" dirty="0">
                <a:solidFill>
                  <a:srgbClr val="111412"/>
                </a:solidFill>
                <a:latin typeface="Onest" pitchFamily="34" charset="0"/>
                <a:ea typeface="Onest" pitchFamily="34" charset="-122"/>
                <a:cs typeface="Onest" pitchFamily="34" charset="-120"/>
              </a:rPr>
              <a:t>Compruébalo en tu propia web.</a:t>
            </a:r>
            <a:endParaRPr lang="en-US" sz="3800" dirty="0"/>
          </a:p>
        </p:txBody>
      </p:sp>
      <p:sp>
        <p:nvSpPr>
          <p:cNvPr id="12" name="Text 10"/>
          <p:cNvSpPr txBox="1"/>
          <p:nvPr/>
        </p:nvSpPr>
        <p:spPr>
          <a:xfrm>
            <a:off x="685800" y="2286000"/>
            <a:ext cx="9735617" cy="457200"/>
          </a:xfrm>
          <a:prstGeom prst="rect">
            <a:avLst/>
          </a:prstGeom>
          <a:noFill/>
          <a:ln/>
        </p:spPr>
        <p:txBody>
          <a:bodyPr wrap="square" lIns="0" tIns="0" rIns="0" bIns="0" rtlCol="0" anchor="ctr"/>
          <a:lstStyle/>
          <a:p>
            <a:pPr algn="l" indent="0" marL="0">
              <a:buNone/>
            </a:pPr>
            <a:r>
              <a:rPr lang="en-US" sz="1900" b="1" dirty="0">
                <a:solidFill>
                  <a:srgbClr val="111412"/>
                </a:solidFill>
                <a:latin typeface="JetBrains Mono" pitchFamily="34" charset="0"/>
                <a:ea typeface="JetBrains Mono" pitchFamily="34" charset="-122"/>
                <a:cs typeface="JetBrains Mono" pitchFamily="34" charset="-120"/>
              </a:rPr>
              <a:t>sealmetrics.com/data-loss-calculator</a:t>
            </a:r>
            <a:endParaRPr lang="en-US" sz="1900" dirty="0"/>
          </a:p>
        </p:txBody>
      </p:sp>
      <p:sp>
        <p:nvSpPr>
          <p:cNvPr id="13" name="Text 11"/>
          <p:cNvSpPr txBox="1"/>
          <p:nvPr/>
        </p:nvSpPr>
        <p:spPr>
          <a:xfrm>
            <a:off x="685800" y="2724912"/>
            <a:ext cx="8653882" cy="457200"/>
          </a:xfrm>
          <a:prstGeom prst="rect">
            <a:avLst/>
          </a:prstGeom>
          <a:noFill/>
          <a:ln/>
        </p:spPr>
        <p:txBody>
          <a:bodyPr wrap="square" lIns="0" tIns="0" rIns="0" bIns="0" rtlCol="0" anchor="ctr"/>
          <a:lstStyle/>
          <a:p>
            <a:pPr algn="l" indent="0" marL="0">
              <a:buNone/>
            </a:pPr>
            <a:r>
              <a:rPr lang="en-US" sz="1600" dirty="0">
                <a:solidFill>
                  <a:srgbClr val="6B6B5E"/>
                </a:solidFill>
                <a:latin typeface="Onest" pitchFamily="34" charset="0"/>
                <a:ea typeface="Onest" pitchFamily="34" charset="-122"/>
                <a:cs typeface="Onest" pitchFamily="34" charset="-120"/>
              </a:rPr>
              <a:t>Mete tus números y ve tu propio hueco.</a:t>
            </a:r>
            <a:endParaRPr lang="en-US" sz="1600" dirty="0"/>
          </a:p>
        </p:txBody>
      </p:sp>
      <p:sp>
        <p:nvSpPr>
          <p:cNvPr id="14" name="Text 12"/>
          <p:cNvSpPr txBox="1"/>
          <p:nvPr/>
        </p:nvSpPr>
        <p:spPr>
          <a:xfrm>
            <a:off x="685800" y="3429000"/>
            <a:ext cx="9735617" cy="457200"/>
          </a:xfrm>
          <a:prstGeom prst="rect">
            <a:avLst/>
          </a:prstGeom>
          <a:noFill/>
          <a:ln/>
        </p:spPr>
        <p:txBody>
          <a:bodyPr wrap="square" lIns="0" tIns="0" rIns="0" bIns="0" rtlCol="0" anchor="ctr"/>
          <a:lstStyle/>
          <a:p>
            <a:pPr algn="l" indent="0" marL="0">
              <a:buNone/>
            </a:pPr>
            <a:r>
              <a:rPr lang="en-US" sz="1900" b="1" dirty="0">
                <a:solidFill>
                  <a:srgbClr val="111412"/>
                </a:solidFill>
                <a:latin typeface="JetBrains Mono" pitchFamily="34" charset="0"/>
                <a:ea typeface="JetBrains Mono" pitchFamily="34" charset="-122"/>
                <a:cs typeface="JetBrains Mono" pitchFamily="34" charset="-120"/>
              </a:rPr>
              <a:t>sealmetrics.com/free-audit</a:t>
            </a:r>
            <a:endParaRPr lang="en-US" sz="1900" dirty="0"/>
          </a:p>
        </p:txBody>
      </p:sp>
      <p:sp>
        <p:nvSpPr>
          <p:cNvPr id="15" name="Text 13"/>
          <p:cNvSpPr txBox="1"/>
          <p:nvPr/>
        </p:nvSpPr>
        <p:spPr>
          <a:xfrm>
            <a:off x="685800" y="3867912"/>
            <a:ext cx="8653882" cy="457200"/>
          </a:xfrm>
          <a:prstGeom prst="rect">
            <a:avLst/>
          </a:prstGeom>
          <a:noFill/>
          <a:ln/>
        </p:spPr>
        <p:txBody>
          <a:bodyPr wrap="square" lIns="0" tIns="0" rIns="0" bIns="0" rtlCol="0" anchor="ctr"/>
          <a:lstStyle/>
          <a:p>
            <a:pPr algn="l" indent="0" marL="0">
              <a:buNone/>
            </a:pPr>
            <a:r>
              <a:rPr lang="en-US" sz="1600" dirty="0">
                <a:solidFill>
                  <a:srgbClr val="6B6B5E"/>
                </a:solidFill>
                <a:latin typeface="Onest" pitchFamily="34" charset="0"/>
                <a:ea typeface="Onest" pitchFamily="34" charset="-122"/>
                <a:cs typeface="Onest" pitchFamily="34" charset="-120"/>
              </a:rPr>
              <a:t>Auditamos si tus pixels disparan antes del consentimiento. PDF en 2–3 minutos.</a:t>
            </a:r>
            <a:endParaRPr lang="en-US" sz="1600" dirty="0"/>
          </a:p>
        </p:txBody>
      </p:sp>
      <p:sp>
        <p:nvSpPr>
          <p:cNvPr id="16" name="Text 14"/>
          <p:cNvSpPr txBox="1"/>
          <p:nvPr/>
        </p:nvSpPr>
        <p:spPr>
          <a:xfrm>
            <a:off x="685800" y="5212080"/>
            <a:ext cx="10817352" cy="365760"/>
          </a:xfrm>
          <a:prstGeom prst="rect">
            <a:avLst/>
          </a:prstGeom>
          <a:noFill/>
          <a:ln/>
        </p:spPr>
        <p:txBody>
          <a:bodyPr wrap="square" lIns="0" tIns="0" rIns="0" bIns="0" rtlCol="0" anchor="ctr"/>
          <a:lstStyle/>
          <a:p>
            <a:pPr algn="l" indent="0" marL="0">
              <a:buNone/>
            </a:pPr>
            <a:r>
              <a:rPr lang="en-US" sz="1600" b="1" dirty="0">
                <a:solidFill>
                  <a:srgbClr val="111412"/>
                </a:solidFill>
                <a:latin typeface="Onest" pitchFamily="34" charset="0"/>
                <a:ea typeface="Onest" pitchFamily="34" charset="-122"/>
                <a:cs typeface="Onest" pitchFamily="34" charset="-120"/>
              </a:rPr>
              <a:t>Rafael Jiménez · SealMetrics</a:t>
            </a:r>
            <a:endParaRPr lang="en-US" sz="1600" dirty="0"/>
          </a:p>
        </p:txBody>
      </p:sp>
      <p:sp>
        <p:nvSpPr>
          <p:cNvPr id="17" name="Text 15"/>
          <p:cNvSpPr txBox="1"/>
          <p:nvPr/>
        </p:nvSpPr>
        <p:spPr>
          <a:xfrm>
            <a:off x="685800" y="5925312"/>
            <a:ext cx="10817352" cy="310896"/>
          </a:xfrm>
          <a:prstGeom prst="rect">
            <a:avLst/>
          </a:prstGeom>
          <a:noFill/>
          <a:ln/>
        </p:spPr>
        <p:txBody>
          <a:bodyPr wrap="square" lIns="0" tIns="0" rIns="0" bIns="0" rtlCol="0" anchor="t"/>
          <a:lstStyle/>
          <a:p>
            <a:pPr algn="l" indent="0" marL="0">
              <a:buNone/>
            </a:pPr>
            <a:r>
              <a:rPr lang="en-US" sz="900" spc="80" kern="0" dirty="0">
                <a:solidFill>
                  <a:srgbClr val="A3A396"/>
                </a:solidFill>
                <a:latin typeface="JetBrains Mono" pitchFamily="34" charset="0"/>
                <a:ea typeface="JetBrains Mono" pitchFamily="34" charset="-122"/>
                <a:cs typeface="JetBrains Mono" pitchFamily="34" charset="-120"/>
              </a:rPr>
              <a:t>Y hay un plan gratuito hasta 1M de eventos que se instala desde tu propio asistente de IA.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SealMetrics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5+2 formas de detectar fugas de dinero</dc:title>
  <dc:subject>PptxGenJS Presentation</dc:subject>
  <dc:creator>Rafael Jimenez</dc:creator>
  <cp:lastModifiedBy>Rafael Jimenez</cp:lastModifiedBy>
  <cp:revision>1</cp:revision>
  <dcterms:created xsi:type="dcterms:W3CDTF">2026-09-02T11:23:22Z</dcterms:created>
  <dcterms:modified xsi:type="dcterms:W3CDTF">2026-09-02T11:23:22Z</dcterms:modified>
</cp:coreProperties>
</file>